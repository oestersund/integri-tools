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960" r:id="rId2"/>
    <p:sldId id="893" r:id="rId3"/>
    <p:sldId id="902" r:id="rId4"/>
    <p:sldId id="259" r:id="rId5"/>
    <p:sldId id="263" r:id="rId6"/>
    <p:sldId id="405" r:id="rId7"/>
    <p:sldId id="962" r:id="rId8"/>
    <p:sldId id="903" r:id="rId9"/>
    <p:sldId id="900" r:id="rId10"/>
    <p:sldId id="963" r:id="rId11"/>
    <p:sldId id="961" r:id="rId12"/>
    <p:sldId id="964" r:id="rId13"/>
    <p:sldId id="968" r:id="rId14"/>
    <p:sldId id="942" r:id="rId15"/>
    <p:sldId id="966" r:id="rId16"/>
    <p:sldId id="945" r:id="rId17"/>
    <p:sldId id="943" r:id="rId18"/>
    <p:sldId id="969" r:id="rId19"/>
    <p:sldId id="947" r:id="rId20"/>
    <p:sldId id="318" r:id="rId21"/>
    <p:sldId id="951" r:id="rId22"/>
    <p:sldId id="956" r:id="rId23"/>
    <p:sldId id="958" r:id="rId2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21"/>
    <p:restoredTop sz="94656"/>
  </p:normalViewPr>
  <p:slideViewPr>
    <p:cSldViewPr snapToGrid="0">
      <p:cViewPr varScale="1">
        <p:scale>
          <a:sx n="105" d="100"/>
          <a:sy n="105" d="100"/>
        </p:scale>
        <p:origin x="5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0C6A0E4-8B7F-F1E8-79ED-E56E00CAB3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B9B4CBD-29A3-F2AF-54AB-BB3BD58C78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4D0EC15-A61B-9450-3A30-FC8FDDFD6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0E638-9BF7-A34C-8864-3BE4D0F665E3}" type="datetimeFigureOut">
              <a:rPr lang="de-DE" smtClean="0"/>
              <a:t>14.09.2026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60BD13-5055-CEC4-9BBA-D17004F13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0E7E8B-40BC-F14F-4B23-BEEC0149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A59F-295D-A442-AC7A-3AECF06D7D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6836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AA53FC-94DE-09A8-9359-B98A6F0D2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233A6D-384E-409B-495B-73716781C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162AEE-24F1-7843-FE5F-CABF0ACA9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0E638-9BF7-A34C-8864-3BE4D0F665E3}" type="datetimeFigureOut">
              <a:rPr lang="de-DE" smtClean="0"/>
              <a:t>14.09.2026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6CD7F85-98C0-249C-FB23-CB57E4F9B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01D3AB5-B215-BF40-13BF-AE348DA4A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A59F-295D-A442-AC7A-3AECF06D7D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7138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510EA2-EF6A-C790-B5C0-505F244F6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21ED2E7-8EAF-E2E4-0676-7CAE3E8E1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65E6CB-28A0-D8FB-86D7-D68CE5643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0E638-9BF7-A34C-8864-3BE4D0F665E3}" type="datetimeFigureOut">
              <a:rPr lang="de-DE" smtClean="0"/>
              <a:t>14.09.2026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188C96-E887-C10C-7771-8FDC7F8A6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9DF99-68DD-8A40-A4A4-8AF0ADCB0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A59F-295D-A442-AC7A-3AECF06D7D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9490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0AC013-533D-920F-CCD4-B321D2793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2A47F0-ED69-7EE4-F473-C2AED584DF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6100CB0-F548-EFB5-5026-351CECEA8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679E58A-EB6F-B20B-BCA4-4BAC1DD4E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0E638-9BF7-A34C-8864-3BE4D0F665E3}" type="datetimeFigureOut">
              <a:rPr lang="de-DE" smtClean="0"/>
              <a:t>14.09.2026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3758CDF-D4E8-DA7E-3B26-28F18C2B3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2CC5429-D97D-3FEA-C07B-AC6806512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A59F-295D-A442-AC7A-3AECF06D7D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1321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185589-ADAF-5B65-B06B-A7BF2E81E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586CCE5-69C2-91F8-4F4C-B41F7F559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3DF3148-4529-60E9-A12A-EE64B7B1C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CB61F8C-5049-BBF2-1A1B-9A544F81CB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07CA75A-112B-3277-0342-D2AE9E61F5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425A7AC-C36B-1789-97C8-63FD8A29C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0E638-9BF7-A34C-8864-3BE4D0F665E3}" type="datetimeFigureOut">
              <a:rPr lang="de-DE" smtClean="0"/>
              <a:t>14.09.2026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9F9EB91-1112-7081-C3E3-0D4138002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D4335A4-8100-C39A-A820-52B0B2F02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A59F-295D-A442-AC7A-3AECF06D7D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1497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09127B-B841-467D-E4B5-AE0F04CE8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198AC10-A6D0-07E6-A816-A1E16FF58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0E638-9BF7-A34C-8864-3BE4D0F665E3}" type="datetimeFigureOut">
              <a:rPr lang="de-DE" smtClean="0"/>
              <a:t>14.09.2026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F59C281-614C-0575-B0C7-17285CBE4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FF75E8-19B6-3808-166E-966AB935D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A59F-295D-A442-AC7A-3AECF06D7D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7397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274B62A-9E25-189C-3A68-46A0A60BF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0E638-9BF7-A34C-8864-3BE4D0F665E3}" type="datetimeFigureOut">
              <a:rPr lang="de-DE" smtClean="0"/>
              <a:t>14.09.2026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43CBA6B-8C0C-674F-1A76-AE9C73BE8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0166D03-2576-0641-382E-CCCD98119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A59F-295D-A442-AC7A-3AECF06D7D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8092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8669FF-E416-DD16-59EA-0BF29C962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F9A7B78-9142-6961-3069-F422E3494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A245625-D8DB-B173-55CA-832B3014D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8B8EC26-3897-83A0-8D7E-86F274131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0E638-9BF7-A34C-8864-3BE4D0F665E3}" type="datetimeFigureOut">
              <a:rPr lang="de-DE" smtClean="0"/>
              <a:t>14.09.2026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4337258-1805-0878-FAFB-D44BD3ADE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3FE531D-5BE6-6315-73BF-50EE1B0B5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A59F-295D-A442-AC7A-3AECF06D7D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1253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298193-D263-BC0E-3637-62DECC207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E5DB685-F5F3-FFC3-34D6-182337BC2E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2CDD3AE-9AA6-FD50-D81F-48FB099AC4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1B1D249-C539-4DC6-53E8-668272E2D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0E638-9BF7-A34C-8864-3BE4D0F665E3}" type="datetimeFigureOut">
              <a:rPr lang="de-DE" smtClean="0"/>
              <a:t>14.09.2026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05B0456-61DF-26FE-59EA-5C7DDEA43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CC09C9D-D655-AE2F-704B-A8C7537C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A59F-295D-A442-AC7A-3AECF06D7D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2660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FE9DDDC-67B7-049C-37F1-DC0EE8F34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E3525E0-D8CF-87E4-71FC-65EC87AF9B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D5B271-389D-0A51-A935-AEB794A58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0E638-9BF7-A34C-8864-3BE4D0F665E3}" type="datetimeFigureOut">
              <a:rPr lang="de-DE" smtClean="0"/>
              <a:t>14.09.2026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837A1D-31F2-A0B2-7899-8DE84CA30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70C28FF-8E5D-42D2-D405-CDE915536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A59F-295D-A442-AC7A-3AECF06D7D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2393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5CE0608-0393-A741-D02B-47E9AA80A0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443F3FE-569D-BF05-09FA-8715A81242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D3D12E-45A5-639E-F9E6-8C27E3F6A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0E638-9BF7-A34C-8864-3BE4D0F665E3}" type="datetimeFigureOut">
              <a:rPr lang="de-DE" smtClean="0"/>
              <a:t>14.09.2026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D1DBDA-2391-D019-EAE0-221881783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5F6DEC-2C7A-16CD-A0D8-0EC0FA3DB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BEA59F-295D-A442-AC7A-3AECF06D7D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9741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2011D30-B746-FD00-517B-619ED8DE0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9C66ED-E853-7C95-30B3-4C91EAB61B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23539C1-09E1-A919-56EC-CE89E894F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80E638-9BF7-A34C-8864-3BE4D0F665E3}" type="datetimeFigureOut">
              <a:rPr lang="de-DE" smtClean="0"/>
              <a:t>14.09.2026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BA2A30-506D-8CB6-2781-234148B7A4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E44FCC6-AC4D-7CB9-FF50-D49A8E2C28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BEA59F-295D-A442-AC7A-3AECF06D7D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449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4" descr="Nahaufnahme von Bauern (Schachfiguren)">
            <a:extLst>
              <a:ext uri="{FF2B5EF4-FFF2-40B4-BE49-F238E27FC236}">
                <a16:creationId xmlns:a16="http://schemas.microsoft.com/office/drawing/2014/main" id="{C8FC887C-36B9-0234-D3ED-6699F01E13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546" r="11077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F096038-F646-01E9-4A26-BD050B032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18" y="1142997"/>
            <a:ext cx="4778387" cy="1628970"/>
          </a:xfrm>
        </p:spPr>
        <p:txBody>
          <a:bodyPr anchor="ctr">
            <a:normAutofit/>
          </a:bodyPr>
          <a:lstStyle/>
          <a:p>
            <a:r>
              <a:rPr lang="de-DE" sz="5400" dirty="0"/>
              <a:t>LF 5</a:t>
            </a:r>
            <a:br>
              <a:rPr lang="de-DE" sz="5400" dirty="0"/>
            </a:br>
            <a:endParaRPr lang="de-DE" sz="54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31FDCB4-1AFA-BDCB-AB5D-962DA7554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209" y="2052825"/>
            <a:ext cx="4659756" cy="337413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600" dirty="0" err="1"/>
              <a:t>Professionelle</a:t>
            </a:r>
            <a:r>
              <a:rPr lang="en-US" sz="3600" dirty="0"/>
              <a:t> Zusammenarbeit </a:t>
            </a:r>
            <a:r>
              <a:rPr lang="en-US" sz="3600" dirty="0" err="1"/>
              <a:t>mit</a:t>
            </a:r>
            <a:r>
              <a:rPr lang="en-US" sz="3600" dirty="0"/>
              <a:t> </a:t>
            </a:r>
            <a:r>
              <a:rPr lang="en-US" sz="3600" dirty="0" err="1"/>
              <a:t>Sorgeberechtigten</a:t>
            </a:r>
            <a:endParaRPr lang="de-DE" sz="3600" dirty="0"/>
          </a:p>
        </p:txBody>
      </p:sp>
    </p:spTree>
    <p:extLst>
      <p:ext uri="{BB962C8B-B14F-4D97-AF65-F5344CB8AC3E}">
        <p14:creationId xmlns:p14="http://schemas.microsoft.com/office/powerpoint/2010/main" val="1408771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98DFA-9192-E141-C9CD-5195BD66B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3D83E7-9DB8-B67E-F6DC-9A51ABC03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78" y="741392"/>
            <a:ext cx="4491821" cy="1055878"/>
          </a:xfrm>
        </p:spPr>
        <p:txBody>
          <a:bodyPr anchor="b">
            <a:normAutofit fontScale="90000"/>
          </a:bodyPr>
          <a:lstStyle/>
          <a:p>
            <a:pPr algn="ctr"/>
            <a:r>
              <a:rPr lang="de-DE" sz="3600" b="1" dirty="0"/>
              <a:t>Stundenverlauf 25.08.26</a:t>
            </a:r>
            <a:endParaRPr lang="en-DE" sz="3600" b="1" dirty="0"/>
          </a:p>
        </p:txBody>
      </p:sp>
      <p:pic>
        <p:nvPicPr>
          <p:cNvPr id="5" name="Picture 4" descr="Kalender auf Tisch">
            <a:extLst>
              <a:ext uri="{FF2B5EF4-FFF2-40B4-BE49-F238E27FC236}">
                <a16:creationId xmlns:a16="http://schemas.microsoft.com/office/drawing/2014/main" id="{92521C88-E23E-0BFF-5F2C-89F8618A6F0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50" r="37416" b="-1"/>
          <a:stretch/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E1AE5E-1793-6831-4450-21F30F8A0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78" y="1975104"/>
            <a:ext cx="4491820" cy="4361688"/>
          </a:xfrm>
        </p:spPr>
        <p:txBody>
          <a:bodyPr anchor="t">
            <a:normAutofit fontScale="92500" lnSpcReduction="10000"/>
          </a:bodyPr>
          <a:lstStyle/>
          <a:p>
            <a:r>
              <a:rPr lang="de-DE" sz="2000" dirty="0"/>
              <a:t>Zeugnisse, Kennenlernen Lydia</a:t>
            </a:r>
          </a:p>
          <a:p>
            <a:pPr marL="0" indent="0">
              <a:buNone/>
            </a:pPr>
            <a:r>
              <a:rPr lang="de-DE" sz="2000" dirty="0"/>
              <a:t>und kurzes Austausch- und Kennlernspiel</a:t>
            </a:r>
          </a:p>
          <a:p>
            <a:pPr marL="0" indent="0">
              <a:buNone/>
            </a:pPr>
            <a:endParaRPr lang="de-DE" sz="2000" dirty="0"/>
          </a:p>
          <a:p>
            <a:r>
              <a:rPr lang="de-DE" sz="2000" dirty="0"/>
              <a:t>Vorstellung der neuen Lernsituation: Worum geht es? </a:t>
            </a:r>
          </a:p>
          <a:p>
            <a:endParaRPr lang="de-DE" sz="2000" dirty="0"/>
          </a:p>
          <a:p>
            <a:r>
              <a:rPr lang="de-DE" sz="2000" dirty="0"/>
              <a:t>Semesterplan, </a:t>
            </a:r>
            <a:r>
              <a:rPr lang="de-DE" sz="2000" dirty="0" err="1"/>
              <a:t>Orga</a:t>
            </a:r>
            <a:r>
              <a:rPr lang="de-DE" sz="2000" dirty="0"/>
              <a:t> besprechen</a:t>
            </a:r>
          </a:p>
          <a:p>
            <a:endParaRPr lang="de-DE" sz="2000" dirty="0"/>
          </a:p>
          <a:p>
            <a:r>
              <a:rPr lang="de-DE" sz="2000" dirty="0"/>
              <a:t>Einstieg in die Lernsituation</a:t>
            </a:r>
          </a:p>
          <a:p>
            <a:endParaRPr lang="de-DE" sz="2000" dirty="0"/>
          </a:p>
          <a:p>
            <a:r>
              <a:rPr lang="de-DE" sz="2000" dirty="0"/>
              <a:t>Wahrnehmen und Erleben: Bearbeiten der Ausgangssituation; Gedanken, Assoziationen, Erfahrungen</a:t>
            </a:r>
          </a:p>
          <a:p>
            <a:pPr marL="0" indent="0">
              <a:buNone/>
            </a:pP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1089502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A8CC27-D452-D523-8B4C-08D4CDBD4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3038856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000"/>
              </a:spcAft>
              <a:buNone/>
            </a:pPr>
            <a:r>
              <a:rPr lang="de-DE" sz="1600" u="sng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Phasenziel:</a:t>
            </a:r>
            <a:br>
              <a:rPr lang="en-DE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Die </a:t>
            </a:r>
            <a:r>
              <a:rPr lang="de-DE" sz="1600" dirty="0" err="1">
                <a:latin typeface="Arial" panose="020B0604020202020204" pitchFamily="34" charset="0"/>
                <a:cs typeface="Arial" panose="020B0604020202020204" pitchFamily="34" charset="0"/>
              </a:rPr>
              <a:t>Schüler:innen</a:t>
            </a: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 nehmen ihre eigenen Gefühle wahr und beschreiben Assoziationen nach der Auseinandersetzung mit der Ausgangssituation zum Thema Zusammenarbeit mit Sorgeberechtigten.</a:t>
            </a:r>
          </a:p>
          <a:p>
            <a:pPr marL="342900" lvl="0" indent="-34290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Char char=""/>
            </a:pPr>
            <a:endParaRPr lang="en-DE" sz="9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de-DE" dirty="0"/>
          </a:p>
        </p:txBody>
      </p:sp>
      <p:pic>
        <p:nvPicPr>
          <p:cNvPr id="4" name="Inhaltsplatzhalter 3" descr="Ein Bild, das Text, Screenshot, Diagramm, Schrift enthält.&#10;&#10;Automatisch generierte Beschreibung">
            <a:extLst>
              <a:ext uri="{FF2B5EF4-FFF2-40B4-BE49-F238E27FC236}">
                <a16:creationId xmlns:a16="http://schemas.microsoft.com/office/drawing/2014/main" id="{8685EDE7-0E23-DEF1-D600-9043B5D3EE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04" r="12005" b="1"/>
          <a:stretch/>
        </p:blipFill>
        <p:spPr>
          <a:xfrm>
            <a:off x="4080728" y="10"/>
            <a:ext cx="8111272" cy="6857990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75A3704B-91B1-AEB5-E249-6992855F5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364" y="703453"/>
            <a:ext cx="3242528" cy="1325563"/>
          </a:xfrm>
        </p:spPr>
        <p:txBody>
          <a:bodyPr>
            <a:normAutofit/>
          </a:bodyPr>
          <a:lstStyle/>
          <a:p>
            <a:r>
              <a:rPr lang="de-DE" sz="3600" dirty="0"/>
              <a:t>1. Wahrnehmen und Erleben</a:t>
            </a:r>
          </a:p>
        </p:txBody>
      </p:sp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ACF75B48-9910-3CAC-2072-EBF56790AF88}"/>
              </a:ext>
            </a:extLst>
          </p:cNvPr>
          <p:cNvSpPr/>
          <p:nvPr/>
        </p:nvSpPr>
        <p:spPr>
          <a:xfrm>
            <a:off x="4382201" y="471616"/>
            <a:ext cx="1924129" cy="111258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0835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30" name="Rectangle 1229">
            <a:extLst>
              <a:ext uri="{FF2B5EF4-FFF2-40B4-BE49-F238E27FC236}">
                <a16:creationId xmlns:a16="http://schemas.microsoft.com/office/drawing/2014/main" id="{AD96FDFD-4E42-4A06-B8B5-768A1DB9C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5C06C03-27CA-AB9C-A641-BB76D105D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368" y="371719"/>
            <a:ext cx="6464412" cy="1658639"/>
          </a:xfrm>
        </p:spPr>
        <p:txBody>
          <a:bodyPr anchor="b">
            <a:normAutofit/>
          </a:bodyPr>
          <a:lstStyle/>
          <a:p>
            <a:r>
              <a:rPr lang="de-DE" dirty="0"/>
              <a:t>Handlungssituation: „Samira und Jan“ </a:t>
            </a:r>
          </a:p>
        </p:txBody>
      </p:sp>
      <p:pic>
        <p:nvPicPr>
          <p:cNvPr id="3" name="Inhaltsplatzhalter 2" descr="Unverheiratete Eltern in der Kita: Das gilt es zu beachten">
            <a:extLst>
              <a:ext uri="{FF2B5EF4-FFF2-40B4-BE49-F238E27FC236}">
                <a16:creationId xmlns:a16="http://schemas.microsoft.com/office/drawing/2014/main" id="{DFD8EFC4-2152-C667-E6B5-61891AB9DF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3187" y="2148681"/>
            <a:ext cx="4381500" cy="4000500"/>
          </a:xfrm>
          <a:prstGeom prst="rect">
            <a:avLst/>
          </a:prstGeom>
        </p:spPr>
      </p:pic>
      <p:pic>
        <p:nvPicPr>
          <p:cNvPr id="7" name="Inhaltsplatzhalter 3">
            <a:extLst>
              <a:ext uri="{FF2B5EF4-FFF2-40B4-BE49-F238E27FC236}">
                <a16:creationId xmlns:a16="http://schemas.microsoft.com/office/drawing/2014/main" id="{A4D0284B-7402-2BF7-E383-0A1A7AB60E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54" r="-1" b="-1"/>
          <a:stretch>
            <a:fillRect/>
          </a:stretch>
        </p:blipFill>
        <p:spPr>
          <a:xfrm>
            <a:off x="7621024" y="-5"/>
            <a:ext cx="4579876" cy="3536502"/>
          </a:xfrm>
          <a:custGeom>
            <a:avLst/>
            <a:gdLst/>
            <a:ahLst/>
            <a:cxnLst/>
            <a:rect l="l" t="t" r="r" b="b"/>
            <a:pathLst>
              <a:path w="4579876" h="3536502">
                <a:moveTo>
                  <a:pt x="457312" y="0"/>
                </a:moveTo>
                <a:lnTo>
                  <a:pt x="4579876" y="0"/>
                </a:lnTo>
                <a:lnTo>
                  <a:pt x="4579876" y="3057029"/>
                </a:lnTo>
                <a:lnTo>
                  <a:pt x="4508441" y="3086568"/>
                </a:lnTo>
                <a:cubicBezTo>
                  <a:pt x="4391572" y="3126663"/>
                  <a:pt x="4301124" y="3221848"/>
                  <a:pt x="4183947" y="3271738"/>
                </a:cubicBezTo>
                <a:cubicBezTo>
                  <a:pt x="4099090" y="3307854"/>
                  <a:pt x="4017967" y="3354374"/>
                  <a:pt x="3930625" y="3387123"/>
                </a:cubicBezTo>
                <a:cubicBezTo>
                  <a:pt x="3723932" y="3464557"/>
                  <a:pt x="3513195" y="3526689"/>
                  <a:pt x="3290337" y="3535564"/>
                </a:cubicBezTo>
                <a:cubicBezTo>
                  <a:pt x="3106332" y="3542605"/>
                  <a:pt x="1510274" y="3535872"/>
                  <a:pt x="861903" y="2528615"/>
                </a:cubicBezTo>
                <a:cubicBezTo>
                  <a:pt x="849470" y="2523717"/>
                  <a:pt x="835485" y="2510862"/>
                  <a:pt x="831133" y="2498619"/>
                </a:cubicBezTo>
                <a:cubicBezTo>
                  <a:pt x="810307" y="2441385"/>
                  <a:pt x="759333" y="2416594"/>
                  <a:pt x="713333" y="2385682"/>
                </a:cubicBezTo>
                <a:cubicBezTo>
                  <a:pt x="672925" y="2358442"/>
                  <a:pt x="630030" y="2329978"/>
                  <a:pt x="613246" y="2284067"/>
                </a:cubicBezTo>
                <a:cubicBezTo>
                  <a:pt x="591179" y="2222855"/>
                  <a:pt x="653963" y="2273050"/>
                  <a:pt x="665465" y="2249789"/>
                </a:cubicBezTo>
                <a:cubicBezTo>
                  <a:pt x="641532" y="2217960"/>
                  <a:pt x="604543" y="2188882"/>
                  <a:pt x="594908" y="2152767"/>
                </a:cubicBezTo>
                <a:cubicBezTo>
                  <a:pt x="559787" y="2022383"/>
                  <a:pt x="483946" y="1927503"/>
                  <a:pt x="370497" y="1853742"/>
                </a:cubicBezTo>
                <a:cubicBezTo>
                  <a:pt x="337861" y="1832624"/>
                  <a:pt x="316415" y="1794059"/>
                  <a:pt x="271969" y="1787940"/>
                </a:cubicBezTo>
                <a:cubicBezTo>
                  <a:pt x="173127" y="1774472"/>
                  <a:pt x="204209" y="1669186"/>
                  <a:pt x="151990" y="1622358"/>
                </a:cubicBezTo>
                <a:cubicBezTo>
                  <a:pt x="142044" y="1613481"/>
                  <a:pt x="133031" y="1596037"/>
                  <a:pt x="134895" y="1584102"/>
                </a:cubicBezTo>
                <a:cubicBezTo>
                  <a:pt x="137691" y="1566959"/>
                  <a:pt x="149504" y="1550739"/>
                  <a:pt x="159450" y="1535435"/>
                </a:cubicBezTo>
                <a:cubicBezTo>
                  <a:pt x="169708" y="1520133"/>
                  <a:pt x="185247" y="1506664"/>
                  <a:pt x="177788" y="1486465"/>
                </a:cubicBezTo>
                <a:cubicBezTo>
                  <a:pt x="174683" y="1478202"/>
                  <a:pt x="176855" y="1449432"/>
                  <a:pt x="153856" y="1472079"/>
                </a:cubicBezTo>
                <a:cubicBezTo>
                  <a:pt x="90760" y="1534212"/>
                  <a:pt x="54082" y="1475449"/>
                  <a:pt x="0" y="1447289"/>
                </a:cubicBezTo>
                <a:cubicBezTo>
                  <a:pt x="43515" y="1418212"/>
                  <a:pt x="82677" y="1397707"/>
                  <a:pt x="89205" y="1354247"/>
                </a:cubicBezTo>
                <a:cubicBezTo>
                  <a:pt x="102570" y="1264569"/>
                  <a:pt x="159758" y="1223557"/>
                  <a:pt x="246479" y="1215599"/>
                </a:cubicBezTo>
                <a:cubicBezTo>
                  <a:pt x="214465" y="1128983"/>
                  <a:pt x="214465" y="1128983"/>
                  <a:pt x="317968" y="1117045"/>
                </a:cubicBezTo>
                <a:cubicBezTo>
                  <a:pt x="278183" y="1061955"/>
                  <a:pt x="278183" y="1047876"/>
                  <a:pt x="326362" y="1028900"/>
                </a:cubicBezTo>
                <a:cubicBezTo>
                  <a:pt x="372673" y="1010841"/>
                  <a:pt x="423957" y="1004720"/>
                  <a:pt x="466852" y="976870"/>
                </a:cubicBezTo>
                <a:cubicBezTo>
                  <a:pt x="427377" y="906475"/>
                  <a:pt x="416188" y="824756"/>
                  <a:pt x="334754" y="790475"/>
                </a:cubicBezTo>
                <a:cubicBezTo>
                  <a:pt x="322010" y="785272"/>
                  <a:pt x="313307" y="764154"/>
                  <a:pt x="321386" y="751912"/>
                </a:cubicBezTo>
                <a:cubicBezTo>
                  <a:pt x="350915" y="707534"/>
                  <a:pt x="308644" y="623365"/>
                  <a:pt x="400645" y="613877"/>
                </a:cubicBezTo>
                <a:cubicBezTo>
                  <a:pt x="412147" y="612959"/>
                  <a:pt x="422716" y="603776"/>
                  <a:pt x="413701" y="591839"/>
                </a:cubicBezTo>
                <a:cubicBezTo>
                  <a:pt x="382618" y="550216"/>
                  <a:pt x="420228" y="552969"/>
                  <a:pt x="442917" y="547767"/>
                </a:cubicBezTo>
                <a:cubicBezTo>
                  <a:pt x="470271" y="541341"/>
                  <a:pt x="501353" y="559703"/>
                  <a:pt x="526840" y="537055"/>
                </a:cubicBezTo>
                <a:cubicBezTo>
                  <a:pt x="520932" y="513181"/>
                  <a:pt x="498866" y="513487"/>
                  <a:pt x="483325" y="505836"/>
                </a:cubicBezTo>
                <a:cubicBezTo>
                  <a:pt x="437946" y="483799"/>
                  <a:pt x="400956" y="457479"/>
                  <a:pt x="398780" y="400243"/>
                </a:cubicBezTo>
                <a:cubicBezTo>
                  <a:pt x="397229" y="354028"/>
                  <a:pt x="392255" y="313323"/>
                  <a:pt x="455041" y="299242"/>
                </a:cubicBezTo>
                <a:cubicBezTo>
                  <a:pt x="481149" y="293426"/>
                  <a:pt x="473687" y="260067"/>
                  <a:pt x="458769" y="243538"/>
                </a:cubicBezTo>
                <a:cubicBezTo>
                  <a:pt x="432038" y="214157"/>
                  <a:pt x="409972" y="174981"/>
                  <a:pt x="363969" y="172227"/>
                </a:cubicBezTo>
                <a:cubicBezTo>
                  <a:pt x="335995" y="170391"/>
                  <a:pt x="314549" y="158146"/>
                  <a:pt x="292481" y="144069"/>
                </a:cubicBezTo>
                <a:cubicBezTo>
                  <a:pt x="276630" y="133966"/>
                  <a:pt x="257670" y="125398"/>
                  <a:pt x="259534" y="103668"/>
                </a:cubicBezTo>
                <a:cubicBezTo>
                  <a:pt x="261399" y="82855"/>
                  <a:pt x="279736" y="74286"/>
                  <a:pt x="298387" y="70001"/>
                </a:cubicBezTo>
                <a:cubicBezTo>
                  <a:pt x="345011" y="59672"/>
                  <a:pt x="389535" y="45726"/>
                  <a:pt x="430782" y="19902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144420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2AB028-DB84-9256-7154-153F259C9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147" y="371089"/>
            <a:ext cx="5245073" cy="1037087"/>
          </a:xfrm>
        </p:spPr>
        <p:txBody>
          <a:bodyPr anchor="b">
            <a:normAutofit/>
          </a:bodyPr>
          <a:lstStyle/>
          <a:p>
            <a:pPr algn="ctr"/>
            <a:r>
              <a:rPr lang="de-DE" sz="3000" b="1" dirty="0"/>
              <a:t>Murmelrunde</a:t>
            </a:r>
            <a:br>
              <a:rPr lang="en-DE" sz="3000" dirty="0"/>
            </a:br>
            <a:endParaRPr lang="en-DE" sz="3000" b="1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F88434-E858-658E-08C6-88BA73756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617" y="1097280"/>
            <a:ext cx="6001109" cy="510235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de-DE" sz="2400" dirty="0"/>
              <a:t>Macht euch zunächst jeder für sich Gedanken zu den folgenden Fragen. </a:t>
            </a:r>
            <a:r>
              <a:rPr lang="de-DE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Macht euch Notizen.</a:t>
            </a:r>
          </a:p>
          <a:p>
            <a:pPr marL="0" indent="0">
              <a:buNone/>
            </a:pPr>
            <a:r>
              <a:rPr lang="de-DE" sz="2400" dirty="0"/>
              <a:t>(5 Min)</a:t>
            </a:r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400" dirty="0"/>
              <a:t>Tauscht euch im Anschluss in der Kleingruppe am Tisch über eure Ergebnisse aus: </a:t>
            </a:r>
          </a:p>
          <a:p>
            <a:pPr marL="0" indent="0">
              <a:buNone/>
            </a:pPr>
            <a:r>
              <a:rPr lang="de-DE" sz="2400" dirty="0"/>
              <a:t>(10 Min)</a:t>
            </a:r>
          </a:p>
          <a:p>
            <a:pPr marL="0" indent="0">
              <a:buNone/>
            </a:pPr>
            <a:endParaRPr lang="de-DE" sz="2400" dirty="0"/>
          </a:p>
          <a:p>
            <a:r>
              <a:rPr lang="de-DE" sz="2400" i="1" dirty="0">
                <a:solidFill>
                  <a:srgbClr val="7030A0"/>
                </a:solidFill>
              </a:rPr>
              <a:t>Welche Gefühle werden bei dir durch die Äußerungen und Handlungen ausgelöst?</a:t>
            </a:r>
          </a:p>
          <a:p>
            <a:r>
              <a:rPr lang="de-DE" sz="2400" i="1" dirty="0">
                <a:solidFill>
                  <a:srgbClr val="7030A0"/>
                </a:solidFill>
              </a:rPr>
              <a:t>Welchen Bezug hast du zu der Situation?</a:t>
            </a:r>
          </a:p>
          <a:p>
            <a:r>
              <a:rPr lang="de-DE" sz="2400" i="1" dirty="0">
                <a:solidFill>
                  <a:srgbClr val="7030A0"/>
                </a:solidFill>
              </a:rPr>
              <a:t>Welche Erfahrungen hast du in der Praxis und/oder privat mit ähnlichen Situationen gesammelt?</a:t>
            </a:r>
            <a:endParaRPr lang="en-US" sz="2400" i="1" dirty="0">
              <a:solidFill>
                <a:srgbClr val="7030A0"/>
              </a:solidFill>
            </a:endParaRPr>
          </a:p>
          <a:p>
            <a:endParaRPr lang="en-US" sz="2400" dirty="0"/>
          </a:p>
          <a:p>
            <a:endParaRPr lang="de-DE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743200" lvl="6" indent="0">
              <a:buNone/>
            </a:pPr>
            <a:endParaRPr lang="de-DE" sz="24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lvl="6"/>
            <a:endParaRPr lang="en-DE" sz="12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91A3D81-0510-C25D-AB97-788804855D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815" r="20226" b="-1"/>
          <a:stretch/>
        </p:blipFill>
        <p:spPr>
          <a:xfrm>
            <a:off x="6474781" y="10"/>
            <a:ext cx="571569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007765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B72D11-D827-6631-BA26-97723A012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Gedanken und Gefühle – Seminarmethode – Start">
            <a:extLst>
              <a:ext uri="{FF2B5EF4-FFF2-40B4-BE49-F238E27FC236}">
                <a16:creationId xmlns:a16="http://schemas.microsoft.com/office/drawing/2014/main" id="{D149E09F-3F73-9676-C7AE-C3421B4FC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31"/>
          <a:stretch>
            <a:fillRect/>
          </a:stretch>
        </p:blipFill>
        <p:spPr bwMode="auto">
          <a:xfrm>
            <a:off x="-1" y="-2"/>
            <a:ext cx="5410198" cy="685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9C4FD9C-C9A4-B80F-C3CD-6927690F5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de-DE" sz="4000" b="1"/>
              <a:t>1. Wahrnehmen und Erleben</a:t>
            </a:r>
            <a:endParaRPr lang="de-DE" sz="400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A9BFB84-4768-93A8-29C6-CF8623FCD4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1541" y="2691684"/>
            <a:ext cx="5958744" cy="349687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de-DE" sz="2400" u="sng" dirty="0"/>
              <a:t>Austauschrunde im Plenum:</a:t>
            </a:r>
            <a:endParaRPr lang="de-DE" sz="2400" dirty="0"/>
          </a:p>
          <a:p>
            <a:pPr marL="0" indent="0">
              <a:buNone/>
            </a:pPr>
            <a:r>
              <a:rPr lang="de-DE" sz="2400" dirty="0"/>
              <a:t>Welche Aspekte deiner Gefühle, Gedanken und Assoziationen möchtest du mitteilen?</a:t>
            </a:r>
          </a:p>
          <a:p>
            <a:pPr marL="0" indent="0">
              <a:buNone/>
            </a:pPr>
            <a:endParaRPr lang="de-DE" sz="2400" dirty="0"/>
          </a:p>
          <a:p>
            <a:pPr marL="0" indent="0">
              <a:buNone/>
            </a:pPr>
            <a:r>
              <a:rPr lang="de-DE" sz="2400" i="1" dirty="0">
                <a:solidFill>
                  <a:srgbClr val="00B050"/>
                </a:solidFill>
              </a:rPr>
              <a:t>Wir beachten das Prinzip der Freiwilligkeit!</a:t>
            </a:r>
            <a:endParaRPr lang="de-DE" sz="2400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de-DE" sz="2400" dirty="0"/>
          </a:p>
          <a:p>
            <a:pPr marL="0" lvl="0" indent="0">
              <a:buNone/>
            </a:pPr>
            <a:endParaRPr lang="de-DE" sz="2000" dirty="0"/>
          </a:p>
          <a:p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3629071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1DCC0-9202-A876-EA15-04AA7B988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DAE0F66-6162-2AB8-D0C0-4EF1BF1D9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78" y="741392"/>
            <a:ext cx="4491821" cy="1055878"/>
          </a:xfrm>
        </p:spPr>
        <p:txBody>
          <a:bodyPr anchor="b">
            <a:normAutofit fontScale="90000"/>
          </a:bodyPr>
          <a:lstStyle/>
          <a:p>
            <a:pPr algn="ctr"/>
            <a:r>
              <a:rPr lang="de-DE" sz="3600" b="1" dirty="0"/>
              <a:t>Stundenverlauf 01.09.26</a:t>
            </a:r>
            <a:endParaRPr lang="en-DE" sz="3600" b="1" dirty="0"/>
          </a:p>
        </p:txBody>
      </p:sp>
      <p:pic>
        <p:nvPicPr>
          <p:cNvPr id="5" name="Picture 4" descr="Kalender auf Tisch">
            <a:extLst>
              <a:ext uri="{FF2B5EF4-FFF2-40B4-BE49-F238E27FC236}">
                <a16:creationId xmlns:a16="http://schemas.microsoft.com/office/drawing/2014/main" id="{9DB87C82-F560-028C-AEAF-DBE6F7EBF78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50" r="37416" b="-1"/>
          <a:stretch/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64ABDDD-642B-16A9-B582-061592487C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78" y="1975104"/>
            <a:ext cx="4491820" cy="4361688"/>
          </a:xfrm>
        </p:spPr>
        <p:txBody>
          <a:bodyPr anchor="t">
            <a:normAutofit/>
          </a:bodyPr>
          <a:lstStyle/>
          <a:p>
            <a:endParaRPr lang="de-DE" sz="2000" dirty="0"/>
          </a:p>
          <a:p>
            <a:r>
              <a:rPr lang="de-DE" sz="2000" dirty="0" err="1"/>
              <a:t>Klassensprecher:innen-Neuwahl</a:t>
            </a:r>
            <a:r>
              <a:rPr lang="de-DE" sz="2000" dirty="0"/>
              <a:t>?!</a:t>
            </a:r>
          </a:p>
          <a:p>
            <a:endParaRPr lang="de-DE" sz="2000" dirty="0"/>
          </a:p>
          <a:p>
            <a:r>
              <a:rPr lang="de-DE" sz="2000" dirty="0"/>
              <a:t>Verstehen und Analysieren:</a:t>
            </a:r>
          </a:p>
          <a:p>
            <a:pPr lvl="1"/>
            <a:endParaRPr lang="de-DE" sz="1600" dirty="0"/>
          </a:p>
          <a:p>
            <a:pPr lvl="1"/>
            <a:r>
              <a:rPr lang="de-DE" sz="2000" dirty="0"/>
              <a:t>Mehrperspektivischer Blick</a:t>
            </a:r>
          </a:p>
          <a:p>
            <a:pPr marL="0" indent="0">
              <a:buNone/>
            </a:pP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2498385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539FB-612F-EA00-3E71-985894720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2D70BB-AE9D-7281-9358-EB73B0625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528" y="1803209"/>
            <a:ext cx="3672296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de-DE" sz="1600" u="sng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de-DE" sz="1900" u="sng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Phasenziele:</a:t>
            </a:r>
          </a:p>
          <a:p>
            <a:r>
              <a:rPr lang="de-DE" sz="1900" dirty="0"/>
              <a:t>Die </a:t>
            </a:r>
            <a:r>
              <a:rPr lang="de-DE" sz="1900" dirty="0" err="1"/>
              <a:t>SuS</a:t>
            </a:r>
            <a:r>
              <a:rPr lang="de-DE" sz="1900" dirty="0"/>
              <a:t> vergleichen unterschiedliche Perspektiven, um verschiedene Interessen der Beteiligten wahrzunehmen und in ihrem pädagogischen Handeln zu berücksichtigen.</a:t>
            </a:r>
          </a:p>
          <a:p>
            <a:r>
              <a:rPr lang="de-DE" sz="1900" dirty="0"/>
              <a:t>Die </a:t>
            </a:r>
            <a:r>
              <a:rPr lang="de-DE" sz="1900" dirty="0" err="1"/>
              <a:t>SuS</a:t>
            </a:r>
            <a:r>
              <a:rPr lang="de-DE" sz="1900" dirty="0"/>
              <a:t> entwickeln erste fachliche Ideen und erstellen Hypothesen auf Grundlage der Mehrperspektivität, um die Chancen und Herausforderungen in der Zusammenarbeit mit den Sorgeberechtigten zu analysieren.</a:t>
            </a:r>
          </a:p>
          <a:p>
            <a:endParaRPr lang="de-DE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nhaltsplatzhalter 3" descr="Ein Bild, das Text, Screenshot, Diagramm, Schrift enthält.&#10;&#10;Automatisch generierte Beschreibung">
            <a:extLst>
              <a:ext uri="{FF2B5EF4-FFF2-40B4-BE49-F238E27FC236}">
                <a16:creationId xmlns:a16="http://schemas.microsoft.com/office/drawing/2014/main" id="{6F48EA1B-9B9A-8E12-27CB-8F54C6B716A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004" r="12005" b="1"/>
          <a:stretch/>
        </p:blipFill>
        <p:spPr>
          <a:xfrm>
            <a:off x="4080728" y="10"/>
            <a:ext cx="8111272" cy="6857990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4CE648CE-4CFE-7876-BC73-14AE56953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364" y="703453"/>
            <a:ext cx="3242528" cy="1325563"/>
          </a:xfrm>
        </p:spPr>
        <p:txBody>
          <a:bodyPr>
            <a:normAutofit/>
          </a:bodyPr>
          <a:lstStyle/>
          <a:p>
            <a:r>
              <a:rPr lang="de-DE" sz="3600" dirty="0"/>
              <a:t>1. Verstehen und Analysieren</a:t>
            </a:r>
          </a:p>
        </p:txBody>
      </p:sp>
      <p:sp>
        <p:nvSpPr>
          <p:cNvPr id="7" name="Pfeil: nach rechts 6">
            <a:extLst>
              <a:ext uri="{FF2B5EF4-FFF2-40B4-BE49-F238E27FC236}">
                <a16:creationId xmlns:a16="http://schemas.microsoft.com/office/drawing/2014/main" id="{AD1BE34A-2570-4DA7-F13C-5A82A51DA0E5}"/>
              </a:ext>
            </a:extLst>
          </p:cNvPr>
          <p:cNvSpPr/>
          <p:nvPr/>
        </p:nvSpPr>
        <p:spPr>
          <a:xfrm rot="10800000">
            <a:off x="10267870" y="2029016"/>
            <a:ext cx="1646761" cy="1112580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088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18A50B-2E4D-1EAD-97B0-970305822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200" b="1" dirty="0"/>
              <a:t>Phase 2: Verstehen und Analysieren</a:t>
            </a:r>
            <a:endParaRPr lang="de-DE" sz="3200" dirty="0"/>
          </a:p>
        </p:txBody>
      </p:sp>
      <p:sp>
        <p:nvSpPr>
          <p:cNvPr id="4" name="Inhaltsplatzhalter 7">
            <a:extLst>
              <a:ext uri="{FF2B5EF4-FFF2-40B4-BE49-F238E27FC236}">
                <a16:creationId xmlns:a16="http://schemas.microsoft.com/office/drawing/2014/main" id="{1F7FA11D-C099-7929-952F-B5730BFAD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246" y="1356778"/>
            <a:ext cx="10515600" cy="4658259"/>
          </a:xfrm>
        </p:spPr>
        <p:txBody>
          <a:bodyPr rtlCol="0">
            <a:normAutofit fontScale="70000" lnSpcReduction="20000"/>
          </a:bodyPr>
          <a:lstStyle>
            <a:defPPr>
              <a:defRPr lang="de-DE"/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1" i="0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Gruppenarbeit: Bildet nun </a:t>
            </a:r>
            <a:r>
              <a:rPr lang="de-DE" b="1" dirty="0">
                <a:solidFill>
                  <a:srgbClr val="F79646">
                    <a:lumMod val="50000"/>
                  </a:srgbClr>
                </a:solidFill>
                <a:latin typeface="Calibri"/>
              </a:rPr>
              <a:t>Klein</a:t>
            </a:r>
            <a:r>
              <a:rPr kumimoji="0" lang="de-DE" sz="2800" b="1" i="0" strike="noStrike" kern="1200" cap="none" spc="0" normalizeH="0" baseline="0" noProof="0" dirty="0">
                <a:ln>
                  <a:noFill/>
                </a:ln>
                <a:solidFill>
                  <a:srgbClr val="F79646">
                    <a:lumMod val="50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gruppen und setzt eine der folgenden Brillen auf (Meta-Ebene). Welche Gedanken kommen? Verfasst dazu einen inneren Monolog (Sicherung in der Cloud).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0" i="0" dirty="0">
                <a:solidFill>
                  <a:srgbClr val="1D2125"/>
                </a:solidFill>
                <a:effectLst/>
                <a:latin typeface="-apple-system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0" i="0" dirty="0">
                <a:solidFill>
                  <a:srgbClr val="1D2125"/>
                </a:solidFill>
                <a:effectLst/>
                <a:latin typeface="-apple-system"/>
              </a:rPr>
              <a:t>Welche Hoffnungen, Wünsche oder Bedenken haben die verschiedenen Akteure?</a:t>
            </a:r>
            <a:endParaRPr kumimoji="0" lang="de-DE" sz="2800" b="1" i="0" u="sng" strike="noStrike" kern="1200" cap="none" spc="0" normalizeH="0" baseline="0" noProof="0" dirty="0">
              <a:ln>
                <a:noFill/>
              </a:ln>
              <a:solidFill>
                <a:srgbClr val="F79646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2800" b="1" i="0" u="sng" strike="noStrike" kern="1200" cap="none" spc="0" normalizeH="0" baseline="0" noProof="0" dirty="0">
              <a:ln>
                <a:noFill/>
              </a:ln>
              <a:solidFill>
                <a:srgbClr val="F79646">
                  <a:lumMod val="50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kumimoji="0" lang="de-DE" sz="2400" i="0" u="none" strike="noStrike" kern="1200" cap="none" spc="0" normalizeH="0" baseline="0" noProof="0" dirty="0">
                <a:ln>
                  <a:noFill/>
                </a:ln>
                <a:solidFill>
                  <a:srgbClr val="1D2125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a)</a:t>
            </a:r>
            <a:r>
              <a:rPr kumimoji="0" lang="de-DE" sz="2400" b="1" i="0" u="none" strike="noStrike" kern="1200" cap="none" spc="0" normalizeH="0" baseline="0" noProof="0" dirty="0">
                <a:ln>
                  <a:noFill/>
                </a:ln>
                <a:solidFill>
                  <a:srgbClr val="1D2125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     </a:t>
            </a:r>
            <a:r>
              <a:rPr kumimoji="0" lang="de-DE" sz="2400" i="0" u="none" strike="noStrike" kern="1200" cap="none" spc="0" normalizeH="0" baseline="0" noProof="0" dirty="0">
                <a:ln>
                  <a:noFill/>
                </a:ln>
                <a:solidFill>
                  <a:srgbClr val="1D2125"/>
                </a:solidFill>
                <a:effectLst/>
                <a:uLnTx/>
                <a:uFillTx/>
                <a:latin typeface="-apple-system"/>
                <a:ea typeface="+mn-ea"/>
                <a:cs typeface="+mn-cs"/>
              </a:rPr>
              <a:t>...</a:t>
            </a:r>
            <a:r>
              <a:rPr lang="de-DE" sz="2400" dirty="0">
                <a:solidFill>
                  <a:srgbClr val="1D2125"/>
                </a:solidFill>
                <a:latin typeface="-apple-system"/>
              </a:rPr>
              <a:t>mit der Brille von </a:t>
            </a:r>
            <a:r>
              <a:rPr lang="de-DE" sz="2400" dirty="0">
                <a:solidFill>
                  <a:srgbClr val="00B050"/>
                </a:solidFill>
                <a:latin typeface="-apple-system"/>
              </a:rPr>
              <a:t>Samira</a:t>
            </a:r>
            <a:endParaRPr lang="de-DE" sz="2400" dirty="0">
              <a:solidFill>
                <a:srgbClr val="1D2125"/>
              </a:solidFill>
              <a:latin typeface="-apple-system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endParaRPr lang="de-DE" sz="2400" dirty="0">
              <a:solidFill>
                <a:srgbClr val="1D2125"/>
              </a:solidFill>
              <a:latin typeface="-apple-system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de-DE" sz="2400" dirty="0">
                <a:solidFill>
                  <a:srgbClr val="1D2125"/>
                </a:solidFill>
                <a:latin typeface="-apple-system"/>
              </a:rPr>
              <a:t>b)     …mit der Brille von </a:t>
            </a:r>
            <a:r>
              <a:rPr lang="de-DE" sz="2400" dirty="0">
                <a:solidFill>
                  <a:srgbClr val="7030A0"/>
                </a:solidFill>
                <a:latin typeface="-apple-system"/>
              </a:rPr>
              <a:t>Frau Kilic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de-DE" sz="2400" dirty="0">
                <a:solidFill>
                  <a:srgbClr val="1D2125"/>
                </a:solidFill>
                <a:latin typeface="-apple-system"/>
              </a:rPr>
              <a:t>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de-DE" sz="2400" dirty="0">
                <a:solidFill>
                  <a:srgbClr val="1D2125"/>
                </a:solidFill>
                <a:latin typeface="-apple-system"/>
              </a:rPr>
              <a:t>c)     …mit der Brille von </a:t>
            </a:r>
            <a:r>
              <a:rPr lang="de-DE" sz="2400" dirty="0">
                <a:solidFill>
                  <a:srgbClr val="0070C0"/>
                </a:solidFill>
                <a:latin typeface="-apple-system"/>
              </a:rPr>
              <a:t>Betül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endParaRPr lang="de-DE" sz="2400" dirty="0">
              <a:solidFill>
                <a:srgbClr val="1D2125"/>
              </a:solidFill>
              <a:latin typeface="-apple-system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r>
              <a:rPr lang="de-DE" sz="2400" dirty="0">
                <a:solidFill>
                  <a:srgbClr val="1D2125"/>
                </a:solidFill>
                <a:latin typeface="-apple-system"/>
              </a:rPr>
              <a:t>d)    …mit Brille von </a:t>
            </a:r>
            <a:r>
              <a:rPr lang="de-DE" sz="2400" dirty="0">
                <a:solidFill>
                  <a:srgbClr val="FF0000"/>
                </a:solidFill>
                <a:latin typeface="-apple-system"/>
              </a:rPr>
              <a:t>Jan</a:t>
            </a:r>
            <a:r>
              <a:rPr lang="de-DE" sz="2400" dirty="0">
                <a:solidFill>
                  <a:srgbClr val="1D2125"/>
                </a:solidFill>
                <a:latin typeface="-apple-system"/>
              </a:rPr>
              <a:t> 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Tx/>
              <a:buNone/>
              <a:defRPr/>
            </a:pPr>
            <a:endParaRPr lang="de-DE" sz="2400" dirty="0">
              <a:solidFill>
                <a:srgbClr val="1D2125"/>
              </a:solidFill>
              <a:latin typeface="-apple-system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AutoNum type="alphaLcParenR" startAt="5"/>
              <a:defRPr/>
            </a:pPr>
            <a:r>
              <a:rPr lang="de-DE" sz="2400" dirty="0">
                <a:solidFill>
                  <a:srgbClr val="1D2125"/>
                </a:solidFill>
                <a:latin typeface="-apple-system"/>
              </a:rPr>
              <a:t>... mit Brille der </a:t>
            </a:r>
            <a:r>
              <a:rPr lang="de-DE" sz="2400" dirty="0">
                <a:solidFill>
                  <a:schemeClr val="accent2">
                    <a:lumMod val="60000"/>
                    <a:lumOff val="40000"/>
                  </a:schemeClr>
                </a:solidFill>
                <a:latin typeface="-apple-system"/>
              </a:rPr>
              <a:t>Eltern von Valentin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AutoNum type="alphaLcParenR" startAt="5"/>
              <a:defRPr/>
            </a:pPr>
            <a:endParaRPr lang="de-DE" sz="2400" dirty="0">
              <a:solidFill>
                <a:schemeClr val="accent2">
                  <a:lumMod val="60000"/>
                  <a:lumOff val="40000"/>
                </a:schemeClr>
              </a:solidFill>
              <a:latin typeface="-apple-system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AutoNum type="alphaLcParenR" startAt="5"/>
              <a:defRPr/>
            </a:pPr>
            <a:r>
              <a:rPr lang="de-DE" sz="2400" dirty="0">
                <a:latin typeface="-apple-system"/>
              </a:rPr>
              <a:t>…mit der Brille des </a:t>
            </a:r>
            <a:r>
              <a:rPr lang="de-DE" sz="2400" dirty="0">
                <a:solidFill>
                  <a:schemeClr val="bg1">
                    <a:lumMod val="65000"/>
                  </a:schemeClr>
                </a:solidFill>
                <a:latin typeface="-apple-system"/>
              </a:rPr>
              <a:t>Vaters von Frieder</a:t>
            </a: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AutoNum type="alphaLcParenR" startAt="5"/>
              <a:defRPr/>
            </a:pPr>
            <a:endParaRPr lang="de-DE" sz="2400" dirty="0">
              <a:solidFill>
                <a:schemeClr val="accent2">
                  <a:lumMod val="60000"/>
                  <a:lumOff val="40000"/>
                </a:schemeClr>
              </a:solidFill>
              <a:latin typeface="-apple-system"/>
            </a:endParaRPr>
          </a:p>
          <a:p>
            <a:pPr marL="457200" indent="-457200">
              <a:lnSpc>
                <a:spcPct val="100000"/>
              </a:lnSpc>
              <a:spcBef>
                <a:spcPts val="0"/>
              </a:spcBef>
              <a:buAutoNum type="alphaLcParenR" startAt="5"/>
              <a:defRPr/>
            </a:pPr>
            <a:endParaRPr lang="de-DE" sz="2400" b="1" dirty="0">
              <a:solidFill>
                <a:srgbClr val="1D2125"/>
              </a:solidFill>
              <a:latin typeface="-apple-system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de-DE" sz="2400" b="1" dirty="0">
                <a:latin typeface="-apple-system"/>
              </a:rPr>
              <a:t>Wir tauschen uns danach im Plenum über Eure Ergebnisse aus. </a:t>
            </a:r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0701E90-19C3-F222-4B5B-89F78C32F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7139" y="147936"/>
            <a:ext cx="1364711" cy="12088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4" descr="Durch die Brille des „knowing with“ - Üben und Musizieren">
            <a:extLst>
              <a:ext uri="{FF2B5EF4-FFF2-40B4-BE49-F238E27FC236}">
                <a16:creationId xmlns:a16="http://schemas.microsoft.com/office/drawing/2014/main" id="{06B6C59D-50C0-478C-BA97-A383B590723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71" b="89988" l="5600" r="93389">
                        <a14:foregroundMark x1="9387" y1="24470" x2="9387" y2="24470"/>
                        <a14:foregroundMark x1="8777" y1="29663" x2="8777" y2="29663"/>
                        <a14:foregroundMark x1="8874" y1="31242" x2="8874" y2="31242"/>
                        <a14:foregroundMark x1="9483" y1="33278" x2="9483" y2="33278"/>
                        <a14:foregroundMark x1="11040" y1="78064" x2="11040" y2="78064"/>
                        <a14:foregroundMark x1="10863" y1="72455" x2="10863" y2="72455"/>
                        <a14:foregroundMark x1="8168" y1="75156" x2="8168" y2="75156"/>
                        <a14:foregroundMark x1="7558" y1="78521" x2="7558" y2="78521"/>
                        <a14:foregroundMark x1="9307" y1="81886" x2="9307" y2="81886"/>
                        <a14:foregroundMark x1="9483" y1="75156" x2="9483" y2="75156"/>
                        <a14:foregroundMark x1="12259" y1="74699" x2="12259" y2="74699"/>
                        <a14:foregroundMark x1="11216" y1="68841" x2="11216" y2="68841"/>
                        <a14:foregroundMark x1="11297" y1="66597" x2="11297" y2="66597"/>
                        <a14:foregroundMark x1="11906" y1="74450" x2="11906" y2="74450"/>
                        <a14:foregroundMark x1="12259" y1="75821" x2="12259" y2="75821"/>
                        <a14:foregroundMark x1="11136" y1="78521" x2="11136" y2="78521"/>
                        <a14:foregroundMark x1="7221" y1="77399" x2="7221" y2="77399"/>
                        <a14:foregroundMark x1="6435" y1="76942" x2="6435" y2="76942"/>
                        <a14:foregroundMark x1="6435" y1="74450" x2="6435" y2="74450"/>
                        <a14:foregroundMark x1="6435" y1="76693" x2="6435" y2="76693"/>
                        <a14:foregroundMark x1="6435" y1="78272" x2="6435" y2="78272"/>
                        <a14:foregroundMark x1="6258" y1="77150" x2="6258" y2="77150"/>
                        <a14:foregroundMark x1="5648" y1="75364" x2="5648" y2="75364"/>
                        <a14:foregroundMark x1="5921" y1="76942" x2="5921" y2="76942"/>
                        <a14:foregroundMark x1="5825" y1="77399" x2="5825" y2="77399"/>
                        <a14:foregroundMark x1="5648" y1="77150" x2="5648" y2="77150"/>
                        <a14:foregroundMark x1="5745" y1="76028" x2="5745" y2="76028"/>
                        <a14:foregroundMark x1="5921" y1="74907" x2="5921" y2="74907"/>
                        <a14:foregroundMark x1="5921" y1="74907" x2="5921" y2="74907"/>
                        <a14:foregroundMark x1="5921" y1="74907" x2="5921" y2="74907"/>
                        <a14:foregroundMark x1="5921" y1="74907" x2="5921" y2="74907"/>
                        <a14:foregroundMark x1="5825" y1="76693" x2="5825" y2="76693"/>
                        <a14:foregroundMark x1="5825" y1="77607" x2="5825" y2="77607"/>
                        <a14:foregroundMark x1="5825" y1="77399" x2="5825" y2="77399"/>
                        <a14:foregroundMark x1="5921" y1="76693" x2="5921" y2="76693"/>
                        <a14:foregroundMark x1="5921" y1="76028" x2="5921" y2="76028"/>
                        <a14:foregroundMark x1="36521" y1="31034" x2="36521" y2="31034"/>
                        <a14:foregroundMark x1="38703" y1="33486" x2="38703" y2="33486"/>
                        <a14:foregroundMark x1="39570" y1="35272" x2="39570" y2="35272"/>
                        <a14:foregroundMark x1="40870" y1="36851" x2="40870" y2="36851"/>
                        <a14:foregroundMark x1="41223" y1="40465" x2="41223" y2="40465"/>
                        <a14:foregroundMark x1="41560" y1="43415" x2="41560" y2="43415"/>
                        <a14:foregroundMark x1="41913" y1="39801" x2="41913" y2="39801"/>
                        <a14:foregroundMark x1="39746" y1="35064" x2="39746" y2="35064"/>
                        <a14:foregroundMark x1="36168" y1="30328" x2="36168" y2="30328"/>
                        <a14:foregroundMark x1="31739" y1="26963" x2="31739" y2="26963"/>
                        <a14:foregroundMark x1="31739" y1="26755" x2="31739" y2="26755"/>
                        <a14:foregroundMark x1="37484" y1="29871" x2="37484" y2="29871"/>
                        <a14:foregroundMark x1="39393" y1="31450" x2="39393" y2="31450"/>
                        <a14:foregroundMark x1="41046" y1="35729" x2="41303" y2="36186"/>
                        <a14:foregroundMark x1="41656" y1="40258" x2="41656" y2="40258"/>
                        <a14:foregroundMark x1="41656" y1="46531" x2="41656" y2="46531"/>
                        <a14:foregroundMark x1="42089" y1="51516" x2="42089" y2="51516"/>
                        <a14:foregroundMark x1="42089" y1="53095" x2="42089" y2="53095"/>
                        <a14:foregroundMark x1="41832" y1="54217" x2="41832" y2="54217"/>
                        <a14:foregroundMark x1="41832" y1="55546" x2="41832" y2="55546"/>
                        <a14:foregroundMark x1="41913" y1="56003" x2="41913" y2="56003"/>
                        <a14:foregroundMark x1="41993" y1="47902" x2="41993" y2="47902"/>
                        <a14:foregroundMark x1="42266" y1="44080" x2="42266" y2="44080"/>
                        <a14:foregroundMark x1="42266" y1="41379" x2="42266" y2="41379"/>
                        <a14:foregroundMark x1="42169" y1="40465" x2="42169" y2="40465"/>
                        <a14:foregroundMark x1="41993" y1="40008" x2="41993" y2="40008"/>
                        <a14:foregroundMark x1="40789" y1="37973" x2="40789" y2="37973"/>
                        <a14:foregroundMark x1="28081" y1="25384" x2="28081" y2="25384"/>
                        <a14:foregroundMark x1="31306" y1="25384" x2="31306" y2="25384"/>
                        <a14:foregroundMark x1="34515" y1="28334" x2="34515" y2="28334"/>
                        <a14:foregroundMark x1="37051" y1="29206" x2="37051" y2="29206"/>
                        <a14:foregroundMark x1="38350" y1="31034" x2="38350" y2="31034"/>
                        <a14:foregroundMark x1="40340" y1="33278" x2="40340" y2="33278"/>
                        <a14:foregroundMark x1="40693" y1="34857" x2="40693" y2="34857"/>
                        <a14:foregroundMark x1="41046" y1="35272" x2="41046" y2="35272"/>
                        <a14:foregroundMark x1="41479" y1="37100" x2="41479" y2="37100"/>
                        <a14:foregroundMark x1="41479" y1="37100" x2="41479" y2="37100"/>
                        <a14:foregroundMark x1="42089" y1="38679" x2="42089" y2="38679"/>
                        <a14:foregroundMark x1="81563" y1="31699" x2="81563" y2="31699"/>
                        <a14:foregroundMark x1="81563" y1="31699" x2="81563" y2="31699"/>
                        <a14:foregroundMark x1="80953" y1="31699" x2="80953" y2="31699"/>
                        <a14:foregroundMark x1="82253" y1="34857" x2="82253" y2="34857"/>
                        <a14:foregroundMark x1="83392" y1="41587" x2="83392" y2="41587"/>
                        <a14:foregroundMark x1="83312" y1="37973" x2="83312" y2="37973"/>
                        <a14:foregroundMark x1="83745" y1="41836" x2="83745" y2="41836"/>
                        <a14:foregroundMark x1="83745" y1="49688" x2="83745" y2="49688"/>
                        <a14:foregroundMark x1="91913" y1="75156" x2="91913" y2="75156"/>
                        <a14:foregroundMark x1="91126" y1="78272" x2="91126" y2="78272"/>
                        <a14:foregroundMark x1="88784" y1="80764" x2="88784" y2="80764"/>
                        <a14:foregroundMark x1="88254" y1="77399" x2="88254" y2="77399"/>
                        <a14:foregroundMark x1="88254" y1="73993" x2="88254" y2="73993"/>
                        <a14:foregroundMark x1="87388" y1="77607" x2="87388" y2="77607"/>
                        <a14:foregroundMark x1="89137" y1="78064" x2="89137" y2="78064"/>
                        <a14:foregroundMark x1="90693" y1="76942" x2="90693" y2="76942"/>
                        <a14:foregroundMark x1="91736" y1="76693" x2="91736" y2="76693"/>
                        <a14:foregroundMark x1="92875" y1="76693" x2="92875" y2="76693"/>
                        <a14:foregroundMark x1="92442" y1="80100" x2="92442" y2="80100"/>
                        <a14:foregroundMark x1="90789" y1="83922" x2="90789" y2="83922"/>
                        <a14:foregroundMark x1="91046" y1="84130" x2="91046" y2="84130"/>
                        <a14:foregroundMark x1="93389" y1="81886" x2="93389" y2="81886"/>
                        <a14:foregroundMark x1="93212" y1="78978" x2="93212" y2="78978"/>
                        <a14:foregroundMark x1="92442" y1="77399" x2="92442" y2="77399"/>
                        <a14:foregroundMark x1="91560" y1="76693" x2="91560" y2="76693"/>
                        <a14:foregroundMark x1="89907" y1="75156" x2="89907" y2="75156"/>
                        <a14:foregroundMark x1="89746" y1="74242" x2="89746" y2="74242"/>
                        <a14:foregroundMark x1="89393" y1="72206" x2="89393" y2="72206"/>
                        <a14:foregroundMark x1="89040" y1="69049" x2="89040" y2="69049"/>
                        <a14:foregroundMark x1="88864" y1="71541" x2="88864" y2="71541"/>
                        <a14:foregroundMark x1="88784" y1="73993" x2="88784" y2="73993"/>
                        <a14:foregroundMark x1="88527" y1="76693" x2="88527" y2="76693"/>
                        <a14:foregroundMark x1="88431" y1="77856" x2="88431" y2="77856"/>
                        <a14:foregroundMark x1="89827" y1="77607" x2="89827" y2="77607"/>
                        <a14:foregroundMark x1="90950" y1="76485" x2="91303" y2="76485"/>
                        <a14:foregroundMark x1="92169" y1="76693" x2="92169" y2="76693"/>
                        <a14:foregroundMark x1="92779" y1="77150" x2="92779" y2="77150"/>
                        <a14:foregroundMark x1="92779" y1="77150" x2="92779" y2="77150"/>
                        <a14:foregroundMark x1="92169" y1="78978" x2="92169" y2="78978"/>
                        <a14:foregroundMark x1="91736" y1="79643" x2="91736" y2="79643"/>
                        <a14:foregroundMark x1="90260" y1="81429" x2="90260" y2="81429"/>
                        <a14:foregroundMark x1="88174" y1="82343" x2="88174" y2="82343"/>
                        <a14:foregroundMark x1="86778" y1="79643" x2="86778" y2="79643"/>
                        <a14:foregroundMark x1="86954" y1="76278" x2="86954" y2="76278"/>
                        <a14:foregroundMark x1="87484" y1="75156" x2="87484" y2="75156"/>
                        <a14:foregroundMark x1="88174" y1="72206" x2="88174" y2="72206"/>
                        <a14:foregroundMark x1="88784" y1="71541" x2="88784" y2="71541"/>
                        <a14:foregroundMark x1="88960" y1="70170" x2="88960" y2="70170"/>
                        <a14:foregroundMark x1="89137" y1="68841" x2="89137" y2="68841"/>
                        <a14:foregroundMark x1="88607" y1="66805" x2="88607" y2="66805"/>
                        <a14:foregroundMark x1="87051" y1="75571" x2="87051" y2="75571"/>
                        <a14:foregroundMark x1="91303" y1="30328" x2="91303" y2="30328"/>
                        <a14:foregroundMark x1="91126" y1="27877" x2="91126" y2="27877"/>
                        <a14:foregroundMark x1="90693" y1="25177" x2="90693" y2="25177"/>
                        <a14:foregroundMark x1="90693" y1="24927" x2="90693" y2="24927"/>
                        <a14:foregroundMark x1="90693" y1="24927" x2="90693" y2="24927"/>
                        <a14:foregroundMark x1="90693" y1="24927" x2="90693" y2="24927"/>
                        <a14:foregroundMark x1="90693" y1="24927" x2="90693" y2="24927"/>
                        <a14:foregroundMark x1="90693" y1="24927" x2="90693" y2="24927"/>
                        <a14:foregroundMark x1="90693" y1="24927" x2="90693" y2="24927"/>
                        <a14:foregroundMark x1="90693" y1="24927" x2="90693" y2="24927"/>
                        <a14:foregroundMark x1="90693" y1="24927" x2="90693" y2="24927"/>
                        <a14:foregroundMark x1="91126" y1="28542" x2="91126" y2="28542"/>
                        <a14:foregroundMark x1="91913" y1="31699" x2="91913" y2="31699"/>
                        <a14:foregroundMark x1="91656" y1="33735" x2="91656" y2="33735"/>
                        <a14:foregroundMark x1="90789" y1="33943" x2="90789" y2="33943"/>
                        <a14:foregroundMark x1="90517" y1="33278" x2="90517" y2="33278"/>
                        <a14:foregroundMark x1="90950" y1="30577" x2="90950" y2="30577"/>
                        <a14:foregroundMark x1="91126" y1="25384" x2="91126" y2="25384"/>
                        <a14:foregroundMark x1="90693" y1="24720" x2="90693" y2="24720"/>
                        <a14:foregroundMark x1="77567" y1="26049" x2="77567" y2="26049"/>
                        <a14:foregroundMark x1="80087" y1="28542" x2="80087" y2="28542"/>
                        <a14:foregroundMark x1="81049" y1="31034" x2="81049" y2="31034"/>
                        <a14:foregroundMark x1="81996" y1="33278" x2="81996" y2="33278"/>
                        <a14:foregroundMark x1="82526" y1="35272" x2="82526" y2="35272"/>
                        <a14:foregroundMark x1="82782" y1="37308" x2="82782" y2="37308"/>
                        <a14:foregroundMark x1="83039" y1="39136" x2="83039" y2="39136"/>
                        <a14:foregroundMark x1="83569" y1="41836" x2="83569" y2="41836"/>
                        <a14:foregroundMark x1="83569" y1="43623" x2="83569" y2="43623"/>
                        <a14:foregroundMark x1="83825" y1="46780" x2="83825" y2="46780"/>
                        <a14:foregroundMark x1="83745" y1="49024" x2="83745" y2="49024"/>
                        <a14:foregroundMark x1="83745" y1="51516" x2="83745" y2="51516"/>
                        <a14:foregroundMark x1="83745" y1="51932" x2="83745" y2="51932"/>
                        <a14:foregroundMark x1="83745" y1="51932" x2="83745" y2="51932"/>
                        <a14:foregroundMark x1="83745" y1="51932" x2="83745" y2="51932"/>
                        <a14:foregroundMark x1="83745" y1="51932" x2="83745" y2="51932"/>
                        <a14:foregroundMark x1="78001" y1="28542" x2="78001" y2="28542"/>
                        <a14:foregroundMark x1="74182" y1="25841" x2="74182" y2="25841"/>
                        <a14:foregroundMark x1="72529" y1="24720" x2="72529" y2="24720"/>
                        <a14:foregroundMark x1="77038" y1="24720" x2="77038" y2="24720"/>
                        <a14:foregroundMark x1="79044" y1="26963" x2="79044" y2="26963"/>
                        <a14:foregroundMark x1="81130" y1="28542" x2="81130" y2="28542"/>
                        <a14:foregroundMark x1="82253" y1="32156" x2="82253" y2="32156"/>
                        <a14:foregroundMark x1="83216" y1="32572" x2="83216" y2="32572"/>
                        <a14:foregroundMark x1="80343" y1="31450" x2="80343" y2="31450"/>
                        <a14:foregroundMark x1="77567" y1="27420" x2="77567" y2="27420"/>
                        <a14:foregroundMark x1="79573" y1="27420" x2="79573" y2="27420"/>
                        <a14:foregroundMark x1="81210" y1="30577" x2="81210" y2="30577"/>
                        <a14:foregroundMark x1="82782" y1="33943" x2="82782" y2="33943"/>
                        <a14:foregroundMark x1="83135" y1="37100" x2="83135" y2="37100"/>
                        <a14:foregroundMark x1="90340" y1="30785" x2="90340" y2="30785"/>
                        <a14:foregroundMark x1="90693" y1="31699" x2="90693" y2="31699"/>
                        <a14:foregroundMark x1="91736" y1="30785" x2="91736" y2="30785"/>
                        <a14:foregroundMark x1="91126" y1="28542" x2="91126" y2="2854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88750">
            <a:off x="7677557" y="2944912"/>
            <a:ext cx="2271395" cy="877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100+ kostenlose Austausch &amp; Kommunikation Fotos - Pixabay">
            <a:extLst>
              <a:ext uri="{FF2B5EF4-FFF2-40B4-BE49-F238E27FC236}">
                <a16:creationId xmlns:a16="http://schemas.microsoft.com/office/drawing/2014/main" id="{EB6FC068-A0BE-F89D-810B-18DA29DB000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726288"/>
            <a:ext cx="2087880" cy="1391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7587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D6406-1F43-AA75-0521-C4E954402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F96DAE-A18A-2281-DBBE-364199E87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878" y="741392"/>
            <a:ext cx="4491821" cy="1055878"/>
          </a:xfrm>
        </p:spPr>
        <p:txBody>
          <a:bodyPr anchor="b">
            <a:normAutofit fontScale="90000"/>
          </a:bodyPr>
          <a:lstStyle/>
          <a:p>
            <a:pPr algn="ctr"/>
            <a:r>
              <a:rPr lang="de-DE" sz="3600" b="1" dirty="0"/>
              <a:t>Stundenverlauf 08.09.26</a:t>
            </a:r>
            <a:endParaRPr lang="en-DE" sz="3600" b="1" dirty="0"/>
          </a:p>
        </p:txBody>
      </p:sp>
      <p:pic>
        <p:nvPicPr>
          <p:cNvPr id="5" name="Picture 4" descr="Kalender auf Tisch">
            <a:extLst>
              <a:ext uri="{FF2B5EF4-FFF2-40B4-BE49-F238E27FC236}">
                <a16:creationId xmlns:a16="http://schemas.microsoft.com/office/drawing/2014/main" id="{42A2174F-047E-B69D-3CDF-0E9A2983DE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50" r="37416" b="-1"/>
          <a:stretch/>
        </p:blipFill>
        <p:spPr>
          <a:xfrm>
            <a:off x="20" y="10"/>
            <a:ext cx="6095980" cy="6857990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796D29-5875-7378-F03B-3F3DCB6E3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3878" y="1975104"/>
            <a:ext cx="4491820" cy="4361688"/>
          </a:xfrm>
        </p:spPr>
        <p:txBody>
          <a:bodyPr anchor="t">
            <a:normAutofit/>
          </a:bodyPr>
          <a:lstStyle/>
          <a:p>
            <a:endParaRPr lang="de-DE" sz="2000" dirty="0"/>
          </a:p>
          <a:p>
            <a:r>
              <a:rPr lang="de-DE" sz="2000" dirty="0" err="1"/>
              <a:t>Klassensprecher:innen-Neuwahl</a:t>
            </a:r>
            <a:r>
              <a:rPr lang="de-DE" sz="2000" dirty="0"/>
              <a:t>?!</a:t>
            </a:r>
          </a:p>
          <a:p>
            <a:endParaRPr lang="de-DE" sz="2000" dirty="0"/>
          </a:p>
          <a:p>
            <a:r>
              <a:rPr lang="de-DE" sz="2000" dirty="0"/>
              <a:t>Verstehen und Analysieren:</a:t>
            </a:r>
          </a:p>
          <a:p>
            <a:pPr lvl="1"/>
            <a:endParaRPr lang="de-DE" sz="1600" dirty="0"/>
          </a:p>
          <a:p>
            <a:pPr lvl="1"/>
            <a:r>
              <a:rPr lang="de-DE" sz="2000" dirty="0"/>
              <a:t>Fragen sammeln</a:t>
            </a:r>
          </a:p>
          <a:p>
            <a:pPr lvl="1"/>
            <a:r>
              <a:rPr lang="de-DE" sz="2000" dirty="0"/>
              <a:t>Fachwissenschaftliche Einordnung I</a:t>
            </a:r>
          </a:p>
          <a:p>
            <a:pPr marL="0" indent="0">
              <a:buNone/>
            </a:pPr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973982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8FF36A-56DB-75DD-4C8D-A58E5CAC6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Welche Fragen ergeben sich für dich aus der Handlungssituation?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4EE1E1-B3BF-3542-65B6-51CE0335A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FontTx/>
              <a:buChar char="-"/>
            </a:pPr>
            <a:r>
              <a:rPr lang="de-DE" dirty="0"/>
              <a:t>Warum hat Betüls Mutter so gehandelt, wie sie gehandelt hat?</a:t>
            </a:r>
          </a:p>
          <a:p>
            <a:pPr>
              <a:buFontTx/>
              <a:buChar char="-"/>
            </a:pPr>
            <a:r>
              <a:rPr lang="de-DE" dirty="0"/>
              <a:t>Wie geht man mit solchen Eltern um, die kein Interesse haben?</a:t>
            </a:r>
          </a:p>
          <a:p>
            <a:pPr>
              <a:buFontTx/>
              <a:buChar char="-"/>
            </a:pPr>
            <a:r>
              <a:rPr lang="de-DE" dirty="0"/>
              <a:t>Inwiefern ist es Aufgabe der Fachkräfte, Medienkonsum zuhause zu kritisieren?</a:t>
            </a:r>
          </a:p>
          <a:p>
            <a:pPr>
              <a:buFontTx/>
              <a:buChar char="-"/>
            </a:pPr>
            <a:r>
              <a:rPr lang="de-DE" dirty="0"/>
              <a:t>Wie gehe ich mit Eltern um, die Sprachverständigungsbarriere haben</a:t>
            </a:r>
          </a:p>
          <a:p>
            <a:pPr>
              <a:buFontTx/>
              <a:buChar char="-"/>
            </a:pPr>
            <a:r>
              <a:rPr lang="de-DE" dirty="0"/>
              <a:t>Wie greife ich das Geschehene als Fachkraft wieder auf? </a:t>
            </a:r>
          </a:p>
          <a:p>
            <a:pPr>
              <a:buFontTx/>
              <a:buChar char="-"/>
            </a:pPr>
            <a:r>
              <a:rPr lang="de-DE" dirty="0"/>
              <a:t>Was ist meine Pflicht anzusprechen und wann? (direkte Situation oder Elterngespräch?</a:t>
            </a:r>
          </a:p>
          <a:p>
            <a:pPr>
              <a:buFontTx/>
              <a:buChar char="-"/>
            </a:pPr>
            <a:r>
              <a:rPr lang="de-DE" dirty="0"/>
              <a:t>Wie gehe ich mit Grenzüberschreitung </a:t>
            </a:r>
            <a:r>
              <a:rPr lang="de-DE" dirty="0" err="1"/>
              <a:t>elterlicherseits</a:t>
            </a:r>
            <a:r>
              <a:rPr lang="de-DE" dirty="0"/>
              <a:t> um? Wie kann ich professionelle Distanz bewahren?</a:t>
            </a:r>
          </a:p>
          <a:p>
            <a:pPr>
              <a:buFontTx/>
              <a:buChar char="-"/>
            </a:pPr>
            <a:r>
              <a:rPr lang="de-DE" dirty="0"/>
              <a:t>Wie kann ich differenzieren zwischen professionell-pädagogischem Handeln und persönlicher Präferenz? (</a:t>
            </a:r>
            <a:r>
              <a:rPr lang="de-DE" dirty="0" err="1"/>
              <a:t>Bsp</a:t>
            </a:r>
            <a:r>
              <a:rPr lang="de-DE" dirty="0"/>
              <a:t> Medienkonsum)</a:t>
            </a:r>
          </a:p>
          <a:p>
            <a:pPr>
              <a:buFontTx/>
              <a:buChar char="-"/>
            </a:pPr>
            <a:r>
              <a:rPr lang="de-DE" dirty="0"/>
              <a:t>Dürfen wir eingreifen, wenn Sorgeberechtigte überfordert sind?</a:t>
            </a:r>
          </a:p>
          <a:p>
            <a:pPr>
              <a:buFontTx/>
              <a:buChar char="-"/>
            </a:pPr>
            <a:r>
              <a:rPr lang="de-DE" dirty="0"/>
              <a:t>Wie formuliere ich das Anliegen professionell - ohne Vorwurf?</a:t>
            </a:r>
          </a:p>
          <a:p>
            <a:pPr>
              <a:buFontTx/>
              <a:buChar char="-"/>
            </a:pPr>
            <a:r>
              <a:rPr lang="de-DE" dirty="0"/>
              <a:t>Ist irgendein Verhalten aus der Situation grenzüberschreitend und wenn ja, welche?</a:t>
            </a:r>
          </a:p>
          <a:p>
            <a:pPr>
              <a:buFontTx/>
              <a:buChar char="-"/>
            </a:pPr>
            <a:r>
              <a:rPr lang="de-DE" dirty="0"/>
              <a:t>Wann kann die Beteiligung der Eltern dazu führen, dass die Fachkräfte an ihre Grenzen kommen?</a:t>
            </a:r>
          </a:p>
          <a:p>
            <a:pPr>
              <a:buFontTx/>
              <a:buChar char="-"/>
            </a:pPr>
            <a:r>
              <a:rPr lang="de-DE" dirty="0"/>
              <a:t>Wie kann ein Umgang mit Beißen  aussehen und welche Konsequenzen für Kinder sollte es geben?</a:t>
            </a:r>
          </a:p>
        </p:txBody>
      </p:sp>
      <p:pic>
        <p:nvPicPr>
          <p:cNvPr id="4" name="Grafik 3" descr="Fragen lieb haben und in die Antworten hineinleben">
            <a:extLst>
              <a:ext uri="{FF2B5EF4-FFF2-40B4-BE49-F238E27FC236}">
                <a16:creationId xmlns:a16="http://schemas.microsoft.com/office/drawing/2014/main" id="{08375195-4FFC-F9C0-7FA7-0DBBAAD18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9983" y="4303046"/>
            <a:ext cx="2326507" cy="232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713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175A6B8-3DB3-1589-4E96-F4A57C83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anchor="b">
            <a:normAutofit/>
          </a:bodyPr>
          <a:lstStyle/>
          <a:p>
            <a:r>
              <a:rPr lang="de-DE" sz="4200" b="1"/>
              <a:t>Von Elternarbeit zur Erziehungspartnerschaft</a:t>
            </a:r>
            <a:br>
              <a:rPr lang="de-DE" sz="4200" b="1"/>
            </a:br>
            <a:endParaRPr lang="de-DE" sz="4200"/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C27DDD-1EA8-237B-25F2-AA273E96D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2071316"/>
            <a:ext cx="6713552" cy="4119172"/>
          </a:xfrm>
        </p:spPr>
        <p:txBody>
          <a:bodyPr anchor="t">
            <a:normAutofit lnSpcReduction="10000"/>
          </a:bodyPr>
          <a:lstStyle/>
          <a:p>
            <a:r>
              <a:rPr lang="de-DE" sz="2200" dirty="0"/>
              <a:t>In Kindertageseinrichtungen treffen die Systeme „Familie“ und „Einrichtung“ mit unterschiedlichen Kulturen, Erfahrungen und Erwartungen aufeinander. </a:t>
            </a:r>
          </a:p>
          <a:p>
            <a:endParaRPr lang="de-DE" sz="2200" dirty="0"/>
          </a:p>
          <a:p>
            <a:pPr marL="0" indent="0" algn="ctr">
              <a:buNone/>
            </a:pPr>
            <a:r>
              <a:rPr lang="de-DE" sz="2200" dirty="0"/>
              <a:t>Arbeitsauftrag zum Text von </a:t>
            </a:r>
          </a:p>
          <a:p>
            <a:pPr marL="0" indent="0" algn="ctr">
              <a:buNone/>
            </a:pPr>
            <a:r>
              <a:rPr lang="de-DE" sz="2200" dirty="0"/>
              <a:t>Gabriele Schmal (</a:t>
            </a:r>
            <a:r>
              <a:rPr lang="de-DE" sz="2200" dirty="0" err="1"/>
              <a:t>KiGa</a:t>
            </a:r>
            <a:r>
              <a:rPr lang="de-DE" sz="2200" dirty="0"/>
              <a:t> heute)</a:t>
            </a:r>
          </a:p>
          <a:p>
            <a:endParaRPr lang="de-DE" sz="2200" dirty="0"/>
          </a:p>
          <a:p>
            <a:r>
              <a:rPr lang="de-DE" sz="2200" dirty="0"/>
              <a:t>Der Grundlagentext beschreibt, wie sich klassische Elternarbeit zu einer professionellen, vertrauensvollen und zeitgemäßen Erziehungspartnerschaft weiterentwickeln kann.</a:t>
            </a:r>
          </a:p>
          <a:p>
            <a:endParaRPr lang="de-DE" sz="2200" dirty="0"/>
          </a:p>
        </p:txBody>
      </p:sp>
      <p:pic>
        <p:nvPicPr>
          <p:cNvPr id="4" name="Grafik 3" descr="Arbeitsauftrag - Kostenlose schnittstelle-Icons">
            <a:extLst>
              <a:ext uri="{FF2B5EF4-FFF2-40B4-BE49-F238E27FC236}">
                <a16:creationId xmlns:a16="http://schemas.microsoft.com/office/drawing/2014/main" id="{7CB77D8E-7C89-CEF8-81B3-6A4689F919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" r="3617" b="-5"/>
          <a:stretch>
            <a:fillRect/>
          </a:stretch>
        </p:blipFill>
        <p:spPr>
          <a:xfrm>
            <a:off x="7675658" y="2093976"/>
            <a:ext cx="3941064" cy="409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517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998096-0300-B899-A191-D39403933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BF75A97-19FB-FA64-2F2F-40C5E5E59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de-DE" sz="3000" b="1"/>
              <a:t>Von Elternarbeit zur Erziehungspartnerschaft</a:t>
            </a:r>
            <a:br>
              <a:rPr lang="de-DE" sz="3000" b="1"/>
            </a:br>
            <a:endParaRPr lang="de-DE" sz="3000"/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CE8AFF-0BC9-8FEC-939C-244AEAC3A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200" dirty="0"/>
              <a:t>Präsentation zum Arbeitsauftrag zum Text von Gabriele Schmal (</a:t>
            </a:r>
            <a:r>
              <a:rPr lang="de-DE" sz="2200"/>
              <a:t>KiGa</a:t>
            </a:r>
            <a:r>
              <a:rPr lang="de-DE" sz="2200" dirty="0"/>
              <a:t> heute)</a:t>
            </a:r>
          </a:p>
          <a:p>
            <a:endParaRPr lang="de-DE" sz="2200" dirty="0"/>
          </a:p>
          <a:p>
            <a:endParaRPr lang="de-DE" sz="2200" dirty="0"/>
          </a:p>
        </p:txBody>
      </p:sp>
      <p:pic>
        <p:nvPicPr>
          <p:cNvPr id="5" name="Grafik 4" descr="Storytelling in Präsentationen - Medien - Material - wb-web">
            <a:extLst>
              <a:ext uri="{FF2B5EF4-FFF2-40B4-BE49-F238E27FC236}">
                <a16:creationId xmlns:a16="http://schemas.microsoft.com/office/drawing/2014/main" id="{AF42A27D-E058-B37A-51E8-F1ED39396B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620" r="14149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89048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808CE-5EB0-F9BB-EA64-9F79121DE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3D74D3-D47B-B22F-933E-1AA723C45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871"/>
          </a:xfrm>
        </p:spPr>
        <p:txBody>
          <a:bodyPr>
            <a:normAutofit/>
          </a:bodyPr>
          <a:lstStyle/>
          <a:p>
            <a:r>
              <a:rPr lang="de-DE" sz="3600" b="1" dirty="0"/>
              <a:t>Phase 2: Verstehen und Analysieren</a:t>
            </a:r>
            <a:endParaRPr lang="en-DE" sz="36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D42727-058D-7126-8E22-7EBEE6BCB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5996"/>
            <a:ext cx="9977959" cy="50693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de-DE" b="1" u="sng" dirty="0"/>
              <a:t>Arbeitshypothese formulieren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lang="de-DE" b="1" dirty="0"/>
              <a:t>Was ist eine Arbeitshypothese?</a:t>
            </a:r>
            <a:endParaRPr lang="de-DE" dirty="0"/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lang="de-DE" b="1" dirty="0"/>
              <a:t>Definition:</a:t>
            </a:r>
            <a:r>
              <a:rPr lang="de-DE" dirty="0"/>
              <a:t> Eine Arbeitshypothese ist eine vorläufige Hypothese, die der weiteren Arbeit zugrunde gelegt wird. </a:t>
            </a:r>
          </a:p>
          <a:p>
            <a:pPr marL="0" indent="0">
              <a:buNone/>
            </a:pPr>
            <a:r>
              <a:rPr lang="de-DE" dirty="0"/>
              <a:t>					</a:t>
            </a:r>
            <a:r>
              <a:rPr lang="de-DE" sz="2000" dirty="0"/>
              <a:t>(Quelle: Hoch/Vater, Beltz 2020)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lang="de-DE" dirty="0"/>
              <a:t>Es handelt sich um ein Erkenntnisinteresse, eine „Forschungsfrage“.</a:t>
            </a:r>
          </a:p>
          <a:p>
            <a:pPr marL="0" indent="0">
              <a:buNone/>
            </a:pPr>
            <a:r>
              <a:rPr lang="de-DE" b="1" dirty="0"/>
              <a:t>		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endParaRPr lang="de-DE" b="1" dirty="0"/>
          </a:p>
          <a:p>
            <a:pPr marL="0" indent="0" algn="ctr">
              <a:buNone/>
            </a:pPr>
            <a:endParaRPr lang="de-DE" b="1" dirty="0"/>
          </a:p>
          <a:p>
            <a:pPr marL="0" indent="0">
              <a:buNone/>
            </a:pPr>
            <a:endParaRPr lang="de-DE" b="1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80E9088-41EC-9A9B-64A9-43C7FA8B1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6371" y="218638"/>
            <a:ext cx="1528938" cy="13543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1BA8873D-D3F8-8257-FD45-66A68D150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86E54E6D-B27E-255E-5955-6134FF402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14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pic>
        <p:nvPicPr>
          <p:cNvPr id="2050" name="Picture 2" descr="260+ Fotos, Bilder und lizenzfreie Bilder zu Hypothesis - iStock |  Hypotheken, Annahme, Theory">
            <a:extLst>
              <a:ext uri="{FF2B5EF4-FFF2-40B4-BE49-F238E27FC236}">
                <a16:creationId xmlns:a16="http://schemas.microsoft.com/office/drawing/2014/main" id="{FC087757-F526-E182-B908-1D0FE756A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5900" y="3945890"/>
            <a:ext cx="2247900" cy="1178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05944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17D0-C67E-BCAF-4940-3C9B388CB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83A70C-E41F-95B2-4141-87E3D64A9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871"/>
          </a:xfrm>
        </p:spPr>
        <p:txBody>
          <a:bodyPr>
            <a:normAutofit/>
          </a:bodyPr>
          <a:lstStyle/>
          <a:p>
            <a:r>
              <a:rPr lang="de-DE" sz="3600" b="1" dirty="0"/>
              <a:t>Phase 2: Verstehen und Analysieren</a:t>
            </a:r>
            <a:endParaRPr lang="en-DE" sz="36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AE9327-7240-C29E-2AFA-7C5CEF095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5996"/>
            <a:ext cx="9977960" cy="50693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b="1" u="sng" dirty="0"/>
              <a:t>Arbeitshypothese formulieren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lang="de-DE" b="1" dirty="0"/>
              <a:t>Arbeitshypothesen entstehen in zwei Schritten:</a:t>
            </a:r>
            <a:endParaRPr lang="de-DE" dirty="0"/>
          </a:p>
          <a:p>
            <a:pPr lvl="0"/>
            <a:r>
              <a:rPr lang="de-DE" dirty="0"/>
              <a:t>Nachdem die Ausgangssituation mehrperspektivisch in den Blick genommen wurde, werden </a:t>
            </a:r>
            <a:r>
              <a:rPr lang="de-DE" b="1" dirty="0"/>
              <a:t>Vermutungen</a:t>
            </a:r>
            <a:r>
              <a:rPr lang="de-DE" dirty="0"/>
              <a:t> aufgestellt.</a:t>
            </a:r>
          </a:p>
          <a:p>
            <a:pPr lvl="1"/>
            <a:endParaRPr lang="de-DE" dirty="0"/>
          </a:p>
          <a:p>
            <a:pPr lvl="1"/>
            <a:endParaRPr lang="de-DE" i="1" dirty="0"/>
          </a:p>
          <a:p>
            <a:r>
              <a:rPr lang="de-DE" dirty="0"/>
              <a:t>Nach der Auseinandersetzung mit ersten Fachtexten werden die Vermutungen mit </a:t>
            </a:r>
            <a:r>
              <a:rPr lang="de-DE" b="1" dirty="0"/>
              <a:t>fachwissenschaftlichen Erkenntnissen verknüpft</a:t>
            </a:r>
            <a:r>
              <a:rPr lang="de-DE" dirty="0"/>
              <a:t>.</a:t>
            </a:r>
          </a:p>
          <a:p>
            <a:pPr marL="0" indent="0">
              <a:buNone/>
            </a:pPr>
            <a:r>
              <a:rPr lang="de-DE" dirty="0"/>
              <a:t>	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endParaRPr lang="de-DE" b="1" dirty="0"/>
          </a:p>
          <a:p>
            <a:pPr marL="0" indent="0" algn="ctr">
              <a:buNone/>
            </a:pPr>
            <a:endParaRPr lang="de-DE" b="1" dirty="0"/>
          </a:p>
          <a:p>
            <a:pPr marL="0" indent="0">
              <a:buNone/>
            </a:pPr>
            <a:endParaRPr lang="de-DE" b="1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ACA5C3D-B4B0-4041-D052-903A94782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6371" y="218638"/>
            <a:ext cx="1528938" cy="13543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6E6262B1-167C-5127-FC33-96C313E1E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41D98052-0FB0-37C0-8CD9-B9F314B47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14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1940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8A3FE-33BC-55CB-0DE6-6A8D5B8C5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BE72C3F-6971-1461-4204-00C38E543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871"/>
          </a:xfrm>
        </p:spPr>
        <p:txBody>
          <a:bodyPr>
            <a:normAutofit/>
          </a:bodyPr>
          <a:lstStyle/>
          <a:p>
            <a:r>
              <a:rPr lang="de-DE" sz="3600" b="1" dirty="0"/>
              <a:t>Phase 2: Verstehen und Analysieren</a:t>
            </a:r>
            <a:endParaRPr lang="en-DE" sz="36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6AC0BA-CA94-312B-32A1-6E94131FEA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5996"/>
            <a:ext cx="9977960" cy="5069392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de-DE" sz="7200" b="1" u="sng" dirty="0"/>
              <a:t>Arbeitshypothese formulieren - Beispiel für den Weg zu einer Arbeitshypothese:</a:t>
            </a:r>
          </a:p>
          <a:p>
            <a:pPr marL="0" indent="0">
              <a:buNone/>
            </a:pPr>
            <a:endParaRPr lang="de-DE" sz="7200" dirty="0"/>
          </a:p>
          <a:p>
            <a:r>
              <a:rPr lang="de-DE" sz="7200" b="1" dirty="0"/>
              <a:t>Vermutung </a:t>
            </a:r>
            <a:r>
              <a:rPr lang="de-DE" sz="7200" dirty="0"/>
              <a:t>formulieren:</a:t>
            </a:r>
            <a:r>
              <a:rPr lang="de-DE" sz="7200" b="1" dirty="0"/>
              <a:t> </a:t>
            </a:r>
            <a:r>
              <a:rPr lang="de-DE" sz="7200" dirty="0">
                <a:solidFill>
                  <a:srgbClr val="00B0F0"/>
                </a:solidFill>
              </a:rPr>
              <a:t>Ich vermute, Samira interpretiert das Verhalten der Mutter von Betül vorschnell, ohne mögliche Hintergründe und Informationen zu berücksichtigen. </a:t>
            </a:r>
          </a:p>
          <a:p>
            <a:pPr marL="0" indent="0">
              <a:buNone/>
            </a:pPr>
            <a:endParaRPr lang="de-DE" sz="7200" b="1" dirty="0"/>
          </a:p>
          <a:p>
            <a:r>
              <a:rPr lang="de-DE" sz="7200" b="1" dirty="0"/>
              <a:t>Auseinandersetzung</a:t>
            </a:r>
            <a:r>
              <a:rPr lang="de-DE" sz="7200" dirty="0"/>
              <a:t> mit </a:t>
            </a:r>
            <a:r>
              <a:rPr lang="de-DE" sz="7200" dirty="0">
                <a:solidFill>
                  <a:srgbClr val="00B0F0"/>
                </a:solidFill>
              </a:rPr>
              <a:t>theoretischen Grundlagen zum Thema der professionellen Haltung und der Perspektivübernahme im Rahmen der Erziehungspartnerschaft.</a:t>
            </a:r>
          </a:p>
          <a:p>
            <a:pPr marL="0" indent="0">
              <a:buNone/>
            </a:pPr>
            <a:endParaRPr lang="de-DE" sz="7200" dirty="0"/>
          </a:p>
          <a:p>
            <a:pPr lvl="0"/>
            <a:r>
              <a:rPr lang="de-DE" sz="7200" b="1" dirty="0"/>
              <a:t>Frage </a:t>
            </a:r>
            <a:r>
              <a:rPr lang="de-DE" sz="7200" dirty="0"/>
              <a:t>entwickeln </a:t>
            </a:r>
            <a:r>
              <a:rPr lang="de-DE" sz="4800" dirty="0"/>
              <a:t>(Schritt ist entbehrlich)</a:t>
            </a:r>
            <a:r>
              <a:rPr lang="de-DE" sz="7200" dirty="0"/>
              <a:t>: </a:t>
            </a:r>
            <a:r>
              <a:rPr lang="de-DE" sz="7200" dirty="0">
                <a:solidFill>
                  <a:srgbClr val="00B0F0"/>
                </a:solidFill>
              </a:rPr>
              <a:t>Kann eine professionelle, perspektivübernehmende und kultursensible Gesprächsführung dazu beitragen, Missverständnisse zwischen Samira und Betüls Mutter zu klären und eine vertrauensvolle Erziehungspartnerschaft aufzubauen?</a:t>
            </a:r>
          </a:p>
          <a:p>
            <a:pPr marL="0" lvl="0" indent="0">
              <a:buNone/>
            </a:pPr>
            <a:endParaRPr lang="de-DE" sz="7200" i="1" dirty="0">
              <a:solidFill>
                <a:srgbClr val="00B0F0"/>
              </a:solidFill>
            </a:endParaRPr>
          </a:p>
          <a:p>
            <a:r>
              <a:rPr lang="de-DE" sz="7200" b="1" dirty="0"/>
              <a:t>Arbeitshypothese bilden: </a:t>
            </a:r>
            <a:r>
              <a:rPr lang="de-DE" sz="7200" dirty="0">
                <a:solidFill>
                  <a:srgbClr val="00B050"/>
                </a:solidFill>
              </a:rPr>
              <a:t>Wenn Samira Elterngespräche systematisch vorbereitet, die Perspektive der Sorgeberechtigten berücksichtigt und im Gespräch kultursensibel handelt, dann können Missverständnisse geklärt und der Aufbau einer vertrauensvollen Erziehungspartnerschaft unterstützt werden.</a:t>
            </a:r>
            <a:endParaRPr lang="de-DE" sz="7200" b="1" i="1" dirty="0">
              <a:solidFill>
                <a:srgbClr val="00B050"/>
              </a:solidFill>
            </a:endParaRPr>
          </a:p>
          <a:p>
            <a:pPr lvl="0"/>
            <a:endParaRPr lang="de-DE" sz="7200" b="1" dirty="0"/>
          </a:p>
          <a:p>
            <a:pPr lvl="0"/>
            <a:r>
              <a:rPr lang="de-DE" sz="7200" b="1" dirty="0"/>
              <a:t>Arbeitshypothese überprüfen </a:t>
            </a:r>
            <a:r>
              <a:rPr lang="de-DE" sz="7200" dirty="0"/>
              <a:t>(Achtung: Nachprüfbarkeit sicherstellen) durch weitere Fachliteratur, Beobachtungen, pädagogisches Handeln (weiterer Verlauf im Handlungszyklus).</a:t>
            </a:r>
          </a:p>
          <a:p>
            <a:pPr marL="0" indent="0">
              <a:buNone/>
            </a:pPr>
            <a:endParaRPr lang="de-DE" sz="7200" b="1" dirty="0"/>
          </a:p>
          <a:p>
            <a:pPr marL="0" indent="0">
              <a:buNone/>
            </a:pPr>
            <a:r>
              <a:rPr lang="de-DE" b="1" dirty="0"/>
              <a:t>		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endParaRPr lang="de-DE" b="1" dirty="0"/>
          </a:p>
          <a:p>
            <a:pPr marL="0" indent="0" algn="ctr">
              <a:buNone/>
            </a:pPr>
            <a:endParaRPr lang="de-DE" b="1" dirty="0"/>
          </a:p>
          <a:p>
            <a:pPr marL="0" indent="0">
              <a:buNone/>
            </a:pPr>
            <a:endParaRPr lang="de-DE" b="1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24E8D26-E739-4F91-EF7E-5969A1FBF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6371" y="218638"/>
            <a:ext cx="1528938" cy="13543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EDAA92DE-E4C1-3EE6-0674-ED3729718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333AAE57-F56D-55D0-A21B-08E068D44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14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6717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917D0-C67E-BCAF-4940-3C9B388CB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83A70C-E41F-95B2-4141-87E3D64A9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871"/>
          </a:xfrm>
        </p:spPr>
        <p:txBody>
          <a:bodyPr>
            <a:normAutofit/>
          </a:bodyPr>
          <a:lstStyle/>
          <a:p>
            <a:r>
              <a:rPr lang="de-DE" sz="3600" b="1" dirty="0"/>
              <a:t>Phase 2: Verstehen und Analysieren</a:t>
            </a:r>
            <a:endParaRPr lang="en-DE" sz="36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AE9327-7240-C29E-2AFA-7C5CEF095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5996"/>
            <a:ext cx="9977960" cy="506939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„Stütze“ für die Arbeitshypothese:</a:t>
            </a:r>
          </a:p>
          <a:p>
            <a:endParaRPr lang="de-DE" dirty="0"/>
          </a:p>
          <a:p>
            <a:pPr fontAlgn="base"/>
            <a:r>
              <a:rPr lang="de-DE" dirty="0"/>
              <a:t>Wenn das Team / ich _______ [?] erreichen will,</a:t>
            </a:r>
          </a:p>
          <a:p>
            <a:pPr fontAlgn="base"/>
            <a:r>
              <a:rPr lang="de-DE" dirty="0"/>
              <a:t>dann muss es / ich _______ [was konkret tun?],</a:t>
            </a:r>
          </a:p>
          <a:p>
            <a:pPr fontAlgn="base"/>
            <a:r>
              <a:rPr lang="de-DE" dirty="0"/>
              <a:t>weil/ um_______ [warum ist das wichtig? Was sagt die Theorie?]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lang="de-DE" b="1" dirty="0"/>
              <a:t>		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endParaRPr lang="de-DE" b="1" dirty="0"/>
          </a:p>
          <a:p>
            <a:pPr marL="0" indent="0" algn="ctr">
              <a:buNone/>
            </a:pPr>
            <a:endParaRPr lang="de-DE" b="1" dirty="0"/>
          </a:p>
          <a:p>
            <a:pPr marL="0" indent="0">
              <a:buNone/>
            </a:pPr>
            <a:endParaRPr lang="de-DE" b="1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ACA5C3D-B4B0-4041-D052-903A94782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6371" y="218638"/>
            <a:ext cx="1528938" cy="13543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6E6262B1-167C-5127-FC33-96C313E1E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41D98052-0FB0-37C0-8CD9-B9F314B47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14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940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780A5-6C75-2C13-DC62-4C4555419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2D4C3C-5E24-0482-341A-6529CFB2B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871"/>
          </a:xfrm>
        </p:spPr>
        <p:txBody>
          <a:bodyPr>
            <a:normAutofit/>
          </a:bodyPr>
          <a:lstStyle/>
          <a:p>
            <a:r>
              <a:rPr lang="de-DE" sz="3600" b="1" dirty="0"/>
              <a:t>Phase 2: Verstehen und Analysieren</a:t>
            </a:r>
            <a:endParaRPr lang="en-DE" sz="36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2164C62-57D9-B847-BDC9-F5BC00B49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5996"/>
            <a:ext cx="9977960" cy="506939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b="1" dirty="0"/>
              <a:t>Arbeitshypothese formulieren:</a:t>
            </a:r>
          </a:p>
          <a:p>
            <a:endParaRPr lang="de-DE" dirty="0"/>
          </a:p>
          <a:p>
            <a:pPr fontAlgn="base"/>
            <a:r>
              <a:rPr lang="de-DE" dirty="0"/>
              <a:t>Stellt zunächst jeder für sich Vermutungen zur Ausgangssituation auf. </a:t>
            </a:r>
          </a:p>
          <a:p>
            <a:pPr fontAlgn="base"/>
            <a:r>
              <a:rPr lang="de-DE" dirty="0"/>
              <a:t>Stellt euch eure Vermutungen am Tisch gegenseitig vor, einigt euch auf 1-2, die ihr gemeinsam weiterverfolgen möchtet. </a:t>
            </a:r>
          </a:p>
          <a:p>
            <a:pPr fontAlgn="base"/>
            <a:r>
              <a:rPr lang="de-DE" dirty="0"/>
              <a:t>Verfasst dazu eine Arbeitshypothese. </a:t>
            </a:r>
            <a:r>
              <a:rPr lang="de-DE" sz="2200" dirty="0"/>
              <a:t>(Datei unter heutigem Datum in der Cloud hochladen)</a:t>
            </a:r>
          </a:p>
          <a:p>
            <a:pPr fontAlgn="base"/>
            <a:endParaRPr lang="de-DE" dirty="0"/>
          </a:p>
          <a:p>
            <a:pPr marL="0" indent="0" fontAlgn="base">
              <a:buNone/>
            </a:pPr>
            <a:r>
              <a:rPr lang="de-DE" sz="2200" dirty="0"/>
              <a:t>Ihr könnt dazu gerne noch weiter in Fachliteratur in der </a:t>
            </a:r>
            <a:r>
              <a:rPr lang="de-DE" sz="2200" dirty="0" err="1"/>
              <a:t>TaskCard</a:t>
            </a:r>
            <a:r>
              <a:rPr lang="de-DE" sz="2200" dirty="0"/>
              <a:t> „stöbern“. 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lang="de-DE" b="1" dirty="0"/>
              <a:t>		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endParaRPr lang="de-DE" b="1" dirty="0"/>
          </a:p>
          <a:p>
            <a:pPr marL="0" indent="0" algn="ctr">
              <a:buNone/>
            </a:pPr>
            <a:endParaRPr lang="de-DE" b="1" dirty="0"/>
          </a:p>
          <a:p>
            <a:pPr marL="0" indent="0">
              <a:buNone/>
            </a:pPr>
            <a:endParaRPr lang="de-DE" b="1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0A906FE-5858-BABA-6E77-D89617F49F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6371" y="218638"/>
            <a:ext cx="1528938" cy="135431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EAED6BB8-0250-3280-53F2-FE5F04DE7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C2CDA5FB-598B-A1D5-1076-4B1BCFB64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144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3968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8C8D3B-19ED-406F-A9CD-2446242D7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0275"/>
          </a:xfrm>
        </p:spPr>
        <p:txBody>
          <a:bodyPr/>
          <a:lstStyle/>
          <a:p>
            <a:r>
              <a:rPr lang="de-DE" dirty="0"/>
              <a:t>Gruppen</a:t>
            </a:r>
          </a:p>
        </p:txBody>
      </p:sp>
      <p:graphicFrame>
        <p:nvGraphicFramePr>
          <p:cNvPr id="4" name="Tabelle 4">
            <a:extLst>
              <a:ext uri="{FF2B5EF4-FFF2-40B4-BE49-F238E27FC236}">
                <a16:creationId xmlns:a16="http://schemas.microsoft.com/office/drawing/2014/main" id="{F73F0051-8F09-4FBC-B334-DCEEABDBFE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4304413"/>
              </p:ext>
            </p:extLst>
          </p:nvPr>
        </p:nvGraphicFramePr>
        <p:xfrm>
          <a:off x="752475" y="1143000"/>
          <a:ext cx="10515600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51754515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661719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2400" dirty="0"/>
                        <a:t>Themen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400" dirty="0"/>
                        <a:t>Gruppe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689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106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091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0601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988749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de-DE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168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0834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9BD199-2D2D-0CB7-B83C-133944D25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de-DE" dirty="0"/>
              <a:t>Phase 3: Entscheiden und Planen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E49029-7F98-F097-8419-F75FCF6BF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691" y="2198362"/>
            <a:ext cx="6004002" cy="3917773"/>
          </a:xfrm>
        </p:spPr>
        <p:txBody>
          <a:bodyPr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endParaRPr lang="de-DE" sz="2000" u="sng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de-DE" sz="2400" u="sng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Phasenziele:</a:t>
            </a:r>
            <a:endParaRPr lang="en-DE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DE" sz="20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B11408C-9758-269B-01F3-055DB493F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2204094"/>
            <a:ext cx="4788505" cy="371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4085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A1DA5-F4B1-2F5F-1ADA-C44101908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D14726-0193-CA06-9505-6B1389040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de-DE" dirty="0"/>
              <a:t>Phase 4: Umsetzen und interagieren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DA0736-4E1E-20AD-65BE-A134890FD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691" y="2198362"/>
            <a:ext cx="6004002" cy="3917773"/>
          </a:xfrm>
        </p:spPr>
        <p:txBody>
          <a:bodyPr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endParaRPr lang="de-DE" sz="2000" u="sng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de-DE" sz="2400" u="sng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Phasenziele:</a:t>
            </a:r>
            <a:endParaRPr lang="en-DE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DE" sz="20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30A37FE-AE89-E8D1-6620-AAF889C64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927" y="2195695"/>
            <a:ext cx="4561952" cy="36114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908182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E6A87-75C8-F145-798B-2D4E71E36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E3C561-62AC-AAC7-2778-1806732AA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de-DE" dirty="0"/>
              <a:t>Phase 5: Reflektieren und Evaluieren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BC6923-A94D-D8C8-F6AB-0B6A50264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691" y="2198362"/>
            <a:ext cx="6004002" cy="3917773"/>
          </a:xfrm>
        </p:spPr>
        <p:txBody>
          <a:bodyPr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endParaRPr lang="de-DE" sz="2000" u="sng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de-DE" sz="2400" u="sng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Phasenziele:</a:t>
            </a:r>
            <a:endParaRPr lang="en-DE" sz="2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de-DE" sz="2400" dirty="0"/>
              <a:t>Die </a:t>
            </a:r>
            <a:r>
              <a:rPr lang="de-DE" sz="2400" dirty="0" err="1"/>
              <a:t>Schüler:innen</a:t>
            </a:r>
            <a:r>
              <a:rPr lang="de-DE" sz="2400" dirty="0"/>
              <a:t> betrachten ihre Ergebnisse und den Prozess auf der Meta-Ebene und leiten pädagogische Konsequenzen ab.</a:t>
            </a:r>
          </a:p>
          <a:p>
            <a:endParaRPr lang="en-DE" sz="20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FAAB989-2B8E-0124-08A2-36FCB988A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328" y="1762523"/>
            <a:ext cx="4236106" cy="38244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26894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2D221-9273-B1DC-7410-2655E1263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0A7A59-E8E9-7E6A-D759-F82817A86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112" y="420625"/>
            <a:ext cx="9633343" cy="1519814"/>
          </a:xfrm>
        </p:spPr>
        <p:txBody>
          <a:bodyPr>
            <a:normAutofit/>
          </a:bodyPr>
          <a:lstStyle/>
          <a:p>
            <a:r>
              <a:rPr lang="de-DE" dirty="0"/>
              <a:t>Phase 5: Reflektieren und Evaluieren</a:t>
            </a:r>
            <a:endParaRPr lang="en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5D6F60-7326-6E2A-7D20-B7AE6AF27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691" y="2198362"/>
            <a:ext cx="6004002" cy="3917773"/>
          </a:xfrm>
        </p:spPr>
        <p:txBody>
          <a:bodyPr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endParaRPr lang="de-DE" sz="2000" u="sng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DE" sz="20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7181896C-062C-99B5-616F-D3EE6ECBF578}"/>
              </a:ext>
            </a:extLst>
          </p:cNvPr>
          <p:cNvSpPr txBox="1"/>
          <p:nvPr/>
        </p:nvSpPr>
        <p:spPr>
          <a:xfrm>
            <a:off x="1033087" y="1746504"/>
            <a:ext cx="10125825" cy="40831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buNone/>
            </a:pPr>
            <a:r>
              <a:rPr lang="de-DE" sz="2400" b="1" kern="10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Arbeitsauftrag:</a:t>
            </a:r>
          </a:p>
          <a:p>
            <a:r>
              <a:rPr lang="de-DE" sz="2400" dirty="0">
                <a:solidFill>
                  <a:srgbClr val="7030A0"/>
                </a:solidFill>
              </a:rPr>
              <a:t>Reflexion hinsichtlich des Arbeitsprozesses in der Lernsituation </a:t>
            </a:r>
          </a:p>
          <a:p>
            <a:endParaRPr lang="de-DE" sz="2400" dirty="0"/>
          </a:p>
          <a:p>
            <a:r>
              <a:rPr lang="de-DE" sz="2400" dirty="0"/>
              <a:t>Welche Schritte bewerte ich als fachlich positiv, zielführend, professionell gelungen? </a:t>
            </a:r>
          </a:p>
          <a:p>
            <a:pPr lvl="0"/>
            <a:r>
              <a:rPr lang="de-DE" sz="2400" dirty="0"/>
              <a:t>Welche Schritte bewerte ich als nicht gelungen?</a:t>
            </a:r>
          </a:p>
          <a:p>
            <a:pPr lvl="0"/>
            <a:r>
              <a:rPr lang="de-DE" sz="2400" dirty="0"/>
              <a:t>Welche Bedingungen waren für mich hilfreich?</a:t>
            </a:r>
          </a:p>
          <a:p>
            <a:pPr lvl="0"/>
            <a:r>
              <a:rPr lang="de-DE" sz="2400" dirty="0"/>
              <a:t>Welche Schwierigkeiten haben sich im Umsetzungsprozess für mich ergeben? Wie bin ich damit umgegangen?</a:t>
            </a:r>
          </a:p>
          <a:p>
            <a:pPr lvl="0"/>
            <a:r>
              <a:rPr lang="de-DE" sz="2400" dirty="0"/>
              <a:t>								10 Min. </a:t>
            </a:r>
          </a:p>
          <a:p>
            <a:pPr algn="just">
              <a:buNone/>
            </a:pPr>
            <a:endParaRPr lang="de-DE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7839F22-2D04-4512-14C9-DC0AFEDB7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8896" y="256031"/>
            <a:ext cx="1539489" cy="1389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Grafik 3" descr="Uhr zeichnung Bilder – Kostenloser Download auf Magnific ...">
            <a:extLst>
              <a:ext uri="{FF2B5EF4-FFF2-40B4-BE49-F238E27FC236}">
                <a16:creationId xmlns:a16="http://schemas.microsoft.com/office/drawing/2014/main" id="{6D51A5AC-BB9B-A15F-26F3-9D2DD1644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9980" y="4698816"/>
            <a:ext cx="1417319" cy="141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129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1113</Words>
  <Application>Microsoft Office PowerPoint</Application>
  <PresentationFormat>Breitbild</PresentationFormat>
  <Paragraphs>186</Paragraphs>
  <Slides>23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23</vt:i4>
      </vt:variant>
    </vt:vector>
  </HeadingPairs>
  <TitlesOfParts>
    <vt:vector size="30" baseType="lpstr">
      <vt:lpstr>-apple-system</vt:lpstr>
      <vt:lpstr>Aptos</vt:lpstr>
      <vt:lpstr>Aptos Display</vt:lpstr>
      <vt:lpstr>Arial</vt:lpstr>
      <vt:lpstr>Calibri</vt:lpstr>
      <vt:lpstr>Symbol</vt:lpstr>
      <vt:lpstr>Office</vt:lpstr>
      <vt:lpstr>LF 5 </vt:lpstr>
      <vt:lpstr>Stundenverlauf 25.08.26</vt:lpstr>
      <vt:lpstr>1. Wahrnehmen und Erleben</vt:lpstr>
      <vt:lpstr>Handlungssituation: „Samira und Jan“ </vt:lpstr>
      <vt:lpstr>Murmelrunde </vt:lpstr>
      <vt:lpstr>1. Wahrnehmen und Erleben</vt:lpstr>
      <vt:lpstr>Stundenverlauf 01.09.26</vt:lpstr>
      <vt:lpstr>1. Verstehen und Analysieren</vt:lpstr>
      <vt:lpstr>Phase 2: Verstehen und Analysieren</vt:lpstr>
      <vt:lpstr>Stundenverlauf 08.09.26</vt:lpstr>
      <vt:lpstr>Welche Fragen ergeben sich für dich aus der Handlungssituation?</vt:lpstr>
      <vt:lpstr>Von Elternarbeit zur Erziehungspartnerschaft </vt:lpstr>
      <vt:lpstr>Von Elternarbeit zur Erziehungspartnerschaft </vt:lpstr>
      <vt:lpstr>Phase 2: Verstehen und Analysieren</vt:lpstr>
      <vt:lpstr>Phase 2: Verstehen und Analysieren</vt:lpstr>
      <vt:lpstr>Phase 2: Verstehen und Analysieren</vt:lpstr>
      <vt:lpstr>Phase 2: Verstehen und Analysieren</vt:lpstr>
      <vt:lpstr>Phase 2: Verstehen und Analysieren</vt:lpstr>
      <vt:lpstr>Gruppen</vt:lpstr>
      <vt:lpstr>Phase 3: Entscheiden und Planen</vt:lpstr>
      <vt:lpstr>Phase 4: Umsetzen und interagieren</vt:lpstr>
      <vt:lpstr>Phase 5: Reflektieren und Evaluieren</vt:lpstr>
      <vt:lpstr>Phase 5: Reflektieren und Evaluieren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LF 2   LS: Unser Ausflug zum Spielplatz</dc:title>
  <dc:creator>Brigitte Weigt-Siegler</dc:creator>
  <cp:lastModifiedBy>Nicole von der Aa</cp:lastModifiedBy>
  <cp:revision>50</cp:revision>
  <dcterms:created xsi:type="dcterms:W3CDTF">2025-11-25T18:07:32Z</dcterms:created>
  <dcterms:modified xsi:type="dcterms:W3CDTF">2026-09-14T12:33:03Z</dcterms:modified>
</cp:coreProperties>
</file>