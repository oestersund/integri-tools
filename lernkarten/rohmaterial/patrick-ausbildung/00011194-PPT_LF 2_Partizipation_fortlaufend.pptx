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6" r:id="rId1"/>
  </p:sldMasterIdLst>
  <p:notesMasterIdLst>
    <p:notesMasterId r:id="rId41"/>
  </p:notesMasterIdLst>
  <p:sldIdLst>
    <p:sldId id="338" r:id="rId2"/>
    <p:sldId id="257" r:id="rId3"/>
    <p:sldId id="330" r:id="rId4"/>
    <p:sldId id="340" r:id="rId5"/>
    <p:sldId id="405" r:id="rId6"/>
    <p:sldId id="333" r:id="rId7"/>
    <p:sldId id="404" r:id="rId8"/>
    <p:sldId id="342" r:id="rId9"/>
    <p:sldId id="339" r:id="rId10"/>
    <p:sldId id="343" r:id="rId11"/>
    <p:sldId id="361" r:id="rId12"/>
    <p:sldId id="372" r:id="rId13"/>
    <p:sldId id="373" r:id="rId14"/>
    <p:sldId id="371" r:id="rId15"/>
    <p:sldId id="407" r:id="rId16"/>
    <p:sldId id="354" r:id="rId17"/>
    <p:sldId id="352" r:id="rId18"/>
    <p:sldId id="408" r:id="rId19"/>
    <p:sldId id="351" r:id="rId20"/>
    <p:sldId id="378" r:id="rId21"/>
    <p:sldId id="406" r:id="rId22"/>
    <p:sldId id="379" r:id="rId23"/>
    <p:sldId id="380" r:id="rId24"/>
    <p:sldId id="397" r:id="rId25"/>
    <p:sldId id="358" r:id="rId26"/>
    <p:sldId id="360" r:id="rId27"/>
    <p:sldId id="382" r:id="rId28"/>
    <p:sldId id="365" r:id="rId29"/>
    <p:sldId id="367" r:id="rId30"/>
    <p:sldId id="409" r:id="rId31"/>
    <p:sldId id="410" r:id="rId32"/>
    <p:sldId id="388" r:id="rId33"/>
    <p:sldId id="393" r:id="rId34"/>
    <p:sldId id="395" r:id="rId35"/>
    <p:sldId id="392" r:id="rId36"/>
    <p:sldId id="411" r:id="rId37"/>
    <p:sldId id="413" r:id="rId38"/>
    <p:sldId id="396" r:id="rId39"/>
    <p:sldId id="412" r:id="rId40"/>
  </p:sldIdLst>
  <p:sldSz cx="12192000" cy="6858000"/>
  <p:notesSz cx="6884988"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1DDD1E85-A5F7-434E-AAB5-84A80F25B419}">
          <p14:sldIdLst>
            <p14:sldId id="338"/>
            <p14:sldId id="257"/>
            <p14:sldId id="330"/>
            <p14:sldId id="340"/>
            <p14:sldId id="405"/>
            <p14:sldId id="333"/>
            <p14:sldId id="404"/>
            <p14:sldId id="342"/>
            <p14:sldId id="339"/>
            <p14:sldId id="343"/>
            <p14:sldId id="361"/>
            <p14:sldId id="372"/>
            <p14:sldId id="373"/>
            <p14:sldId id="371"/>
            <p14:sldId id="407"/>
            <p14:sldId id="354"/>
            <p14:sldId id="352"/>
            <p14:sldId id="408"/>
            <p14:sldId id="351"/>
            <p14:sldId id="378"/>
            <p14:sldId id="406"/>
            <p14:sldId id="379"/>
            <p14:sldId id="380"/>
            <p14:sldId id="397"/>
            <p14:sldId id="358"/>
            <p14:sldId id="360"/>
            <p14:sldId id="382"/>
            <p14:sldId id="365"/>
            <p14:sldId id="367"/>
            <p14:sldId id="409"/>
            <p14:sldId id="410"/>
            <p14:sldId id="388"/>
            <p14:sldId id="393"/>
            <p14:sldId id="395"/>
            <p14:sldId id="392"/>
            <p14:sldId id="411"/>
            <p14:sldId id="413"/>
            <p14:sldId id="396"/>
            <p14:sldId id="4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3935" autoAdjust="0"/>
  </p:normalViewPr>
  <p:slideViewPr>
    <p:cSldViewPr snapToGrid="0" snapToObjects="1">
      <p:cViewPr varScale="1">
        <p:scale>
          <a:sx n="104" d="100"/>
          <a:sy n="104" d="100"/>
        </p:scale>
        <p:origin x="858"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BFF490-5CAF-490D-9017-9C6055FC8D3C}" type="doc">
      <dgm:prSet loTypeId="urn:microsoft.com/office/officeart/2005/8/layout/arrow5" loCatId="relationship" qsTypeId="urn:microsoft.com/office/officeart/2005/8/quickstyle/3d5" qsCatId="3D" csTypeId="urn:microsoft.com/office/officeart/2005/8/colors/accent1_2" csCatId="accent1" phldr="1"/>
      <dgm:spPr/>
      <dgm:t>
        <a:bodyPr/>
        <a:lstStyle/>
        <a:p>
          <a:endParaRPr lang="de-DE"/>
        </a:p>
      </dgm:t>
    </dgm:pt>
    <dgm:pt modelId="{1981A087-3BD1-4F43-B3FB-1663E5D37251}">
      <dgm:prSet phldrT="[Text]"/>
      <dgm:spPr/>
      <dgm:t>
        <a:bodyPr/>
        <a:lstStyle/>
        <a:p>
          <a:r>
            <a:rPr lang="de-DE" dirty="0"/>
            <a:t>Selbstbestimmung/</a:t>
          </a:r>
        </a:p>
      </dgm:t>
    </dgm:pt>
    <dgm:pt modelId="{3DD24120-59FB-4087-BDA1-B5204A099108}" type="parTrans" cxnId="{2141BC2B-439A-4E60-862C-D6A5F959225B}">
      <dgm:prSet/>
      <dgm:spPr/>
      <dgm:t>
        <a:bodyPr/>
        <a:lstStyle/>
        <a:p>
          <a:endParaRPr lang="de-DE"/>
        </a:p>
      </dgm:t>
    </dgm:pt>
    <dgm:pt modelId="{9860FB24-E138-43B9-864E-90BD4249B767}" type="sibTrans" cxnId="{2141BC2B-439A-4E60-862C-D6A5F959225B}">
      <dgm:prSet/>
      <dgm:spPr/>
      <dgm:t>
        <a:bodyPr/>
        <a:lstStyle/>
        <a:p>
          <a:endParaRPr lang="de-DE"/>
        </a:p>
      </dgm:t>
    </dgm:pt>
    <dgm:pt modelId="{82D44141-2B9F-4EE3-9047-285B0839CE20}">
      <dgm:prSet phldrT="[Text]"/>
      <dgm:spPr/>
      <dgm:t>
        <a:bodyPr/>
        <a:lstStyle/>
        <a:p>
          <a:r>
            <a:rPr lang="de-DE" dirty="0"/>
            <a:t>Fremdbestimmung</a:t>
          </a:r>
        </a:p>
      </dgm:t>
    </dgm:pt>
    <dgm:pt modelId="{E8C88934-0995-460E-B877-A538C6EA1441}" type="parTrans" cxnId="{479A0EC7-B048-4340-8657-55D19E09FFEF}">
      <dgm:prSet/>
      <dgm:spPr/>
      <dgm:t>
        <a:bodyPr/>
        <a:lstStyle/>
        <a:p>
          <a:endParaRPr lang="de-DE"/>
        </a:p>
      </dgm:t>
    </dgm:pt>
    <dgm:pt modelId="{3DA6D202-0A2B-404F-B75F-DA561F453591}" type="sibTrans" cxnId="{479A0EC7-B048-4340-8657-55D19E09FFEF}">
      <dgm:prSet/>
      <dgm:spPr/>
      <dgm:t>
        <a:bodyPr/>
        <a:lstStyle/>
        <a:p>
          <a:endParaRPr lang="de-DE"/>
        </a:p>
      </dgm:t>
    </dgm:pt>
    <dgm:pt modelId="{868F7950-BC94-4687-BB42-4E1559EF9AE0}" type="pres">
      <dgm:prSet presAssocID="{CABFF490-5CAF-490D-9017-9C6055FC8D3C}" presName="diagram" presStyleCnt="0">
        <dgm:presLayoutVars>
          <dgm:dir/>
          <dgm:resizeHandles val="exact"/>
        </dgm:presLayoutVars>
      </dgm:prSet>
      <dgm:spPr/>
    </dgm:pt>
    <dgm:pt modelId="{F10ABC1E-393F-48F7-9993-D3DD53349052}" type="pres">
      <dgm:prSet presAssocID="{1981A087-3BD1-4F43-B3FB-1663E5D37251}" presName="arrow" presStyleLbl="node1" presStyleIdx="0" presStyleCnt="2" custRadScaleRad="76990" custRadScaleInc="15">
        <dgm:presLayoutVars>
          <dgm:bulletEnabled val="1"/>
        </dgm:presLayoutVars>
      </dgm:prSet>
      <dgm:spPr/>
    </dgm:pt>
    <dgm:pt modelId="{A7750D61-3AD8-4328-8549-CFFBF300A9D6}" type="pres">
      <dgm:prSet presAssocID="{82D44141-2B9F-4EE3-9047-285B0839CE20}" presName="arrow" presStyleLbl="node1" presStyleIdx="1" presStyleCnt="2" custRadScaleRad="85666" custRadScaleInc="-4444">
        <dgm:presLayoutVars>
          <dgm:bulletEnabled val="1"/>
        </dgm:presLayoutVars>
      </dgm:prSet>
      <dgm:spPr/>
    </dgm:pt>
  </dgm:ptLst>
  <dgm:cxnLst>
    <dgm:cxn modelId="{2141BC2B-439A-4E60-862C-D6A5F959225B}" srcId="{CABFF490-5CAF-490D-9017-9C6055FC8D3C}" destId="{1981A087-3BD1-4F43-B3FB-1663E5D37251}" srcOrd="0" destOrd="0" parTransId="{3DD24120-59FB-4087-BDA1-B5204A099108}" sibTransId="{9860FB24-E138-43B9-864E-90BD4249B767}"/>
    <dgm:cxn modelId="{C6337F3F-9B11-4EE6-8D8F-E0C41F4DA583}" type="presOf" srcId="{1981A087-3BD1-4F43-B3FB-1663E5D37251}" destId="{F10ABC1E-393F-48F7-9993-D3DD53349052}" srcOrd="0" destOrd="0" presId="urn:microsoft.com/office/officeart/2005/8/layout/arrow5"/>
    <dgm:cxn modelId="{0D1717A3-900D-477B-9E84-B05BD9DAC044}" type="presOf" srcId="{82D44141-2B9F-4EE3-9047-285B0839CE20}" destId="{A7750D61-3AD8-4328-8549-CFFBF300A9D6}" srcOrd="0" destOrd="0" presId="urn:microsoft.com/office/officeart/2005/8/layout/arrow5"/>
    <dgm:cxn modelId="{479A0EC7-B048-4340-8657-55D19E09FFEF}" srcId="{CABFF490-5CAF-490D-9017-9C6055FC8D3C}" destId="{82D44141-2B9F-4EE3-9047-285B0839CE20}" srcOrd="1" destOrd="0" parTransId="{E8C88934-0995-460E-B877-A538C6EA1441}" sibTransId="{3DA6D202-0A2B-404F-B75F-DA561F453591}"/>
    <dgm:cxn modelId="{E5C50DE0-A0E8-4DD8-A695-C0E8A4FCC2FA}" type="presOf" srcId="{CABFF490-5CAF-490D-9017-9C6055FC8D3C}" destId="{868F7950-BC94-4687-BB42-4E1559EF9AE0}" srcOrd="0" destOrd="0" presId="urn:microsoft.com/office/officeart/2005/8/layout/arrow5"/>
    <dgm:cxn modelId="{DF53EBF2-01C7-4D71-A6E8-321DAF7A964D}" type="presParOf" srcId="{868F7950-BC94-4687-BB42-4E1559EF9AE0}" destId="{F10ABC1E-393F-48F7-9993-D3DD53349052}" srcOrd="0" destOrd="0" presId="urn:microsoft.com/office/officeart/2005/8/layout/arrow5"/>
    <dgm:cxn modelId="{4E89567C-0BDB-4DCC-AA5D-AB3B82FBCAB2}" type="presParOf" srcId="{868F7950-BC94-4687-BB42-4E1559EF9AE0}" destId="{A7750D61-3AD8-4328-8549-CFFBF300A9D6}"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BFF490-5CAF-490D-9017-9C6055FC8D3C}" type="doc">
      <dgm:prSet loTypeId="urn:microsoft.com/office/officeart/2005/8/layout/arrow5" loCatId="relationship" qsTypeId="urn:microsoft.com/office/officeart/2005/8/quickstyle/3d5" qsCatId="3D" csTypeId="urn:microsoft.com/office/officeart/2005/8/colors/accent1_2" csCatId="accent1" phldr="1"/>
      <dgm:spPr/>
      <dgm:t>
        <a:bodyPr/>
        <a:lstStyle/>
        <a:p>
          <a:endParaRPr lang="de-DE"/>
        </a:p>
      </dgm:t>
    </dgm:pt>
    <dgm:pt modelId="{1981A087-3BD1-4F43-B3FB-1663E5D37251}">
      <dgm:prSet phldrT="[Text]"/>
      <dgm:spPr/>
      <dgm:t>
        <a:bodyPr/>
        <a:lstStyle/>
        <a:p>
          <a:r>
            <a:rPr lang="de-DE" dirty="0"/>
            <a:t>Selbstbestimmung/</a:t>
          </a:r>
        </a:p>
      </dgm:t>
    </dgm:pt>
    <dgm:pt modelId="{3DD24120-59FB-4087-BDA1-B5204A099108}" type="parTrans" cxnId="{2141BC2B-439A-4E60-862C-D6A5F959225B}">
      <dgm:prSet/>
      <dgm:spPr/>
      <dgm:t>
        <a:bodyPr/>
        <a:lstStyle/>
        <a:p>
          <a:endParaRPr lang="de-DE"/>
        </a:p>
      </dgm:t>
    </dgm:pt>
    <dgm:pt modelId="{9860FB24-E138-43B9-864E-90BD4249B767}" type="sibTrans" cxnId="{2141BC2B-439A-4E60-862C-D6A5F959225B}">
      <dgm:prSet/>
      <dgm:spPr/>
      <dgm:t>
        <a:bodyPr/>
        <a:lstStyle/>
        <a:p>
          <a:endParaRPr lang="de-DE"/>
        </a:p>
      </dgm:t>
    </dgm:pt>
    <dgm:pt modelId="{82D44141-2B9F-4EE3-9047-285B0839CE20}">
      <dgm:prSet phldrT="[Text]"/>
      <dgm:spPr/>
      <dgm:t>
        <a:bodyPr/>
        <a:lstStyle/>
        <a:p>
          <a:r>
            <a:rPr lang="de-DE" dirty="0"/>
            <a:t>Fremdbestimmung</a:t>
          </a:r>
        </a:p>
      </dgm:t>
    </dgm:pt>
    <dgm:pt modelId="{E8C88934-0995-460E-B877-A538C6EA1441}" type="parTrans" cxnId="{479A0EC7-B048-4340-8657-55D19E09FFEF}">
      <dgm:prSet/>
      <dgm:spPr/>
      <dgm:t>
        <a:bodyPr/>
        <a:lstStyle/>
        <a:p>
          <a:endParaRPr lang="de-DE"/>
        </a:p>
      </dgm:t>
    </dgm:pt>
    <dgm:pt modelId="{3DA6D202-0A2B-404F-B75F-DA561F453591}" type="sibTrans" cxnId="{479A0EC7-B048-4340-8657-55D19E09FFEF}">
      <dgm:prSet/>
      <dgm:spPr/>
      <dgm:t>
        <a:bodyPr/>
        <a:lstStyle/>
        <a:p>
          <a:endParaRPr lang="de-DE"/>
        </a:p>
      </dgm:t>
    </dgm:pt>
    <dgm:pt modelId="{868F7950-BC94-4687-BB42-4E1559EF9AE0}" type="pres">
      <dgm:prSet presAssocID="{CABFF490-5CAF-490D-9017-9C6055FC8D3C}" presName="diagram" presStyleCnt="0">
        <dgm:presLayoutVars>
          <dgm:dir/>
          <dgm:resizeHandles val="exact"/>
        </dgm:presLayoutVars>
      </dgm:prSet>
      <dgm:spPr/>
    </dgm:pt>
    <dgm:pt modelId="{F10ABC1E-393F-48F7-9993-D3DD53349052}" type="pres">
      <dgm:prSet presAssocID="{1981A087-3BD1-4F43-B3FB-1663E5D37251}" presName="arrow" presStyleLbl="node1" presStyleIdx="0" presStyleCnt="2" custRadScaleRad="120259" custRadScaleInc="1529">
        <dgm:presLayoutVars>
          <dgm:bulletEnabled val="1"/>
        </dgm:presLayoutVars>
      </dgm:prSet>
      <dgm:spPr/>
    </dgm:pt>
    <dgm:pt modelId="{A7750D61-3AD8-4328-8549-CFFBF300A9D6}" type="pres">
      <dgm:prSet presAssocID="{82D44141-2B9F-4EE3-9047-285B0839CE20}" presName="arrow" presStyleLbl="node1" presStyleIdx="1" presStyleCnt="2" custRadScaleRad="120731" custRadScaleInc="-9">
        <dgm:presLayoutVars>
          <dgm:bulletEnabled val="1"/>
        </dgm:presLayoutVars>
      </dgm:prSet>
      <dgm:spPr/>
    </dgm:pt>
  </dgm:ptLst>
  <dgm:cxnLst>
    <dgm:cxn modelId="{2141BC2B-439A-4E60-862C-D6A5F959225B}" srcId="{CABFF490-5CAF-490D-9017-9C6055FC8D3C}" destId="{1981A087-3BD1-4F43-B3FB-1663E5D37251}" srcOrd="0" destOrd="0" parTransId="{3DD24120-59FB-4087-BDA1-B5204A099108}" sibTransId="{9860FB24-E138-43B9-864E-90BD4249B767}"/>
    <dgm:cxn modelId="{C6337F3F-9B11-4EE6-8D8F-E0C41F4DA583}" type="presOf" srcId="{1981A087-3BD1-4F43-B3FB-1663E5D37251}" destId="{F10ABC1E-393F-48F7-9993-D3DD53349052}" srcOrd="0" destOrd="0" presId="urn:microsoft.com/office/officeart/2005/8/layout/arrow5"/>
    <dgm:cxn modelId="{0D1717A3-900D-477B-9E84-B05BD9DAC044}" type="presOf" srcId="{82D44141-2B9F-4EE3-9047-285B0839CE20}" destId="{A7750D61-3AD8-4328-8549-CFFBF300A9D6}" srcOrd="0" destOrd="0" presId="urn:microsoft.com/office/officeart/2005/8/layout/arrow5"/>
    <dgm:cxn modelId="{479A0EC7-B048-4340-8657-55D19E09FFEF}" srcId="{CABFF490-5CAF-490D-9017-9C6055FC8D3C}" destId="{82D44141-2B9F-4EE3-9047-285B0839CE20}" srcOrd="1" destOrd="0" parTransId="{E8C88934-0995-460E-B877-A538C6EA1441}" sibTransId="{3DA6D202-0A2B-404F-B75F-DA561F453591}"/>
    <dgm:cxn modelId="{E5C50DE0-A0E8-4DD8-A695-C0E8A4FCC2FA}" type="presOf" srcId="{CABFF490-5CAF-490D-9017-9C6055FC8D3C}" destId="{868F7950-BC94-4687-BB42-4E1559EF9AE0}" srcOrd="0" destOrd="0" presId="urn:microsoft.com/office/officeart/2005/8/layout/arrow5"/>
    <dgm:cxn modelId="{DF53EBF2-01C7-4D71-A6E8-321DAF7A964D}" type="presParOf" srcId="{868F7950-BC94-4687-BB42-4E1559EF9AE0}" destId="{F10ABC1E-393F-48F7-9993-D3DD53349052}" srcOrd="0" destOrd="0" presId="urn:microsoft.com/office/officeart/2005/8/layout/arrow5"/>
    <dgm:cxn modelId="{4E89567C-0BDB-4DCC-AA5D-AB3B82FBCAB2}" type="presParOf" srcId="{868F7950-BC94-4687-BB42-4E1559EF9AE0}" destId="{A7750D61-3AD8-4328-8549-CFFBF300A9D6}"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4D2584-623D-4EA5-A1B9-0DAD8B735643}"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04C92EB0-5CD2-427D-94B6-00BDFAF153D7}">
      <dgm:prSet/>
      <dgm:spPr/>
      <dgm:t>
        <a:bodyPr/>
        <a:lstStyle/>
        <a:p>
          <a:r>
            <a:rPr lang="de-DE" b="1"/>
            <a:t>Das Kind wahrnehmen, nicht die Kategorie. Verständigung suchen, egal wie. Verständnis suchen, egal wofür.</a:t>
          </a:r>
          <a:endParaRPr lang="en-US"/>
        </a:p>
      </dgm:t>
    </dgm:pt>
    <dgm:pt modelId="{2C0C7DA4-DD70-483A-9445-C51DD3BF74DC}" type="parTrans" cxnId="{FAC8D50B-4539-4C80-A442-486CDBDB184C}">
      <dgm:prSet/>
      <dgm:spPr/>
      <dgm:t>
        <a:bodyPr/>
        <a:lstStyle/>
        <a:p>
          <a:endParaRPr lang="en-US"/>
        </a:p>
      </dgm:t>
    </dgm:pt>
    <dgm:pt modelId="{330D73E5-16F9-47ED-976C-B0B3546BC8ED}" type="sibTrans" cxnId="{FAC8D50B-4539-4C80-A442-486CDBDB184C}">
      <dgm:prSet/>
      <dgm:spPr/>
      <dgm:t>
        <a:bodyPr/>
        <a:lstStyle/>
        <a:p>
          <a:endParaRPr lang="en-US"/>
        </a:p>
      </dgm:t>
    </dgm:pt>
    <dgm:pt modelId="{20C6C18C-30D9-4B51-9B40-A0AE2BB535C0}">
      <dgm:prSet/>
      <dgm:spPr/>
      <dgm:t>
        <a:bodyPr/>
        <a:lstStyle/>
        <a:p>
          <a:r>
            <a:rPr lang="de-DE" b="1"/>
            <a:t>Emanzipation als Ziel bedarf emanzipativer Kommunikation als Prozess.</a:t>
          </a:r>
          <a:endParaRPr lang="en-US"/>
        </a:p>
      </dgm:t>
    </dgm:pt>
    <dgm:pt modelId="{10E15687-7F7A-4214-8439-F7BDD8942813}" type="parTrans" cxnId="{761A2D95-01AF-497D-8743-3418CBF38CC2}">
      <dgm:prSet/>
      <dgm:spPr/>
      <dgm:t>
        <a:bodyPr/>
        <a:lstStyle/>
        <a:p>
          <a:endParaRPr lang="en-US"/>
        </a:p>
      </dgm:t>
    </dgm:pt>
    <dgm:pt modelId="{64E5A678-924D-44BC-94BB-C9A39CD3A3C9}" type="sibTrans" cxnId="{761A2D95-01AF-497D-8743-3418CBF38CC2}">
      <dgm:prSet/>
      <dgm:spPr/>
      <dgm:t>
        <a:bodyPr/>
        <a:lstStyle/>
        <a:p>
          <a:endParaRPr lang="en-US"/>
        </a:p>
      </dgm:t>
    </dgm:pt>
    <dgm:pt modelId="{15DD5FFC-EF18-4FF6-9250-50CF1CEF1910}">
      <dgm:prSet/>
      <dgm:spPr/>
      <dgm:t>
        <a:bodyPr/>
        <a:lstStyle/>
        <a:p>
          <a:r>
            <a:rPr lang="de-DE" b="1"/>
            <a:t>Partizipation ist nur in symmetrischen und selbstbestimmten Beziehungen möglich und sichert diese.</a:t>
          </a:r>
          <a:endParaRPr lang="en-US"/>
        </a:p>
      </dgm:t>
    </dgm:pt>
    <dgm:pt modelId="{8EE3E8B6-BF57-422F-A574-74A40921EC2B}" type="parTrans" cxnId="{7BDC45A3-6299-4B64-B880-8C95F7139D76}">
      <dgm:prSet/>
      <dgm:spPr/>
      <dgm:t>
        <a:bodyPr/>
        <a:lstStyle/>
        <a:p>
          <a:endParaRPr lang="en-US"/>
        </a:p>
      </dgm:t>
    </dgm:pt>
    <dgm:pt modelId="{5EF810E6-0617-439C-9167-3826DDDA6C07}" type="sibTrans" cxnId="{7BDC45A3-6299-4B64-B880-8C95F7139D76}">
      <dgm:prSet/>
      <dgm:spPr/>
      <dgm:t>
        <a:bodyPr/>
        <a:lstStyle/>
        <a:p>
          <a:endParaRPr lang="en-US"/>
        </a:p>
      </dgm:t>
    </dgm:pt>
    <dgm:pt modelId="{62C2E46E-62DB-459B-BAFF-4252D41FC5D2}">
      <dgm:prSet/>
      <dgm:spPr/>
      <dgm:t>
        <a:bodyPr/>
        <a:lstStyle/>
        <a:p>
          <a:r>
            <a:rPr lang="de-DE" b="1"/>
            <a:t>Dirigistische Kommunikation begrenzt die kindliche Autonomie, Selbstbestimmung, Freiheit und Individualität</a:t>
          </a:r>
          <a:endParaRPr lang="en-US"/>
        </a:p>
      </dgm:t>
    </dgm:pt>
    <dgm:pt modelId="{6E4886F9-0D68-46A6-9E7E-F1ADF32A0C9C}" type="parTrans" cxnId="{161E6E6F-6FE4-4CF0-BA32-06C4D4286F9C}">
      <dgm:prSet/>
      <dgm:spPr/>
      <dgm:t>
        <a:bodyPr/>
        <a:lstStyle/>
        <a:p>
          <a:endParaRPr lang="en-US"/>
        </a:p>
      </dgm:t>
    </dgm:pt>
    <dgm:pt modelId="{E95C4DAC-96B3-4D2D-B4DE-7A477A4A2980}" type="sibTrans" cxnId="{161E6E6F-6FE4-4CF0-BA32-06C4D4286F9C}">
      <dgm:prSet/>
      <dgm:spPr/>
      <dgm:t>
        <a:bodyPr/>
        <a:lstStyle/>
        <a:p>
          <a:endParaRPr lang="en-US"/>
        </a:p>
      </dgm:t>
    </dgm:pt>
    <dgm:pt modelId="{97268600-D598-40C9-9389-E2D5EE95B609}">
      <dgm:prSet/>
      <dgm:spPr/>
      <dgm:t>
        <a:bodyPr/>
        <a:lstStyle/>
        <a:p>
          <a:r>
            <a:rPr lang="de-DE" b="1" dirty="0"/>
            <a:t>Partizipation beinhaltet über das Recht der Mitbestimmung hinaus auch die tatsächliche Chance gesellschaftlicher Teilhabe.</a:t>
          </a:r>
          <a:endParaRPr lang="en-US" dirty="0"/>
        </a:p>
      </dgm:t>
    </dgm:pt>
    <dgm:pt modelId="{8C8CA9BB-A4E5-4301-831D-990845FB50E3}" type="parTrans" cxnId="{49F8DC5D-935C-4E04-8856-D43B15FE5E6E}">
      <dgm:prSet/>
      <dgm:spPr/>
      <dgm:t>
        <a:bodyPr/>
        <a:lstStyle/>
        <a:p>
          <a:endParaRPr lang="en-US"/>
        </a:p>
      </dgm:t>
    </dgm:pt>
    <dgm:pt modelId="{DC2ED79D-3633-41C7-A617-27CAFE39FAAA}" type="sibTrans" cxnId="{49F8DC5D-935C-4E04-8856-D43B15FE5E6E}">
      <dgm:prSet/>
      <dgm:spPr/>
      <dgm:t>
        <a:bodyPr/>
        <a:lstStyle/>
        <a:p>
          <a:endParaRPr lang="en-US"/>
        </a:p>
      </dgm:t>
    </dgm:pt>
    <dgm:pt modelId="{839C5812-6664-49DD-A57F-E4F9F8F2C230}" type="pres">
      <dgm:prSet presAssocID="{AE4D2584-623D-4EA5-A1B9-0DAD8B735643}" presName="diagram" presStyleCnt="0">
        <dgm:presLayoutVars>
          <dgm:dir/>
          <dgm:resizeHandles val="exact"/>
        </dgm:presLayoutVars>
      </dgm:prSet>
      <dgm:spPr/>
    </dgm:pt>
    <dgm:pt modelId="{CC13C060-6906-4BEC-B9E9-4BC7D0742E02}" type="pres">
      <dgm:prSet presAssocID="{04C92EB0-5CD2-427D-94B6-00BDFAF153D7}" presName="node" presStyleLbl="node1" presStyleIdx="0" presStyleCnt="5">
        <dgm:presLayoutVars>
          <dgm:bulletEnabled val="1"/>
        </dgm:presLayoutVars>
      </dgm:prSet>
      <dgm:spPr/>
    </dgm:pt>
    <dgm:pt modelId="{7E53BF56-C959-4961-ACEB-41A5B19F7CA1}" type="pres">
      <dgm:prSet presAssocID="{330D73E5-16F9-47ED-976C-B0B3546BC8ED}" presName="sibTrans" presStyleCnt="0"/>
      <dgm:spPr/>
    </dgm:pt>
    <dgm:pt modelId="{9BFC5711-6F77-4E3B-A267-A5C6B07868F4}" type="pres">
      <dgm:prSet presAssocID="{20C6C18C-30D9-4B51-9B40-A0AE2BB535C0}" presName="node" presStyleLbl="node1" presStyleIdx="1" presStyleCnt="5">
        <dgm:presLayoutVars>
          <dgm:bulletEnabled val="1"/>
        </dgm:presLayoutVars>
      </dgm:prSet>
      <dgm:spPr/>
    </dgm:pt>
    <dgm:pt modelId="{4713973F-5DF2-4847-8BA8-F17106261CBE}" type="pres">
      <dgm:prSet presAssocID="{64E5A678-924D-44BC-94BB-C9A39CD3A3C9}" presName="sibTrans" presStyleCnt="0"/>
      <dgm:spPr/>
    </dgm:pt>
    <dgm:pt modelId="{71E1AE11-C362-4E3C-B5E8-8D8E98B46A2A}" type="pres">
      <dgm:prSet presAssocID="{15DD5FFC-EF18-4FF6-9250-50CF1CEF1910}" presName="node" presStyleLbl="node1" presStyleIdx="2" presStyleCnt="5">
        <dgm:presLayoutVars>
          <dgm:bulletEnabled val="1"/>
        </dgm:presLayoutVars>
      </dgm:prSet>
      <dgm:spPr/>
    </dgm:pt>
    <dgm:pt modelId="{0401B8FB-E399-48EB-AC91-FD0BA8D496CD}" type="pres">
      <dgm:prSet presAssocID="{5EF810E6-0617-439C-9167-3826DDDA6C07}" presName="sibTrans" presStyleCnt="0"/>
      <dgm:spPr/>
    </dgm:pt>
    <dgm:pt modelId="{33E22B3F-F2FF-47C5-8C78-707650FA5E1A}" type="pres">
      <dgm:prSet presAssocID="{62C2E46E-62DB-459B-BAFF-4252D41FC5D2}" presName="node" presStyleLbl="node1" presStyleIdx="3" presStyleCnt="5">
        <dgm:presLayoutVars>
          <dgm:bulletEnabled val="1"/>
        </dgm:presLayoutVars>
      </dgm:prSet>
      <dgm:spPr/>
    </dgm:pt>
    <dgm:pt modelId="{A10631BF-F2BD-4320-99F0-D63EED3BEA97}" type="pres">
      <dgm:prSet presAssocID="{E95C4DAC-96B3-4D2D-B4DE-7A477A4A2980}" presName="sibTrans" presStyleCnt="0"/>
      <dgm:spPr/>
    </dgm:pt>
    <dgm:pt modelId="{7C749C6A-24A2-42EE-A9FF-96E1AA986869}" type="pres">
      <dgm:prSet presAssocID="{97268600-D598-40C9-9389-E2D5EE95B609}" presName="node" presStyleLbl="node1" presStyleIdx="4" presStyleCnt="5">
        <dgm:presLayoutVars>
          <dgm:bulletEnabled val="1"/>
        </dgm:presLayoutVars>
      </dgm:prSet>
      <dgm:spPr/>
    </dgm:pt>
  </dgm:ptLst>
  <dgm:cxnLst>
    <dgm:cxn modelId="{FAC8D50B-4539-4C80-A442-486CDBDB184C}" srcId="{AE4D2584-623D-4EA5-A1B9-0DAD8B735643}" destId="{04C92EB0-5CD2-427D-94B6-00BDFAF153D7}" srcOrd="0" destOrd="0" parTransId="{2C0C7DA4-DD70-483A-9445-C51DD3BF74DC}" sibTransId="{330D73E5-16F9-47ED-976C-B0B3546BC8ED}"/>
    <dgm:cxn modelId="{5C2A1A0E-9BB9-4703-8C75-7EDA69425997}" type="presOf" srcId="{15DD5FFC-EF18-4FF6-9250-50CF1CEF1910}" destId="{71E1AE11-C362-4E3C-B5E8-8D8E98B46A2A}" srcOrd="0" destOrd="0" presId="urn:microsoft.com/office/officeart/2005/8/layout/default"/>
    <dgm:cxn modelId="{997D491B-B119-4B6A-8711-79660A1BC5CD}" type="presOf" srcId="{AE4D2584-623D-4EA5-A1B9-0DAD8B735643}" destId="{839C5812-6664-49DD-A57F-E4F9F8F2C230}" srcOrd="0" destOrd="0" presId="urn:microsoft.com/office/officeart/2005/8/layout/default"/>
    <dgm:cxn modelId="{0DA5F428-51F3-433E-8960-745EC806CA17}" type="presOf" srcId="{20C6C18C-30D9-4B51-9B40-A0AE2BB535C0}" destId="{9BFC5711-6F77-4E3B-A267-A5C6B07868F4}" srcOrd="0" destOrd="0" presId="urn:microsoft.com/office/officeart/2005/8/layout/default"/>
    <dgm:cxn modelId="{49F8DC5D-935C-4E04-8856-D43B15FE5E6E}" srcId="{AE4D2584-623D-4EA5-A1B9-0DAD8B735643}" destId="{97268600-D598-40C9-9389-E2D5EE95B609}" srcOrd="4" destOrd="0" parTransId="{8C8CA9BB-A4E5-4301-831D-990845FB50E3}" sibTransId="{DC2ED79D-3633-41C7-A617-27CAFE39FAAA}"/>
    <dgm:cxn modelId="{161E6E6F-6FE4-4CF0-BA32-06C4D4286F9C}" srcId="{AE4D2584-623D-4EA5-A1B9-0DAD8B735643}" destId="{62C2E46E-62DB-459B-BAFF-4252D41FC5D2}" srcOrd="3" destOrd="0" parTransId="{6E4886F9-0D68-46A6-9E7E-F1ADF32A0C9C}" sibTransId="{E95C4DAC-96B3-4D2D-B4DE-7A477A4A2980}"/>
    <dgm:cxn modelId="{8E7CF97D-3909-4EFA-ACE9-C4687E15DD74}" type="presOf" srcId="{04C92EB0-5CD2-427D-94B6-00BDFAF153D7}" destId="{CC13C060-6906-4BEC-B9E9-4BC7D0742E02}" srcOrd="0" destOrd="0" presId="urn:microsoft.com/office/officeart/2005/8/layout/default"/>
    <dgm:cxn modelId="{761A2D95-01AF-497D-8743-3418CBF38CC2}" srcId="{AE4D2584-623D-4EA5-A1B9-0DAD8B735643}" destId="{20C6C18C-30D9-4B51-9B40-A0AE2BB535C0}" srcOrd="1" destOrd="0" parTransId="{10E15687-7F7A-4214-8439-F7BDD8942813}" sibTransId="{64E5A678-924D-44BC-94BB-C9A39CD3A3C9}"/>
    <dgm:cxn modelId="{7BDC45A3-6299-4B64-B880-8C95F7139D76}" srcId="{AE4D2584-623D-4EA5-A1B9-0DAD8B735643}" destId="{15DD5FFC-EF18-4FF6-9250-50CF1CEF1910}" srcOrd="2" destOrd="0" parTransId="{8EE3E8B6-BF57-422F-A574-74A40921EC2B}" sibTransId="{5EF810E6-0617-439C-9167-3826DDDA6C07}"/>
    <dgm:cxn modelId="{E76FE4F1-CC0D-4564-805B-ABEE5D3534DD}" type="presOf" srcId="{62C2E46E-62DB-459B-BAFF-4252D41FC5D2}" destId="{33E22B3F-F2FF-47C5-8C78-707650FA5E1A}" srcOrd="0" destOrd="0" presId="urn:microsoft.com/office/officeart/2005/8/layout/default"/>
    <dgm:cxn modelId="{A894F2F1-8F55-4766-B19A-E33BF78AF2D3}" type="presOf" srcId="{97268600-D598-40C9-9389-E2D5EE95B609}" destId="{7C749C6A-24A2-42EE-A9FF-96E1AA986869}" srcOrd="0" destOrd="0" presId="urn:microsoft.com/office/officeart/2005/8/layout/default"/>
    <dgm:cxn modelId="{6FF7D83B-AD23-429E-BE99-A4AA1B459260}" type="presParOf" srcId="{839C5812-6664-49DD-A57F-E4F9F8F2C230}" destId="{CC13C060-6906-4BEC-B9E9-4BC7D0742E02}" srcOrd="0" destOrd="0" presId="urn:microsoft.com/office/officeart/2005/8/layout/default"/>
    <dgm:cxn modelId="{F6A2BE96-BBF4-42F9-A4AA-50DA45ED5096}" type="presParOf" srcId="{839C5812-6664-49DD-A57F-E4F9F8F2C230}" destId="{7E53BF56-C959-4961-ACEB-41A5B19F7CA1}" srcOrd="1" destOrd="0" presId="urn:microsoft.com/office/officeart/2005/8/layout/default"/>
    <dgm:cxn modelId="{0074C0A1-55A1-49C9-B8BE-C539C2522E89}" type="presParOf" srcId="{839C5812-6664-49DD-A57F-E4F9F8F2C230}" destId="{9BFC5711-6F77-4E3B-A267-A5C6B07868F4}" srcOrd="2" destOrd="0" presId="urn:microsoft.com/office/officeart/2005/8/layout/default"/>
    <dgm:cxn modelId="{C091026A-2C3A-475A-B7D2-89EFBB429990}" type="presParOf" srcId="{839C5812-6664-49DD-A57F-E4F9F8F2C230}" destId="{4713973F-5DF2-4847-8BA8-F17106261CBE}" srcOrd="3" destOrd="0" presId="urn:microsoft.com/office/officeart/2005/8/layout/default"/>
    <dgm:cxn modelId="{032373DC-8F9F-46C6-A70E-A414C430454A}" type="presParOf" srcId="{839C5812-6664-49DD-A57F-E4F9F8F2C230}" destId="{71E1AE11-C362-4E3C-B5E8-8D8E98B46A2A}" srcOrd="4" destOrd="0" presId="urn:microsoft.com/office/officeart/2005/8/layout/default"/>
    <dgm:cxn modelId="{9B1E8C71-4E55-48A8-ABB3-9271BB7B16E0}" type="presParOf" srcId="{839C5812-6664-49DD-A57F-E4F9F8F2C230}" destId="{0401B8FB-E399-48EB-AC91-FD0BA8D496CD}" srcOrd="5" destOrd="0" presId="urn:microsoft.com/office/officeart/2005/8/layout/default"/>
    <dgm:cxn modelId="{903385E5-2845-4176-B337-B4E2AC465D28}" type="presParOf" srcId="{839C5812-6664-49DD-A57F-E4F9F8F2C230}" destId="{33E22B3F-F2FF-47C5-8C78-707650FA5E1A}" srcOrd="6" destOrd="0" presId="urn:microsoft.com/office/officeart/2005/8/layout/default"/>
    <dgm:cxn modelId="{000AE750-1FBD-450A-8A1E-150CD0817CC6}" type="presParOf" srcId="{839C5812-6664-49DD-A57F-E4F9F8F2C230}" destId="{A10631BF-F2BD-4320-99F0-D63EED3BEA97}" srcOrd="7" destOrd="0" presId="urn:microsoft.com/office/officeart/2005/8/layout/default"/>
    <dgm:cxn modelId="{29601EBC-6F17-4E93-AED2-0FD3E3DEF3F6}" type="presParOf" srcId="{839C5812-6664-49DD-A57F-E4F9F8F2C230}" destId="{7C749C6A-24A2-42EE-A9FF-96E1AA98686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ABC1E-393F-48F7-9993-D3DD53349052}">
      <dsp:nvSpPr>
        <dsp:cNvPr id="0" name=""/>
        <dsp:cNvSpPr/>
      </dsp:nvSpPr>
      <dsp:spPr>
        <a:xfrm rot="16200000">
          <a:off x="628071" y="0"/>
          <a:ext cx="4052845" cy="4052845"/>
        </a:xfrm>
        <a:prstGeom prst="downArrow">
          <a:avLst>
            <a:gd name="adj1" fmla="val 50000"/>
            <a:gd name="adj2" fmla="val 35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de-DE" sz="2900" kern="1200" dirty="0"/>
            <a:t>Selbstbestimmung/</a:t>
          </a:r>
        </a:p>
      </dsp:txBody>
      <dsp:txXfrm rot="5400000">
        <a:off x="628071" y="1013211"/>
        <a:ext cx="3343597" cy="2026423"/>
      </dsp:txXfrm>
    </dsp:sp>
    <dsp:sp modelId="{A7750D61-3AD8-4328-8549-CFFBF300A9D6}">
      <dsp:nvSpPr>
        <dsp:cNvPr id="0" name=""/>
        <dsp:cNvSpPr/>
      </dsp:nvSpPr>
      <dsp:spPr>
        <a:xfrm rot="5400000">
          <a:off x="5029206" y="0"/>
          <a:ext cx="4052845" cy="4052845"/>
        </a:xfrm>
        <a:prstGeom prst="downArrow">
          <a:avLst>
            <a:gd name="adj1" fmla="val 50000"/>
            <a:gd name="adj2" fmla="val 35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de-DE" sz="2900" kern="1200" dirty="0"/>
            <a:t>Fremdbestimmung</a:t>
          </a:r>
        </a:p>
      </dsp:txBody>
      <dsp:txXfrm rot="-5400000">
        <a:off x="5738454" y="1013211"/>
        <a:ext cx="3343597" cy="20264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ABC1E-393F-48F7-9993-D3DD53349052}">
      <dsp:nvSpPr>
        <dsp:cNvPr id="0" name=""/>
        <dsp:cNvSpPr/>
      </dsp:nvSpPr>
      <dsp:spPr>
        <a:xfrm rot="16200000">
          <a:off x="0" y="0"/>
          <a:ext cx="4052845" cy="4052845"/>
        </a:xfrm>
        <a:prstGeom prst="downArrow">
          <a:avLst>
            <a:gd name="adj1" fmla="val 50000"/>
            <a:gd name="adj2" fmla="val 35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de-DE" sz="2900" kern="1200" dirty="0"/>
            <a:t>Selbstbestimmung/</a:t>
          </a:r>
        </a:p>
      </dsp:txBody>
      <dsp:txXfrm rot="5400000">
        <a:off x="0" y="1013211"/>
        <a:ext cx="3343597" cy="2026423"/>
      </dsp:txXfrm>
    </dsp:sp>
    <dsp:sp modelId="{A7750D61-3AD8-4328-8549-CFFBF300A9D6}">
      <dsp:nvSpPr>
        <dsp:cNvPr id="0" name=""/>
        <dsp:cNvSpPr/>
      </dsp:nvSpPr>
      <dsp:spPr>
        <a:xfrm rot="5400000">
          <a:off x="5443983" y="30"/>
          <a:ext cx="4052845" cy="4052845"/>
        </a:xfrm>
        <a:prstGeom prst="downArrow">
          <a:avLst>
            <a:gd name="adj1" fmla="val 50000"/>
            <a:gd name="adj2" fmla="val 35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de-DE" sz="2900" kern="1200" dirty="0"/>
            <a:t>Fremdbestimmung</a:t>
          </a:r>
        </a:p>
      </dsp:txBody>
      <dsp:txXfrm rot="-5400000">
        <a:off x="6153231" y="1013241"/>
        <a:ext cx="3343597" cy="20264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13C060-6906-4BEC-B9E9-4BC7D0742E02}">
      <dsp:nvSpPr>
        <dsp:cNvPr id="0" name=""/>
        <dsp:cNvSpPr/>
      </dsp:nvSpPr>
      <dsp:spPr>
        <a:xfrm>
          <a:off x="377190" y="3160"/>
          <a:ext cx="2907506" cy="174450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b="1" kern="1200"/>
            <a:t>Das Kind wahrnehmen, nicht die Kategorie. Verständigung suchen, egal wie. Verständnis suchen, egal wofür.</a:t>
          </a:r>
          <a:endParaRPr lang="en-US" sz="1900" kern="1200"/>
        </a:p>
      </dsp:txBody>
      <dsp:txXfrm>
        <a:off x="377190" y="3160"/>
        <a:ext cx="2907506" cy="1744503"/>
      </dsp:txXfrm>
    </dsp:sp>
    <dsp:sp modelId="{9BFC5711-6F77-4E3B-A267-A5C6B07868F4}">
      <dsp:nvSpPr>
        <dsp:cNvPr id="0" name=""/>
        <dsp:cNvSpPr/>
      </dsp:nvSpPr>
      <dsp:spPr>
        <a:xfrm>
          <a:off x="3575446" y="3160"/>
          <a:ext cx="2907506" cy="1744503"/>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b="1" kern="1200"/>
            <a:t>Emanzipation als Ziel bedarf emanzipativer Kommunikation als Prozess.</a:t>
          </a:r>
          <a:endParaRPr lang="en-US" sz="1900" kern="1200"/>
        </a:p>
      </dsp:txBody>
      <dsp:txXfrm>
        <a:off x="3575446" y="3160"/>
        <a:ext cx="2907506" cy="1744503"/>
      </dsp:txXfrm>
    </dsp:sp>
    <dsp:sp modelId="{71E1AE11-C362-4E3C-B5E8-8D8E98B46A2A}">
      <dsp:nvSpPr>
        <dsp:cNvPr id="0" name=""/>
        <dsp:cNvSpPr/>
      </dsp:nvSpPr>
      <dsp:spPr>
        <a:xfrm>
          <a:off x="6773703" y="3160"/>
          <a:ext cx="2907506" cy="1744503"/>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b="1" kern="1200"/>
            <a:t>Partizipation ist nur in symmetrischen und selbstbestimmten Beziehungen möglich und sichert diese.</a:t>
          </a:r>
          <a:endParaRPr lang="en-US" sz="1900" kern="1200"/>
        </a:p>
      </dsp:txBody>
      <dsp:txXfrm>
        <a:off x="6773703" y="3160"/>
        <a:ext cx="2907506" cy="1744503"/>
      </dsp:txXfrm>
    </dsp:sp>
    <dsp:sp modelId="{33E22B3F-F2FF-47C5-8C78-707650FA5E1A}">
      <dsp:nvSpPr>
        <dsp:cNvPr id="0" name=""/>
        <dsp:cNvSpPr/>
      </dsp:nvSpPr>
      <dsp:spPr>
        <a:xfrm>
          <a:off x="1976318" y="2038415"/>
          <a:ext cx="2907506" cy="1744503"/>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b="1" kern="1200"/>
            <a:t>Dirigistische Kommunikation begrenzt die kindliche Autonomie, Selbstbestimmung, Freiheit und Individualität</a:t>
          </a:r>
          <a:endParaRPr lang="en-US" sz="1900" kern="1200"/>
        </a:p>
      </dsp:txBody>
      <dsp:txXfrm>
        <a:off x="1976318" y="2038415"/>
        <a:ext cx="2907506" cy="1744503"/>
      </dsp:txXfrm>
    </dsp:sp>
    <dsp:sp modelId="{7C749C6A-24A2-42EE-A9FF-96E1AA986869}">
      <dsp:nvSpPr>
        <dsp:cNvPr id="0" name=""/>
        <dsp:cNvSpPr/>
      </dsp:nvSpPr>
      <dsp:spPr>
        <a:xfrm>
          <a:off x="5174575" y="2038415"/>
          <a:ext cx="2907506" cy="1744503"/>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b="1" kern="1200" dirty="0"/>
            <a:t>Partizipation beinhaltet über das Recht der Mitbestimmung hinaus auch die tatsächliche Chance gesellschaftlicher Teilhabe.</a:t>
          </a:r>
          <a:endParaRPr lang="en-US" sz="1900" kern="1200" dirty="0"/>
        </a:p>
      </dsp:txBody>
      <dsp:txXfrm>
        <a:off x="5174575" y="2038415"/>
        <a:ext cx="2907506" cy="1744503"/>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83495" cy="502676"/>
          </a:xfrm>
          <a:prstGeom prst="rect">
            <a:avLst/>
          </a:prstGeom>
        </p:spPr>
        <p:txBody>
          <a:bodyPr vert="horz" lIns="96588" tIns="48294" rIns="96588" bIns="48294" rtlCol="0"/>
          <a:lstStyle>
            <a:lvl1pPr algn="l">
              <a:defRPr sz="1300"/>
            </a:lvl1pPr>
          </a:lstStyle>
          <a:p>
            <a:endParaRPr lang="de-DE"/>
          </a:p>
        </p:txBody>
      </p:sp>
      <p:sp>
        <p:nvSpPr>
          <p:cNvPr id="3" name="Datumsplatzhalter 2"/>
          <p:cNvSpPr>
            <a:spLocks noGrp="1"/>
          </p:cNvSpPr>
          <p:nvPr>
            <p:ph type="dt" idx="1"/>
          </p:nvPr>
        </p:nvSpPr>
        <p:spPr>
          <a:xfrm>
            <a:off x="3899900" y="0"/>
            <a:ext cx="2983495" cy="502676"/>
          </a:xfrm>
          <a:prstGeom prst="rect">
            <a:avLst/>
          </a:prstGeom>
        </p:spPr>
        <p:txBody>
          <a:bodyPr vert="horz" lIns="96588" tIns="48294" rIns="96588" bIns="48294" rtlCol="0"/>
          <a:lstStyle>
            <a:lvl1pPr algn="r">
              <a:defRPr sz="1300"/>
            </a:lvl1pPr>
          </a:lstStyle>
          <a:p>
            <a:fld id="{B3762444-632A-3D43-B3F3-FA6AA8AF7E71}" type="datetimeFigureOut">
              <a:rPr lang="de-DE" smtClean="0"/>
              <a:t>03.12.2025</a:t>
            </a:fld>
            <a:endParaRPr lang="de-DE"/>
          </a:p>
        </p:txBody>
      </p:sp>
      <p:sp>
        <p:nvSpPr>
          <p:cNvPr id="4" name="Folienbildplatzhalter 3"/>
          <p:cNvSpPr>
            <a:spLocks noGrp="1" noRot="1" noChangeAspect="1"/>
          </p:cNvSpPr>
          <p:nvPr>
            <p:ph type="sldImg" idx="2"/>
          </p:nvPr>
        </p:nvSpPr>
        <p:spPr>
          <a:xfrm>
            <a:off x="438150" y="1252538"/>
            <a:ext cx="6008688" cy="3381375"/>
          </a:xfrm>
          <a:prstGeom prst="rect">
            <a:avLst/>
          </a:prstGeom>
          <a:noFill/>
          <a:ln w="12700">
            <a:solidFill>
              <a:prstClr val="black"/>
            </a:solidFill>
          </a:ln>
        </p:spPr>
        <p:txBody>
          <a:bodyPr vert="horz" lIns="96588" tIns="48294" rIns="96588" bIns="48294" rtlCol="0" anchor="ctr"/>
          <a:lstStyle/>
          <a:p>
            <a:endParaRPr lang="de-DE"/>
          </a:p>
        </p:txBody>
      </p:sp>
      <p:sp>
        <p:nvSpPr>
          <p:cNvPr id="5" name="Notizenplatzhalter 4"/>
          <p:cNvSpPr>
            <a:spLocks noGrp="1"/>
          </p:cNvSpPr>
          <p:nvPr>
            <p:ph type="body" sz="quarter" idx="3"/>
          </p:nvPr>
        </p:nvSpPr>
        <p:spPr>
          <a:xfrm>
            <a:off x="688499" y="4821506"/>
            <a:ext cx="5507990" cy="3944868"/>
          </a:xfrm>
          <a:prstGeom prst="rect">
            <a:avLst/>
          </a:prstGeom>
        </p:spPr>
        <p:txBody>
          <a:bodyPr vert="horz" lIns="96588" tIns="48294" rIns="96588" bIns="48294"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516039"/>
            <a:ext cx="2983495" cy="502674"/>
          </a:xfrm>
          <a:prstGeom prst="rect">
            <a:avLst/>
          </a:prstGeom>
        </p:spPr>
        <p:txBody>
          <a:bodyPr vert="horz" lIns="96588" tIns="48294" rIns="96588" bIns="48294" rtlCol="0" anchor="b"/>
          <a:lstStyle>
            <a:lvl1pPr algn="l">
              <a:defRPr sz="1300"/>
            </a:lvl1pPr>
          </a:lstStyle>
          <a:p>
            <a:endParaRPr lang="de-DE"/>
          </a:p>
        </p:txBody>
      </p:sp>
      <p:sp>
        <p:nvSpPr>
          <p:cNvPr id="7" name="Foliennummernplatzhalter 6"/>
          <p:cNvSpPr>
            <a:spLocks noGrp="1"/>
          </p:cNvSpPr>
          <p:nvPr>
            <p:ph type="sldNum" sz="quarter" idx="5"/>
          </p:nvPr>
        </p:nvSpPr>
        <p:spPr>
          <a:xfrm>
            <a:off x="3899900" y="9516039"/>
            <a:ext cx="2983495" cy="502674"/>
          </a:xfrm>
          <a:prstGeom prst="rect">
            <a:avLst/>
          </a:prstGeom>
        </p:spPr>
        <p:txBody>
          <a:bodyPr vert="horz" lIns="96588" tIns="48294" rIns="96588" bIns="48294" rtlCol="0" anchor="b"/>
          <a:lstStyle>
            <a:lvl1pPr algn="r">
              <a:defRPr sz="1300"/>
            </a:lvl1pPr>
          </a:lstStyle>
          <a:p>
            <a:fld id="{569F4507-1A73-1944-A3D3-E65E65402870}" type="slidenum">
              <a:rPr lang="de-DE" smtClean="0"/>
              <a:t>‹Nr.›</a:t>
            </a:fld>
            <a:endParaRPr lang="de-DE"/>
          </a:p>
        </p:txBody>
      </p:sp>
    </p:spTree>
    <p:extLst>
      <p:ext uri="{BB962C8B-B14F-4D97-AF65-F5344CB8AC3E}">
        <p14:creationId xmlns:p14="http://schemas.microsoft.com/office/powerpoint/2010/main" val="172842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de-DE"/>
              <a:t>Mastertitelformat bearbeiten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A74755F0-079C-AA42-AA6B-4D52C016E135}" type="datetimeFigureOut">
              <a:rPr lang="de-DE" smtClean="0"/>
              <a:t>03.12.2025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09A275D-86CD-DB47-AC2C-BA7581D3D3F3}" type="slidenum">
              <a:rPr lang="de-DE" smtClean="0"/>
              <a:t>‹Nr.›</a:t>
            </a:fld>
            <a:endParaRPr lang="de-D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293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74755F0-079C-AA42-AA6B-4D52C016E135}" type="datetimeFigureOut">
              <a:rPr lang="de-DE" smtClean="0"/>
              <a:t>03.12.2025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1789196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de-DE"/>
              <a:t>Mastertitelformat bearbeiten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A74755F0-079C-AA42-AA6B-4D52C016E135}" type="datetimeFigureOut">
              <a:rPr lang="de-DE" smtClean="0"/>
              <a:t>03.12.2025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09A275D-86CD-DB47-AC2C-BA7581D3D3F3}" type="slidenum">
              <a:rPr lang="de-DE" smtClean="0"/>
              <a:t>‹Nr.›</a:t>
            </a:fld>
            <a:endParaRPr lang="de-D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797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de-DE"/>
              <a:t>Mastertitelformat bearbeiten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A74755F0-079C-AA42-AA6B-4D52C016E135}" type="datetimeFigureOut">
              <a:rPr lang="de-DE" smtClean="0"/>
              <a:t>03.12.2025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2464006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de-DE"/>
              <a:t>Mastertitelformat bearbeiten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097280" y="2582334"/>
            <a:ext cx="4937760" cy="3378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217920" y="2582334"/>
            <a:ext cx="4937760" cy="3378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A74755F0-079C-AA42-AA6B-4D52C016E135}" type="datetimeFigureOut">
              <a:rPr lang="de-DE" smtClean="0"/>
              <a:t>03.12.2025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3588017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A74755F0-079C-AA42-AA6B-4D52C016E135}" type="datetimeFigureOut">
              <a:rPr lang="de-DE" smtClean="0"/>
              <a:t>03.12.2025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2547660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7" name="Date Placeholder 6"/>
          <p:cNvSpPr>
            <a:spLocks noGrp="1"/>
          </p:cNvSpPr>
          <p:nvPr>
            <p:ph type="dt" sz="half" idx="10"/>
          </p:nvPr>
        </p:nvSpPr>
        <p:spPr/>
        <p:txBody>
          <a:bodyPr/>
          <a:lstStyle/>
          <a:p>
            <a:fld id="{A74755F0-079C-AA42-AA6B-4D52C016E135}" type="datetimeFigureOut">
              <a:rPr lang="de-DE" smtClean="0"/>
              <a:t>03.12.2025</a:t>
            </a:fld>
            <a:endParaRPr lang="de-D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de-DE"/>
          </a:p>
        </p:txBody>
      </p:sp>
      <p:sp>
        <p:nvSpPr>
          <p:cNvPr id="9" name="Slide Number Placeholder 8"/>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201862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de-DE"/>
              <a:t>Mastertitelformat bearbeiten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74755F0-079C-AA42-AA6B-4D52C016E135}" type="datetimeFigureOut">
              <a:rPr lang="de-DE" smtClean="0"/>
              <a:t>03.12.2025</a:t>
            </a:fld>
            <a:endParaRPr lang="de-D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de-D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09A275D-86CD-DB47-AC2C-BA7581D3D3F3}" type="slidenum">
              <a:rPr lang="de-DE" smtClean="0"/>
              <a:t>‹Nr.›</a:t>
            </a:fld>
            <a:endParaRPr lang="de-DE"/>
          </a:p>
        </p:txBody>
      </p:sp>
    </p:spTree>
    <p:extLst>
      <p:ext uri="{BB962C8B-B14F-4D97-AF65-F5344CB8AC3E}">
        <p14:creationId xmlns:p14="http://schemas.microsoft.com/office/powerpoint/2010/main" val="265855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de-DE"/>
              <a:t>Mastertitelformat bearbeiten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A74755F0-079C-AA42-AA6B-4D52C016E135}" type="datetimeFigureOut">
              <a:rPr lang="de-DE" smtClean="0"/>
              <a:t>03.12.2025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1238532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74755F0-079C-AA42-AA6B-4D52C016E135}" type="datetimeFigureOut">
              <a:rPr lang="de-DE" smtClean="0"/>
              <a:t>03.12.2025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200514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74755F0-079C-AA42-AA6B-4D52C016E135}" type="datetimeFigureOut">
              <a:rPr lang="de-DE" smtClean="0"/>
              <a:t>03.12.2025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09A275D-86CD-DB47-AC2C-BA7581D3D3F3}" type="slidenum">
              <a:rPr lang="de-DE" smtClean="0"/>
              <a:t>‹Nr.›</a:t>
            </a:fld>
            <a:endParaRPr lang="de-DE"/>
          </a:p>
        </p:txBody>
      </p:sp>
    </p:spTree>
    <p:extLst>
      <p:ext uri="{BB962C8B-B14F-4D97-AF65-F5344CB8AC3E}">
        <p14:creationId xmlns:p14="http://schemas.microsoft.com/office/powerpoint/2010/main" val="4044031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de-DE"/>
              <a:t>Mastertitelformat bearbeiten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74755F0-079C-AA42-AA6B-4D52C016E135}" type="datetimeFigureOut">
              <a:rPr lang="de-DE" smtClean="0"/>
              <a:t>03.12.2025</a:t>
            </a:fld>
            <a:endParaRPr lang="de-D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de-D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09A275D-86CD-DB47-AC2C-BA7581D3D3F3}" type="slidenum">
              <a:rPr lang="de-DE" smtClean="0"/>
              <a:t>‹Nr.›</a:t>
            </a:fld>
            <a:endParaRPr lang="de-D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972814"/>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tertitel 5">
            <a:extLst>
              <a:ext uri="{FF2B5EF4-FFF2-40B4-BE49-F238E27FC236}">
                <a16:creationId xmlns:a16="http://schemas.microsoft.com/office/drawing/2014/main" id="{F5B4B771-BC50-9D52-DAA3-9ABCDA2AA7A3}"/>
              </a:ext>
            </a:extLst>
          </p:cNvPr>
          <p:cNvSpPr>
            <a:spLocks noGrp="1"/>
          </p:cNvSpPr>
          <p:nvPr>
            <p:ph type="subTitle" idx="1"/>
          </p:nvPr>
        </p:nvSpPr>
        <p:spPr>
          <a:xfrm>
            <a:off x="1777463" y="1781897"/>
            <a:ext cx="8825685" cy="2512888"/>
          </a:xfrm>
        </p:spPr>
        <p:txBody>
          <a:bodyPr>
            <a:normAutofit lnSpcReduction="10000"/>
          </a:bodyPr>
          <a:lstStyle/>
          <a:p>
            <a:r>
              <a:rPr lang="de-DE" b="1" dirty="0">
                <a:solidFill>
                  <a:schemeClr val="tx1"/>
                </a:solidFill>
              </a:rPr>
              <a:t>Lernfeld 2: Komplexe Handlung</a:t>
            </a:r>
          </a:p>
          <a:p>
            <a:r>
              <a:rPr lang="de-DE" dirty="0"/>
              <a:t>„Gespräche/ Gesprächsanlässe über relevante und aktuelle Themen einer Elementargruppe anregen und gestalten und für Partizipationsprozesse nutzen“</a:t>
            </a:r>
          </a:p>
          <a:p>
            <a:r>
              <a:rPr lang="de-DE" b="1" dirty="0">
                <a:solidFill>
                  <a:schemeClr val="tx1"/>
                </a:solidFill>
              </a:rPr>
              <a:t>Lernsituation:</a:t>
            </a:r>
            <a:r>
              <a:rPr lang="de-DE" dirty="0"/>
              <a:t> Dialogische Grundhaltung entwickeln</a:t>
            </a:r>
          </a:p>
        </p:txBody>
      </p:sp>
      <p:sp>
        <p:nvSpPr>
          <p:cNvPr id="7" name="Rechteck 6">
            <a:extLst>
              <a:ext uri="{FF2B5EF4-FFF2-40B4-BE49-F238E27FC236}">
                <a16:creationId xmlns:a16="http://schemas.microsoft.com/office/drawing/2014/main" id="{2C23BA70-8F43-6442-B9E1-79B5B4B6A7E5}"/>
              </a:ext>
            </a:extLst>
          </p:cNvPr>
          <p:cNvSpPr/>
          <p:nvPr/>
        </p:nvSpPr>
        <p:spPr>
          <a:xfrm>
            <a:off x="5829300" y="1172370"/>
            <a:ext cx="6210300" cy="423862"/>
          </a:xfrm>
          <a:prstGeom prst="rect">
            <a:avLst/>
          </a:prstGeom>
          <a:solidFill>
            <a:srgbClr val="4F225E"/>
          </a:solidFill>
          <a:ln>
            <a:solidFill>
              <a:srgbClr val="4F22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dirty="0"/>
              <a:t>Berufliche Schule 30 (BS30)</a:t>
            </a:r>
          </a:p>
        </p:txBody>
      </p:sp>
      <p:sp>
        <p:nvSpPr>
          <p:cNvPr id="8" name="Rechteck 7">
            <a:extLst>
              <a:ext uri="{FF2B5EF4-FFF2-40B4-BE49-F238E27FC236}">
                <a16:creationId xmlns:a16="http://schemas.microsoft.com/office/drawing/2014/main" id="{44FA24B0-BB81-D92C-05E3-71396CD09FEB}"/>
              </a:ext>
            </a:extLst>
          </p:cNvPr>
          <p:cNvSpPr/>
          <p:nvPr/>
        </p:nvSpPr>
        <p:spPr>
          <a:xfrm>
            <a:off x="8934450" y="38100"/>
            <a:ext cx="2615866" cy="1298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2000" dirty="0">
                <a:solidFill>
                  <a:schemeClr val="tx1">
                    <a:lumMod val="50000"/>
                    <a:lumOff val="50000"/>
                  </a:schemeClr>
                </a:solidFill>
              </a:rPr>
              <a:t>STAATLICHE </a:t>
            </a:r>
          </a:p>
          <a:p>
            <a:pPr algn="r"/>
            <a:r>
              <a:rPr lang="de-DE" sz="2000" dirty="0">
                <a:solidFill>
                  <a:schemeClr val="tx1">
                    <a:lumMod val="50000"/>
                    <a:lumOff val="50000"/>
                  </a:schemeClr>
                </a:solidFill>
              </a:rPr>
              <a:t>FACHSCHULE FÜR SOZIALPÄDAGOGIK</a:t>
            </a:r>
          </a:p>
        </p:txBody>
      </p:sp>
      <p:pic>
        <p:nvPicPr>
          <p:cNvPr id="9" name="Grafik 8">
            <a:extLst>
              <a:ext uri="{FF2B5EF4-FFF2-40B4-BE49-F238E27FC236}">
                <a16:creationId xmlns:a16="http://schemas.microsoft.com/office/drawing/2014/main" id="{F3FF9E7C-ABC8-9006-36A0-39A6F834E1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157" y="108470"/>
            <a:ext cx="1973869" cy="1310755"/>
          </a:xfrm>
          <a:prstGeom prst="rect">
            <a:avLst/>
          </a:prstGeom>
        </p:spPr>
      </p:pic>
      <p:sp>
        <p:nvSpPr>
          <p:cNvPr id="13" name="Textfeld 12">
            <a:extLst>
              <a:ext uri="{FF2B5EF4-FFF2-40B4-BE49-F238E27FC236}">
                <a16:creationId xmlns:a16="http://schemas.microsoft.com/office/drawing/2014/main" id="{2FF30812-BA0D-3039-9AE3-1526A0851E8D}"/>
              </a:ext>
            </a:extLst>
          </p:cNvPr>
          <p:cNvSpPr txBox="1"/>
          <p:nvPr/>
        </p:nvSpPr>
        <p:spPr>
          <a:xfrm>
            <a:off x="8706261" y="5306169"/>
            <a:ext cx="2844055" cy="646331"/>
          </a:xfrm>
          <a:prstGeom prst="rect">
            <a:avLst/>
          </a:prstGeom>
          <a:noFill/>
        </p:spPr>
        <p:txBody>
          <a:bodyPr wrap="square" rtlCol="0">
            <a:spAutoFit/>
          </a:bodyPr>
          <a:lstStyle/>
          <a:p>
            <a:r>
              <a:rPr lang="de-DE" dirty="0"/>
              <a:t>Maxim Weimer, Jasmin Sahin, Nicole von der Aa</a:t>
            </a:r>
          </a:p>
        </p:txBody>
      </p:sp>
      <p:pic>
        <p:nvPicPr>
          <p:cNvPr id="2" name="Grafik 1" descr="Ein Bild, das Im Haus, Kleidung, Kinderkunst, Lernen enthält.&#10;&#10;Automatisch generierte Beschreibung">
            <a:extLst>
              <a:ext uri="{FF2B5EF4-FFF2-40B4-BE49-F238E27FC236}">
                <a16:creationId xmlns:a16="http://schemas.microsoft.com/office/drawing/2014/main" id="{351BE2F1-691E-9AF4-E802-EFE8FC6301F6}"/>
              </a:ext>
            </a:extLst>
          </p:cNvPr>
          <p:cNvPicPr>
            <a:picLocks noChangeAspect="1"/>
          </p:cNvPicPr>
          <p:nvPr/>
        </p:nvPicPr>
        <p:blipFill>
          <a:blip r:embed="rId3"/>
          <a:stretch>
            <a:fillRect/>
          </a:stretch>
        </p:blipFill>
        <p:spPr>
          <a:xfrm>
            <a:off x="1392626" y="4412613"/>
            <a:ext cx="2597930" cy="1787111"/>
          </a:xfrm>
          <a:prstGeom prst="rect">
            <a:avLst/>
          </a:prstGeom>
        </p:spPr>
      </p:pic>
    </p:spTree>
    <p:extLst>
      <p:ext uri="{BB962C8B-B14F-4D97-AF65-F5344CB8AC3E}">
        <p14:creationId xmlns:p14="http://schemas.microsoft.com/office/powerpoint/2010/main" val="1812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0">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7" name="Rectangle 12">
            <a:extLst>
              <a:ext uri="{FF2B5EF4-FFF2-40B4-BE49-F238E27FC236}">
                <a16:creationId xmlns:a16="http://schemas.microsoft.com/office/drawing/2014/main" id="{C4F7E42D-8B5A-4FC8-81CD-9E60171F7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 name="Titel 1">
            <a:extLst>
              <a:ext uri="{FF2B5EF4-FFF2-40B4-BE49-F238E27FC236}">
                <a16:creationId xmlns:a16="http://schemas.microsoft.com/office/drawing/2014/main" id="{A36B5612-1EA9-5C47-8E54-6A22E10ABDEE}"/>
              </a:ext>
            </a:extLst>
          </p:cNvPr>
          <p:cNvSpPr>
            <a:spLocks noGrp="1"/>
          </p:cNvSpPr>
          <p:nvPr>
            <p:ph type="title"/>
          </p:nvPr>
        </p:nvSpPr>
        <p:spPr>
          <a:xfrm>
            <a:off x="492370" y="2299453"/>
            <a:ext cx="3084844" cy="2103875"/>
          </a:xfrm>
        </p:spPr>
        <p:txBody>
          <a:bodyPr vert="horz" lIns="91440" tIns="45720" rIns="91440" bIns="0" rtlCol="0">
            <a:normAutofit/>
          </a:bodyPr>
          <a:lstStyle/>
          <a:p>
            <a:r>
              <a:rPr lang="en-US" sz="3600" dirty="0">
                <a:solidFill>
                  <a:srgbClr val="FFFFFF"/>
                </a:solidFill>
              </a:rPr>
              <a:t>Reminder: </a:t>
            </a:r>
            <a:r>
              <a:rPr lang="de-DE" sz="3600" dirty="0">
                <a:solidFill>
                  <a:srgbClr val="FFFFFF"/>
                </a:solidFill>
              </a:rPr>
              <a:t>Kreislauf der vollständigen Handlung</a:t>
            </a:r>
          </a:p>
        </p:txBody>
      </p:sp>
      <p:pic>
        <p:nvPicPr>
          <p:cNvPr id="4" name="Inhaltsplatzhalter 3">
            <a:extLst>
              <a:ext uri="{FF2B5EF4-FFF2-40B4-BE49-F238E27FC236}">
                <a16:creationId xmlns:a16="http://schemas.microsoft.com/office/drawing/2014/main" id="{3488D409-F658-F51E-0722-10C213F5EFC0}"/>
              </a:ext>
            </a:extLst>
          </p:cNvPr>
          <p:cNvPicPr>
            <a:picLocks noChangeAspect="1"/>
          </p:cNvPicPr>
          <p:nvPr/>
        </p:nvPicPr>
        <p:blipFill rotWithShape="1">
          <a:blip r:embed="rId2"/>
          <a:srcRect l="12004" r="12005" b="1"/>
          <a:stretch/>
        </p:blipFill>
        <p:spPr>
          <a:xfrm>
            <a:off x="4075043" y="10"/>
            <a:ext cx="8111272" cy="6857990"/>
          </a:xfrm>
          <a:prstGeom prst="rect">
            <a:avLst/>
          </a:prstGeom>
        </p:spPr>
      </p:pic>
      <p:sp>
        <p:nvSpPr>
          <p:cNvPr id="15" name="Rectangle 14">
            <a:extLst>
              <a:ext uri="{FF2B5EF4-FFF2-40B4-BE49-F238E27FC236}">
                <a16:creationId xmlns:a16="http://schemas.microsoft.com/office/drawing/2014/main" id="{8C04651D-B9F4-4935-A02D-364153FBD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Tree>
    <p:extLst>
      <p:ext uri="{BB962C8B-B14F-4D97-AF65-F5344CB8AC3E}">
        <p14:creationId xmlns:p14="http://schemas.microsoft.com/office/powerpoint/2010/main" val="784411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6B5612-1EA9-5C47-8E54-6A22E10ABDEE}"/>
              </a:ext>
            </a:extLst>
          </p:cNvPr>
          <p:cNvSpPr>
            <a:spLocks noGrp="1"/>
          </p:cNvSpPr>
          <p:nvPr>
            <p:ph type="title"/>
          </p:nvPr>
        </p:nvSpPr>
        <p:spPr/>
        <p:txBody>
          <a:bodyPr/>
          <a:lstStyle/>
          <a:p>
            <a:r>
              <a:rPr lang="de-DE" b="1" dirty="0"/>
              <a:t>Agenda</a:t>
            </a:r>
          </a:p>
        </p:txBody>
      </p:sp>
      <p:sp>
        <p:nvSpPr>
          <p:cNvPr id="3" name="Inhaltsplatzhalter 2">
            <a:extLst>
              <a:ext uri="{FF2B5EF4-FFF2-40B4-BE49-F238E27FC236}">
                <a16:creationId xmlns:a16="http://schemas.microsoft.com/office/drawing/2014/main" id="{0E9D3C08-EB64-5749-8450-BDDE3E820E7C}"/>
              </a:ext>
            </a:extLst>
          </p:cNvPr>
          <p:cNvSpPr>
            <a:spLocks noGrp="1"/>
          </p:cNvSpPr>
          <p:nvPr>
            <p:ph idx="1"/>
          </p:nvPr>
        </p:nvSpPr>
        <p:spPr/>
        <p:txBody>
          <a:bodyPr>
            <a:normAutofit/>
          </a:bodyPr>
          <a:lstStyle/>
          <a:p>
            <a:pPr marL="457200" indent="-457200">
              <a:buFont typeface="+mj-lt"/>
              <a:buAutoNum type="arabicPeriod"/>
            </a:pPr>
            <a:r>
              <a:rPr lang="de-DE" dirty="0"/>
              <a:t>Wahrnehmen und Erleben: Reflexion biografischer Erfahrungen, Reflexion Gefühle und Gedanken</a:t>
            </a:r>
          </a:p>
          <a:p>
            <a:pPr marL="457200" indent="-457200">
              <a:buFont typeface="+mj-lt"/>
              <a:buAutoNum type="arabicPeriod"/>
            </a:pPr>
            <a:r>
              <a:rPr lang="de-DE" dirty="0"/>
              <a:t>Verstehen und Analysieren: Grundverständnis „Partizipation“, „Kommunikation“ und „dialogische Grundhaltung“</a:t>
            </a:r>
          </a:p>
          <a:p>
            <a:pPr marL="457200" indent="-457200">
              <a:buFont typeface="+mj-lt"/>
              <a:buAutoNum type="arabicPeriod"/>
            </a:pPr>
            <a:r>
              <a:rPr lang="de-DE" dirty="0"/>
              <a:t>Entscheiden und Planen: Methodisch-Praktische Auseinandersetzung mit den Themen – Ziele entwickeln</a:t>
            </a:r>
          </a:p>
          <a:p>
            <a:pPr marL="514350" indent="-514350">
              <a:buFont typeface="+mj-lt"/>
              <a:buAutoNum type="arabicPeriod"/>
            </a:pPr>
            <a:r>
              <a:rPr lang="de-DE" dirty="0"/>
              <a:t>Umsetzen und Interagieren:  Fachwissenschaftliche Vertiefung</a:t>
            </a:r>
          </a:p>
          <a:p>
            <a:pPr marL="514350" indent="-514350">
              <a:buFont typeface="+mj-lt"/>
              <a:buAutoNum type="arabicPeriod"/>
            </a:pPr>
            <a:r>
              <a:rPr lang="de-DE" dirty="0"/>
              <a:t>Reflektieren und Evaluieren: Methodisch-praktische Auseinandersetzung wird gemeinsam reflektiert, ausgewertet, Ableiten für berufliches Handeln</a:t>
            </a:r>
          </a:p>
          <a:p>
            <a:pPr marL="514350" indent="-514350">
              <a:buFont typeface="+mj-lt"/>
              <a:buAutoNum type="arabicPeriod"/>
            </a:pPr>
            <a:r>
              <a:rPr lang="de-DE" dirty="0"/>
              <a:t>Transfer: Übertragbarkeit auf das eigene berufliche Handeln und das eigene Handlungsfeld überprüfen. </a:t>
            </a:r>
          </a:p>
        </p:txBody>
      </p:sp>
    </p:spTree>
    <p:extLst>
      <p:ext uri="{BB962C8B-B14F-4D97-AF65-F5344CB8AC3E}">
        <p14:creationId xmlns:p14="http://schemas.microsoft.com/office/powerpoint/2010/main" val="269647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6B5612-1EA9-5C47-8E54-6A22E10ABDEE}"/>
              </a:ext>
            </a:extLst>
          </p:cNvPr>
          <p:cNvSpPr>
            <a:spLocks noGrp="1"/>
          </p:cNvSpPr>
          <p:nvPr>
            <p:ph type="title"/>
          </p:nvPr>
        </p:nvSpPr>
        <p:spPr>
          <a:xfrm>
            <a:off x="921789" y="286603"/>
            <a:ext cx="10058400" cy="1450757"/>
          </a:xfrm>
        </p:spPr>
        <p:txBody>
          <a:bodyPr>
            <a:normAutofit/>
          </a:bodyPr>
          <a:lstStyle/>
          <a:p>
            <a:r>
              <a:rPr lang="de-DE" b="1" dirty="0"/>
              <a:t>1. Wahrnehmen und Erleben</a:t>
            </a:r>
          </a:p>
        </p:txBody>
      </p:sp>
      <p:sp>
        <p:nvSpPr>
          <p:cNvPr id="3" name="Inhaltsplatzhalter 2">
            <a:extLst>
              <a:ext uri="{FF2B5EF4-FFF2-40B4-BE49-F238E27FC236}">
                <a16:creationId xmlns:a16="http://schemas.microsoft.com/office/drawing/2014/main" id="{0E9D3C08-EB64-5749-8450-BDDE3E820E7C}"/>
              </a:ext>
            </a:extLst>
          </p:cNvPr>
          <p:cNvSpPr>
            <a:spLocks noGrp="1"/>
          </p:cNvSpPr>
          <p:nvPr>
            <p:ph idx="1"/>
          </p:nvPr>
        </p:nvSpPr>
        <p:spPr>
          <a:xfrm>
            <a:off x="1097279" y="1845734"/>
            <a:ext cx="6454987" cy="4023360"/>
          </a:xfrm>
        </p:spPr>
        <p:txBody>
          <a:bodyPr>
            <a:normAutofit/>
          </a:bodyPr>
          <a:lstStyle/>
          <a:p>
            <a:pPr marL="0" indent="0">
              <a:buNone/>
            </a:pPr>
            <a:r>
              <a:rPr lang="de-DE" b="1" dirty="0"/>
              <a:t>Arbeitsauftrag I: </a:t>
            </a:r>
          </a:p>
          <a:p>
            <a:pPr marL="457200" indent="-457200">
              <a:buFont typeface="+mj-lt"/>
              <a:buAutoNum type="arabicPeriod"/>
            </a:pPr>
            <a:r>
              <a:rPr lang="de-DE" sz="1800" dirty="0"/>
              <a:t>Lest die Ausgangssituation zur Lernsituation.</a:t>
            </a:r>
          </a:p>
          <a:p>
            <a:pPr marL="457200" indent="-457200">
              <a:buFont typeface="+mj-lt"/>
              <a:buAutoNum type="arabicPeriod"/>
            </a:pPr>
            <a:r>
              <a:rPr lang="de-DE" sz="1800" dirty="0"/>
              <a:t>Lest im Anschluss die Leitfragen zum Protokoll der Dienstbesprechung (S. 1) und setzt euch mit den Fragen auseinander. 			</a:t>
            </a:r>
            <a:r>
              <a:rPr lang="de-DE" sz="1800" dirty="0">
                <a:solidFill>
                  <a:srgbClr val="FF0000"/>
                </a:solidFill>
              </a:rPr>
              <a:t>10 Min</a:t>
            </a:r>
          </a:p>
          <a:p>
            <a:pPr marL="457200" indent="-457200">
              <a:buFont typeface="+mj-lt"/>
              <a:buAutoNum type="arabicPeriod"/>
            </a:pPr>
            <a:r>
              <a:rPr lang="de-DE" sz="1800" dirty="0"/>
              <a:t>Tauscht Euch im Anschluss in einer kurzen Murmelrunde am Tisch aus.			</a:t>
            </a:r>
            <a:r>
              <a:rPr lang="de-DE" sz="1800" dirty="0">
                <a:solidFill>
                  <a:srgbClr val="FF0000"/>
                </a:solidFill>
              </a:rPr>
              <a:t>10 Min</a:t>
            </a:r>
          </a:p>
          <a:p>
            <a:pPr marL="457200" indent="-457200">
              <a:buFont typeface="+mj-lt"/>
              <a:buAutoNum type="arabicPeriod"/>
            </a:pPr>
            <a:r>
              <a:rPr lang="de-DE" sz="1800" dirty="0"/>
              <a:t>Wir besprechen Eure wichtigsten Erkenntnisse im Plenum. </a:t>
            </a:r>
            <a:r>
              <a:rPr lang="de-DE" sz="1800" dirty="0">
                <a:solidFill>
                  <a:srgbClr val="FF0000"/>
                </a:solidFill>
              </a:rPr>
              <a:t>5 Min</a:t>
            </a:r>
          </a:p>
          <a:p>
            <a:pPr marL="2065760" lvl="8" indent="-457200">
              <a:buFont typeface="+mj-lt"/>
              <a:buAutoNum type="arabicPeriod"/>
            </a:pPr>
            <a:r>
              <a:rPr lang="de-DE" sz="1200" dirty="0"/>
              <a:t>                                              </a:t>
            </a:r>
            <a:endParaRPr lang="de-DE" sz="1800" dirty="0">
              <a:solidFill>
                <a:srgbClr val="FF0000"/>
              </a:solidFill>
            </a:endParaRPr>
          </a:p>
          <a:p>
            <a:pPr marL="0" indent="0">
              <a:buNone/>
            </a:pPr>
            <a:r>
              <a:rPr lang="de-DE" i="1" dirty="0">
                <a:solidFill>
                  <a:srgbClr val="00B050"/>
                </a:solidFill>
              </a:rPr>
              <a:t>    Wir beachten das Prinzip der Freiwilligkeit! </a:t>
            </a:r>
          </a:p>
          <a:p>
            <a:pPr marL="457200" indent="-457200">
              <a:buFont typeface="+mj-lt"/>
              <a:buAutoNum type="arabicPeriod"/>
            </a:pPr>
            <a:endParaRPr lang="de-DE" dirty="0"/>
          </a:p>
          <a:p>
            <a:pPr marL="0" indent="0">
              <a:buNone/>
            </a:pPr>
            <a:endParaRPr lang="de-DE" dirty="0"/>
          </a:p>
          <a:p>
            <a:pPr marL="0" indent="0">
              <a:buNone/>
            </a:pPr>
            <a:endParaRPr lang="de-DE" dirty="0"/>
          </a:p>
          <a:p>
            <a:pPr marL="0" indent="0">
              <a:buNone/>
            </a:pPr>
            <a:endParaRPr lang="de-DE" dirty="0"/>
          </a:p>
          <a:p>
            <a:pPr marL="457200" indent="-457200">
              <a:buFont typeface="+mj-lt"/>
              <a:buAutoNum type="arabicPeriod"/>
            </a:pPr>
            <a:endParaRPr lang="de-DE" dirty="0"/>
          </a:p>
          <a:p>
            <a:pPr marL="0" indent="0">
              <a:buNone/>
            </a:pPr>
            <a:endParaRPr lang="de-DE" dirty="0"/>
          </a:p>
          <a:p>
            <a:pPr lvl="1">
              <a:buFont typeface="Wingdings" panose="05000000000000000000" pitchFamily="2" charset="2"/>
              <a:buChar char="§"/>
            </a:pPr>
            <a:endParaRPr lang="de-DE" dirty="0"/>
          </a:p>
          <a:p>
            <a:pPr marL="201168" lvl="1" indent="0">
              <a:buNone/>
            </a:pPr>
            <a:endParaRPr lang="de-DE" dirty="0"/>
          </a:p>
          <a:p>
            <a:pPr marL="0" indent="0">
              <a:buNone/>
            </a:pPr>
            <a:endParaRPr lang="de-DE" dirty="0"/>
          </a:p>
        </p:txBody>
      </p:sp>
      <p:pic>
        <p:nvPicPr>
          <p:cNvPr id="5" name="Grafik 4">
            <a:extLst>
              <a:ext uri="{FF2B5EF4-FFF2-40B4-BE49-F238E27FC236}">
                <a16:creationId xmlns:a16="http://schemas.microsoft.com/office/drawing/2014/main" id="{82ECEAC8-4B7C-5424-8F3C-F30C7E1429EC}"/>
              </a:ext>
            </a:extLst>
          </p:cNvPr>
          <p:cNvPicPr>
            <a:picLocks noChangeAspect="1"/>
          </p:cNvPicPr>
          <p:nvPr/>
        </p:nvPicPr>
        <p:blipFill rotWithShape="1">
          <a:blip r:embed="rId2"/>
          <a:srcRect r="2" b="23260"/>
          <a:stretch/>
        </p:blipFill>
        <p:spPr>
          <a:xfrm>
            <a:off x="8020570" y="1916318"/>
            <a:ext cx="3135109" cy="3471012"/>
          </a:xfrm>
          <a:prstGeom prst="rect">
            <a:avLst/>
          </a:prstGeom>
        </p:spPr>
      </p:pic>
    </p:spTree>
    <p:extLst>
      <p:ext uri="{BB962C8B-B14F-4D97-AF65-F5344CB8AC3E}">
        <p14:creationId xmlns:p14="http://schemas.microsoft.com/office/powerpoint/2010/main" val="4022705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B72D11-D827-6631-BA26-97723A0121E2}"/>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960DA858-8B3A-2502-0165-2386F7B5A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9C4FD9C-C9A4-B80F-C3CD-6927690F5FDA}"/>
              </a:ext>
            </a:extLst>
          </p:cNvPr>
          <p:cNvSpPr>
            <a:spLocks noGrp="1"/>
          </p:cNvSpPr>
          <p:nvPr>
            <p:ph type="title"/>
          </p:nvPr>
        </p:nvSpPr>
        <p:spPr>
          <a:xfrm>
            <a:off x="4974771" y="634946"/>
            <a:ext cx="6574972" cy="1450757"/>
          </a:xfrm>
        </p:spPr>
        <p:txBody>
          <a:bodyPr>
            <a:normAutofit/>
          </a:bodyPr>
          <a:lstStyle/>
          <a:p>
            <a:r>
              <a:rPr lang="de-DE" b="1" dirty="0"/>
              <a:t>1. Wahrnehmen und Erleben</a:t>
            </a:r>
            <a:endParaRPr lang="de-DE" dirty="0"/>
          </a:p>
        </p:txBody>
      </p:sp>
      <p:pic>
        <p:nvPicPr>
          <p:cNvPr id="2050" name="Picture 2" descr="Gedanken und Gefühle – Seminarmethode – Start">
            <a:extLst>
              <a:ext uri="{FF2B5EF4-FFF2-40B4-BE49-F238E27FC236}">
                <a16:creationId xmlns:a16="http://schemas.microsoft.com/office/drawing/2014/main" id="{D149E09F-3F73-9676-C7AE-C3421B4FC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2380"/>
          <a:stretch>
            <a:fillRect/>
          </a:stretch>
        </p:blipFill>
        <p:spPr bwMode="auto">
          <a:xfrm>
            <a:off x="633999" y="640081"/>
            <a:ext cx="4001315" cy="5389244"/>
          </a:xfrm>
          <a:prstGeom prst="rect">
            <a:avLst/>
          </a:pr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D0E46EAF-F892-96A8-0DFC-82DE2D9FB7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8A9BFB84-4768-93A8-29C6-CF8623FCD44C}"/>
              </a:ext>
            </a:extLst>
          </p:cNvPr>
          <p:cNvSpPr>
            <a:spLocks noGrp="1"/>
          </p:cNvSpPr>
          <p:nvPr>
            <p:ph idx="1"/>
          </p:nvPr>
        </p:nvSpPr>
        <p:spPr>
          <a:xfrm>
            <a:off x="4974769" y="2198914"/>
            <a:ext cx="6574973" cy="3670180"/>
          </a:xfrm>
        </p:spPr>
        <p:txBody>
          <a:bodyPr>
            <a:normAutofit/>
          </a:bodyPr>
          <a:lstStyle/>
          <a:p>
            <a:pPr marL="0" indent="0">
              <a:buNone/>
            </a:pPr>
            <a:r>
              <a:rPr lang="de-DE" u="sng" dirty="0"/>
              <a:t>Austauschrunde im Plenum:</a:t>
            </a:r>
            <a:endParaRPr lang="de-DE" sz="1600" dirty="0">
              <a:solidFill>
                <a:srgbClr val="FF0000"/>
              </a:solidFill>
            </a:endParaRPr>
          </a:p>
          <a:p>
            <a:pPr marL="0" indent="0">
              <a:buNone/>
            </a:pPr>
            <a:r>
              <a:rPr lang="de-DE" dirty="0"/>
              <a:t>Welche Aspekte deiner Gefühle, Gedanken und Assoziationen möchtest du mitteilen?</a:t>
            </a:r>
          </a:p>
          <a:p>
            <a:pPr marL="0" indent="0">
              <a:buNone/>
            </a:pPr>
            <a:endParaRPr lang="de-DE" dirty="0"/>
          </a:p>
          <a:p>
            <a:pPr marL="0" indent="0">
              <a:buNone/>
            </a:pPr>
            <a:r>
              <a:rPr lang="de-DE" i="1" dirty="0">
                <a:solidFill>
                  <a:srgbClr val="00B050"/>
                </a:solidFill>
              </a:rPr>
              <a:t>Wir beachten das Prinzip der Freiwilligkeit!</a:t>
            </a:r>
            <a:endParaRPr lang="de-DE" dirty="0"/>
          </a:p>
          <a:p>
            <a:pPr marL="0" indent="0">
              <a:buNone/>
            </a:pPr>
            <a:endParaRPr lang="de-DE" dirty="0"/>
          </a:p>
          <a:p>
            <a:pPr marL="0" lvl="0" indent="0">
              <a:buNone/>
            </a:pPr>
            <a:endParaRPr lang="de-DE" dirty="0"/>
          </a:p>
          <a:p>
            <a:endParaRPr lang="de-DE" dirty="0"/>
          </a:p>
        </p:txBody>
      </p:sp>
      <p:sp>
        <p:nvSpPr>
          <p:cNvPr id="2059" name="Rectangle 2058">
            <a:extLst>
              <a:ext uri="{FF2B5EF4-FFF2-40B4-BE49-F238E27FC236}">
                <a16:creationId xmlns:a16="http://schemas.microsoft.com/office/drawing/2014/main" id="{25C61B0D-4970-9CE0-7E9A-DFCE9852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061" name="Rectangle 2060">
            <a:extLst>
              <a:ext uri="{FF2B5EF4-FFF2-40B4-BE49-F238E27FC236}">
                <a16:creationId xmlns:a16="http://schemas.microsoft.com/office/drawing/2014/main" id="{40B06E5B-71D0-922A-94E7-63B81EC2D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Tree>
    <p:extLst>
      <p:ext uri="{BB962C8B-B14F-4D97-AF65-F5344CB8AC3E}">
        <p14:creationId xmlns:p14="http://schemas.microsoft.com/office/powerpoint/2010/main" val="3629071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958DBC-F4DA-42A8-8C52-86017979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36B5612-1EA9-5C47-8E54-6A22E10ABDEE}"/>
              </a:ext>
            </a:extLst>
          </p:cNvPr>
          <p:cNvSpPr>
            <a:spLocks noGrp="1"/>
          </p:cNvSpPr>
          <p:nvPr>
            <p:ph type="title"/>
          </p:nvPr>
        </p:nvSpPr>
        <p:spPr>
          <a:xfrm>
            <a:off x="4257965" y="634947"/>
            <a:ext cx="7291778" cy="1098746"/>
          </a:xfrm>
        </p:spPr>
        <p:txBody>
          <a:bodyPr>
            <a:normAutofit/>
          </a:bodyPr>
          <a:lstStyle/>
          <a:p>
            <a:r>
              <a:rPr lang="de-DE" b="1" dirty="0"/>
              <a:t>1. Wahrnehmen und Erleben</a:t>
            </a:r>
          </a:p>
        </p:txBody>
      </p:sp>
      <p:pic>
        <p:nvPicPr>
          <p:cNvPr id="4" name="Grafik 3" descr="Ein Bild, das Text, Karte Menü, Brief, Buch enthält.&#10;&#10;Automatisch generierte Beschreibung">
            <a:extLst>
              <a:ext uri="{FF2B5EF4-FFF2-40B4-BE49-F238E27FC236}">
                <a16:creationId xmlns:a16="http://schemas.microsoft.com/office/drawing/2014/main" id="{93725FE2-E3EA-A103-4648-4CA1F7AF188E}"/>
              </a:ext>
            </a:extLst>
          </p:cNvPr>
          <p:cNvPicPr>
            <a:picLocks noChangeAspect="1"/>
          </p:cNvPicPr>
          <p:nvPr/>
        </p:nvPicPr>
        <p:blipFill rotWithShape="1">
          <a:blip r:embed="rId2"/>
          <a:srcRect l="39124" r="-1" b="-1"/>
          <a:stretch/>
        </p:blipFill>
        <p:spPr>
          <a:xfrm>
            <a:off x="1525899" y="581098"/>
            <a:ext cx="2236497" cy="2476136"/>
          </a:xfrm>
          <a:prstGeom prst="rect">
            <a:avLst/>
          </a:prstGeom>
        </p:spPr>
      </p:pic>
      <p:cxnSp>
        <p:nvCxnSpPr>
          <p:cNvPr id="12" name="Straight Connector 11">
            <a:extLst>
              <a:ext uri="{FF2B5EF4-FFF2-40B4-BE49-F238E27FC236}">
                <a16:creationId xmlns:a16="http://schemas.microsoft.com/office/drawing/2014/main" id="{79FCC9A9-2031-4283-9B27-34B62BB7F3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6B264D9D-F3A9-84C4-0854-63912EB9487F}"/>
              </a:ext>
            </a:extLst>
          </p:cNvPr>
          <p:cNvPicPr>
            <a:picLocks noChangeAspect="1"/>
          </p:cNvPicPr>
          <p:nvPr/>
        </p:nvPicPr>
        <p:blipFill>
          <a:blip r:embed="rId3"/>
          <a:stretch>
            <a:fillRect/>
          </a:stretch>
        </p:blipFill>
        <p:spPr>
          <a:xfrm>
            <a:off x="1634041" y="3218101"/>
            <a:ext cx="2020212" cy="2476136"/>
          </a:xfrm>
          <a:prstGeom prst="rect">
            <a:avLst/>
          </a:prstGeom>
        </p:spPr>
      </p:pic>
      <p:sp>
        <p:nvSpPr>
          <p:cNvPr id="3" name="Inhaltsplatzhalter 2">
            <a:extLst>
              <a:ext uri="{FF2B5EF4-FFF2-40B4-BE49-F238E27FC236}">
                <a16:creationId xmlns:a16="http://schemas.microsoft.com/office/drawing/2014/main" id="{0E9D3C08-EB64-5749-8450-BDDE3E820E7C}"/>
              </a:ext>
            </a:extLst>
          </p:cNvPr>
          <p:cNvSpPr>
            <a:spLocks noGrp="1"/>
          </p:cNvSpPr>
          <p:nvPr>
            <p:ph idx="1"/>
          </p:nvPr>
        </p:nvSpPr>
        <p:spPr>
          <a:xfrm>
            <a:off x="4368801" y="2086188"/>
            <a:ext cx="7180942" cy="3782906"/>
          </a:xfrm>
        </p:spPr>
        <p:txBody>
          <a:bodyPr>
            <a:normAutofit/>
          </a:bodyPr>
          <a:lstStyle/>
          <a:p>
            <a:pPr marL="0" indent="0">
              <a:buNone/>
            </a:pPr>
            <a:r>
              <a:rPr lang="de-DE" b="1" dirty="0"/>
              <a:t>Arbeitsauftrag II: </a:t>
            </a:r>
          </a:p>
          <a:p>
            <a:pPr marL="457200" marR="0" lvl="0" indent="-457200" defTabSz="914400" rtl="0" eaLnBrk="1" fontAlgn="auto" latinLnBrk="0" hangingPunct="1">
              <a:spcBef>
                <a:spcPts val="1200"/>
              </a:spcBef>
              <a:spcAft>
                <a:spcPts val="200"/>
              </a:spcAft>
              <a:buClr>
                <a:srgbClr val="E48312"/>
              </a:buClr>
              <a:buSzPct val="100000"/>
              <a:buFont typeface="+mj-lt"/>
              <a:buAutoNum type="arabicPeriod"/>
              <a:tabLst/>
              <a:defRPr/>
            </a:pPr>
            <a:r>
              <a:rPr kumimoji="0" lang="de-DE" b="0" i="0" u="none" strike="noStrike" kern="1200" cap="none" spc="0" normalizeH="0" baseline="0" noProof="0" dirty="0">
                <a:ln>
                  <a:noFill/>
                </a:ln>
                <a:effectLst/>
                <a:uLnTx/>
                <a:uFillTx/>
                <a:latin typeface="Calibri" panose="020F0502020204030204"/>
                <a:ea typeface="+mn-ea"/>
                <a:cs typeface="+mn-cs"/>
              </a:rPr>
              <a:t>Lest Euch nun die Leitfragen zum Film (S. 2) durch.  </a:t>
            </a:r>
            <a:r>
              <a:rPr kumimoji="0" lang="de-DE" b="0" i="0" u="none" strike="noStrike" kern="1200" cap="none" spc="0" normalizeH="0" baseline="0" noProof="0" dirty="0">
                <a:ln>
                  <a:noFill/>
                </a:ln>
                <a:solidFill>
                  <a:srgbClr val="FF0000"/>
                </a:solidFill>
                <a:effectLst/>
                <a:uLnTx/>
                <a:uFillTx/>
                <a:latin typeface="Calibri" panose="020F0502020204030204"/>
                <a:ea typeface="+mn-ea"/>
                <a:cs typeface="+mn-cs"/>
              </a:rPr>
              <a:t>5 Min</a:t>
            </a:r>
          </a:p>
          <a:p>
            <a:pPr marL="457200" marR="0" lvl="0" indent="-457200" defTabSz="914400" rtl="0" eaLnBrk="1" fontAlgn="auto" latinLnBrk="0" hangingPunct="1">
              <a:spcBef>
                <a:spcPts val="1200"/>
              </a:spcBef>
              <a:spcAft>
                <a:spcPts val="200"/>
              </a:spcAft>
              <a:buClr>
                <a:srgbClr val="E48312"/>
              </a:buClr>
              <a:buSzPct val="100000"/>
              <a:buFont typeface="+mj-lt"/>
              <a:buAutoNum type="arabicPeriod"/>
              <a:tabLst/>
              <a:defRPr/>
            </a:pPr>
            <a:r>
              <a:rPr lang="de-DE" dirty="0"/>
              <a:t>Wir schauen gemeinsam den Film „Post für Herrn Gaddafi“ an.					                    </a:t>
            </a:r>
            <a:r>
              <a:rPr lang="de-DE" dirty="0">
                <a:solidFill>
                  <a:srgbClr val="FF0000"/>
                </a:solidFill>
              </a:rPr>
              <a:t>40 Min</a:t>
            </a:r>
          </a:p>
          <a:p>
            <a:pPr marL="457200" indent="-457200">
              <a:buFont typeface="+mj-lt"/>
              <a:buAutoNum type="arabicPeriod"/>
            </a:pPr>
            <a:r>
              <a:rPr lang="de-DE" dirty="0"/>
              <a:t>Tauscht Euch im Anschluss in einer kurzen Murmelrunde aus. </a:t>
            </a:r>
          </a:p>
          <a:p>
            <a:pPr marL="0" indent="0">
              <a:buNone/>
            </a:pPr>
            <a:r>
              <a:rPr lang="de-DE" dirty="0"/>
              <a:t>						     </a:t>
            </a:r>
            <a:r>
              <a:rPr lang="de-DE" dirty="0">
                <a:solidFill>
                  <a:srgbClr val="FF0000"/>
                </a:solidFill>
              </a:rPr>
              <a:t>10 Min.</a:t>
            </a:r>
          </a:p>
          <a:p>
            <a:pPr marL="0" indent="0">
              <a:buNone/>
            </a:pPr>
            <a:r>
              <a:rPr lang="de-DE" dirty="0">
                <a:solidFill>
                  <a:schemeClr val="accent2">
                    <a:lumMod val="60000"/>
                    <a:lumOff val="40000"/>
                  </a:schemeClr>
                </a:solidFill>
              </a:rPr>
              <a:t>4.     </a:t>
            </a:r>
            <a:r>
              <a:rPr lang="de-DE" dirty="0"/>
              <a:t>Wir sammeln Eure wichtigsten Erkenntnisse im Plenum. </a:t>
            </a:r>
            <a:r>
              <a:rPr lang="de-DE" dirty="0">
                <a:solidFill>
                  <a:srgbClr val="FF0000"/>
                </a:solidFill>
              </a:rPr>
              <a:t>5 Min.</a:t>
            </a:r>
          </a:p>
          <a:p>
            <a:pPr marL="0" indent="0">
              <a:buNone/>
            </a:pPr>
            <a:endParaRPr lang="de-DE" dirty="0"/>
          </a:p>
          <a:p>
            <a:pPr marL="201168" lvl="1" indent="0">
              <a:buNone/>
            </a:pPr>
            <a:r>
              <a:rPr lang="de-DE" b="1" dirty="0">
                <a:solidFill>
                  <a:srgbClr val="00B050"/>
                </a:solidFill>
              </a:rPr>
              <a:t>	Wir beachten das Prinzip der Freiwilligkeit! </a:t>
            </a:r>
          </a:p>
          <a:p>
            <a:pPr lvl="1">
              <a:buFont typeface="Wingdings" panose="05000000000000000000" pitchFamily="2" charset="2"/>
              <a:buChar char="§"/>
            </a:pPr>
            <a:endParaRPr lang="de-DE" dirty="0"/>
          </a:p>
          <a:p>
            <a:pPr marL="201168" lvl="1" indent="0">
              <a:buNone/>
            </a:pPr>
            <a:endParaRPr lang="de-DE" dirty="0"/>
          </a:p>
          <a:p>
            <a:pPr marL="0" indent="0">
              <a:buNone/>
            </a:pPr>
            <a:endParaRPr lang="de-DE" dirty="0"/>
          </a:p>
        </p:txBody>
      </p:sp>
      <p:sp>
        <p:nvSpPr>
          <p:cNvPr id="14" name="Rectangle 13">
            <a:extLst>
              <a:ext uri="{FF2B5EF4-FFF2-40B4-BE49-F238E27FC236}">
                <a16:creationId xmlns:a16="http://schemas.microsoft.com/office/drawing/2014/main" id="{51DDD252-D7C8-4CE5-9C61-D60D722BC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16" name="Rectangle 15">
            <a:extLst>
              <a:ext uri="{FF2B5EF4-FFF2-40B4-BE49-F238E27FC236}">
                <a16:creationId xmlns:a16="http://schemas.microsoft.com/office/drawing/2014/main" id="{2FBD75F5-C49C-4F6A-8D43-7A5939C23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Tree>
    <p:extLst>
      <p:ext uri="{BB962C8B-B14F-4D97-AF65-F5344CB8AC3E}">
        <p14:creationId xmlns:p14="http://schemas.microsoft.com/office/powerpoint/2010/main" val="3512022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5DAF7D-2ED1-22B4-D293-19754AD89939}"/>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BF36E2F-98A5-5725-9711-BB57DC873B00}"/>
              </a:ext>
            </a:extLst>
          </p:cNvPr>
          <p:cNvSpPr>
            <a:spLocks noGrp="1"/>
          </p:cNvSpPr>
          <p:nvPr>
            <p:ph type="title"/>
          </p:nvPr>
        </p:nvSpPr>
        <p:spPr>
          <a:xfrm>
            <a:off x="4974771" y="634946"/>
            <a:ext cx="6574972" cy="1450757"/>
          </a:xfrm>
        </p:spPr>
        <p:txBody>
          <a:bodyPr>
            <a:normAutofit/>
          </a:bodyPr>
          <a:lstStyle/>
          <a:p>
            <a:r>
              <a:rPr lang="de-DE" b="1" dirty="0"/>
              <a:t>1. Wahrnehmen und Erleben</a:t>
            </a:r>
            <a:endParaRPr lang="de-DE" dirty="0"/>
          </a:p>
        </p:txBody>
      </p:sp>
      <p:pic>
        <p:nvPicPr>
          <p:cNvPr id="2050" name="Picture 2" descr="Gedanken und Gefühle – Seminarmethode – Start">
            <a:extLst>
              <a:ext uri="{FF2B5EF4-FFF2-40B4-BE49-F238E27FC236}">
                <a16:creationId xmlns:a16="http://schemas.microsoft.com/office/drawing/2014/main" id="{AA6FB3B5-AE00-8ECA-AA94-D6CA47BA0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2380"/>
          <a:stretch>
            <a:fillRect/>
          </a:stretch>
        </p:blipFill>
        <p:spPr bwMode="auto">
          <a:xfrm>
            <a:off x="633999" y="640081"/>
            <a:ext cx="4001315" cy="5389244"/>
          </a:xfrm>
          <a:prstGeom prst="rect">
            <a:avLst/>
          </a:pr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23CFEDCC-102E-56F2-917B-DC58EFE800B9}"/>
              </a:ext>
            </a:extLst>
          </p:cNvPr>
          <p:cNvSpPr>
            <a:spLocks noGrp="1"/>
          </p:cNvSpPr>
          <p:nvPr>
            <p:ph idx="1"/>
          </p:nvPr>
        </p:nvSpPr>
        <p:spPr>
          <a:xfrm>
            <a:off x="4974769" y="2198914"/>
            <a:ext cx="6574973" cy="3670180"/>
          </a:xfrm>
        </p:spPr>
        <p:txBody>
          <a:bodyPr>
            <a:normAutofit/>
          </a:bodyPr>
          <a:lstStyle/>
          <a:p>
            <a:pPr marL="0" indent="0">
              <a:buNone/>
            </a:pPr>
            <a:r>
              <a:rPr lang="de-DE" u="sng" dirty="0"/>
              <a:t>Austauschrunde im Plenum:</a:t>
            </a:r>
          </a:p>
          <a:p>
            <a:pPr marL="0" indent="0">
              <a:buNone/>
            </a:pPr>
            <a:r>
              <a:rPr lang="de-DE" dirty="0"/>
              <a:t>Welche Aspekte deiner Gefühle, Gedanken und Assoziationen möchtest du mitteilen?</a:t>
            </a:r>
          </a:p>
          <a:p>
            <a:pPr marL="0" indent="0">
              <a:buNone/>
            </a:pPr>
            <a:endParaRPr lang="de-DE" dirty="0"/>
          </a:p>
          <a:p>
            <a:pPr marL="0" indent="0">
              <a:buNone/>
            </a:pPr>
            <a:r>
              <a:rPr lang="de-DE" i="1" dirty="0">
                <a:solidFill>
                  <a:srgbClr val="00B050"/>
                </a:solidFill>
              </a:rPr>
              <a:t>Wir beachten das Prinzip der Freiwilligkeit!</a:t>
            </a:r>
            <a:endParaRPr lang="de-DE" dirty="0"/>
          </a:p>
          <a:p>
            <a:pPr marL="0" indent="0">
              <a:buNone/>
            </a:pPr>
            <a:endParaRPr lang="de-DE" dirty="0"/>
          </a:p>
          <a:p>
            <a:pPr marL="0" lvl="0" indent="0">
              <a:buNone/>
            </a:pPr>
            <a:endParaRPr lang="de-DE" dirty="0"/>
          </a:p>
          <a:p>
            <a:endParaRPr lang="de-DE" dirty="0"/>
          </a:p>
        </p:txBody>
      </p:sp>
      <p:sp>
        <p:nvSpPr>
          <p:cNvPr id="2059" name="Rectangle 2058">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061" name="Rectangle 2060">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Tree>
    <p:extLst>
      <p:ext uri="{BB962C8B-B14F-4D97-AF65-F5344CB8AC3E}">
        <p14:creationId xmlns:p14="http://schemas.microsoft.com/office/powerpoint/2010/main" val="957236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EB4A97-0D83-BAB7-8261-A7A761D51077}"/>
              </a:ext>
            </a:extLst>
          </p:cNvPr>
          <p:cNvSpPr>
            <a:spLocks noGrp="1"/>
          </p:cNvSpPr>
          <p:nvPr>
            <p:ph type="title"/>
          </p:nvPr>
        </p:nvSpPr>
        <p:spPr>
          <a:xfrm>
            <a:off x="477078" y="516835"/>
            <a:ext cx="3100136" cy="1663449"/>
          </a:xfrm>
        </p:spPr>
        <p:txBody>
          <a:bodyPr>
            <a:normAutofit/>
          </a:bodyPr>
          <a:lstStyle/>
          <a:p>
            <a:r>
              <a:rPr lang="de-DE" sz="3600" dirty="0"/>
              <a:t>2. Verstehen und Analysieren</a:t>
            </a:r>
            <a:br>
              <a:rPr lang="de-DE" sz="3600" dirty="0"/>
            </a:br>
            <a:endParaRPr lang="de-DE" sz="3600" dirty="0"/>
          </a:p>
        </p:txBody>
      </p:sp>
      <p:sp>
        <p:nvSpPr>
          <p:cNvPr id="3" name="Inhaltsplatzhalter 2">
            <a:extLst>
              <a:ext uri="{FF2B5EF4-FFF2-40B4-BE49-F238E27FC236}">
                <a16:creationId xmlns:a16="http://schemas.microsoft.com/office/drawing/2014/main" id="{2F0B14F2-7416-E18D-D8BC-E56C37CC31F7}"/>
              </a:ext>
            </a:extLst>
          </p:cNvPr>
          <p:cNvSpPr>
            <a:spLocks noGrp="1"/>
          </p:cNvSpPr>
          <p:nvPr>
            <p:ph idx="1"/>
          </p:nvPr>
        </p:nvSpPr>
        <p:spPr>
          <a:xfrm>
            <a:off x="492371" y="2180284"/>
            <a:ext cx="3084844" cy="3922337"/>
          </a:xfrm>
        </p:spPr>
        <p:txBody>
          <a:bodyPr>
            <a:normAutofit/>
          </a:bodyPr>
          <a:lstStyle/>
          <a:p>
            <a:r>
              <a:rPr lang="de-DE" dirty="0"/>
              <a:t>Phasenziel: </a:t>
            </a:r>
          </a:p>
          <a:p>
            <a:r>
              <a:rPr lang="de-DE" dirty="0"/>
              <a:t>Die </a:t>
            </a:r>
            <a:r>
              <a:rPr lang="de-DE" dirty="0" err="1"/>
              <a:t>Schüler:innen</a:t>
            </a:r>
            <a:r>
              <a:rPr lang="de-DE" dirty="0"/>
              <a:t> vergleichen unterschiedliche Perspektiven auf das Thema Partizipation und pädagogische Grundhaltung. </a:t>
            </a:r>
          </a:p>
          <a:p>
            <a:r>
              <a:rPr lang="de-DE" dirty="0"/>
              <a:t>Die </a:t>
            </a:r>
            <a:r>
              <a:rPr lang="de-DE" dirty="0" err="1"/>
              <a:t>Schüler:innen</a:t>
            </a:r>
            <a:r>
              <a:rPr lang="de-DE" dirty="0"/>
              <a:t> entwickeln erste fachliche Ideen, Vermutungen und Fragen und bilden Arbeitshypothesen.</a:t>
            </a:r>
          </a:p>
        </p:txBody>
      </p:sp>
      <p:pic>
        <p:nvPicPr>
          <p:cNvPr id="6" name="Inhaltsplatzhalter 3" descr="Ein Bild, das Text, Screenshot, Diagramm, Schrift enthält.&#10;&#10;Automatisch generierte Beschreibung">
            <a:extLst>
              <a:ext uri="{FF2B5EF4-FFF2-40B4-BE49-F238E27FC236}">
                <a16:creationId xmlns:a16="http://schemas.microsoft.com/office/drawing/2014/main" id="{7AAFC86B-4EE3-5F00-16A2-6B4DCD46EFD5}"/>
              </a:ext>
            </a:extLst>
          </p:cNvPr>
          <p:cNvPicPr>
            <a:picLocks noChangeAspect="1"/>
          </p:cNvPicPr>
          <p:nvPr/>
        </p:nvPicPr>
        <p:blipFill rotWithShape="1">
          <a:blip r:embed="rId2"/>
          <a:srcRect l="12004" r="12005" b="1"/>
          <a:stretch/>
        </p:blipFill>
        <p:spPr>
          <a:xfrm>
            <a:off x="4075043" y="10"/>
            <a:ext cx="8111272" cy="6857990"/>
          </a:xfrm>
          <a:prstGeom prst="rect">
            <a:avLst/>
          </a:prstGeom>
        </p:spPr>
      </p:pic>
      <p:sp>
        <p:nvSpPr>
          <p:cNvPr id="14" name="Pfeil: nach rechts 13">
            <a:extLst>
              <a:ext uri="{FF2B5EF4-FFF2-40B4-BE49-F238E27FC236}">
                <a16:creationId xmlns:a16="http://schemas.microsoft.com/office/drawing/2014/main" id="{80DF8521-2740-8AC4-BAD0-D71DB61EB5E3}"/>
              </a:ext>
            </a:extLst>
          </p:cNvPr>
          <p:cNvSpPr/>
          <p:nvPr/>
        </p:nvSpPr>
        <p:spPr>
          <a:xfrm flipH="1">
            <a:off x="10218971" y="2180284"/>
            <a:ext cx="1967344" cy="111258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4302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6B5612-1EA9-5C47-8E54-6A22E10ABDEE}"/>
              </a:ext>
            </a:extLst>
          </p:cNvPr>
          <p:cNvSpPr>
            <a:spLocks noGrp="1"/>
          </p:cNvSpPr>
          <p:nvPr>
            <p:ph type="title"/>
          </p:nvPr>
        </p:nvSpPr>
        <p:spPr>
          <a:xfrm>
            <a:off x="1097280" y="286603"/>
            <a:ext cx="10058400" cy="1450757"/>
          </a:xfrm>
        </p:spPr>
        <p:txBody>
          <a:bodyPr>
            <a:normAutofit/>
          </a:bodyPr>
          <a:lstStyle/>
          <a:p>
            <a:r>
              <a:rPr lang="de-DE" b="1" dirty="0"/>
              <a:t>2. Verstehen und Analysieren</a:t>
            </a:r>
          </a:p>
        </p:txBody>
      </p:sp>
      <p:sp>
        <p:nvSpPr>
          <p:cNvPr id="3" name="Inhaltsplatzhalter 2">
            <a:extLst>
              <a:ext uri="{FF2B5EF4-FFF2-40B4-BE49-F238E27FC236}">
                <a16:creationId xmlns:a16="http://schemas.microsoft.com/office/drawing/2014/main" id="{0E9D3C08-EB64-5749-8450-BDDE3E820E7C}"/>
              </a:ext>
            </a:extLst>
          </p:cNvPr>
          <p:cNvSpPr>
            <a:spLocks noGrp="1"/>
          </p:cNvSpPr>
          <p:nvPr>
            <p:ph idx="1"/>
          </p:nvPr>
        </p:nvSpPr>
        <p:spPr>
          <a:xfrm>
            <a:off x="1097279" y="1845734"/>
            <a:ext cx="6454987" cy="4023360"/>
          </a:xfrm>
        </p:spPr>
        <p:txBody>
          <a:bodyPr>
            <a:normAutofit/>
          </a:bodyPr>
          <a:lstStyle/>
          <a:p>
            <a:pPr marL="0" indent="0">
              <a:buNone/>
            </a:pPr>
            <a:r>
              <a:rPr lang="de-DE" b="1" dirty="0"/>
              <a:t>Arbeitsauftrag: </a:t>
            </a:r>
          </a:p>
          <a:p>
            <a:pPr marL="457200" indent="-457200">
              <a:buFont typeface="+mj-lt"/>
              <a:buAutoNum type="arabicPeriod"/>
            </a:pPr>
            <a:r>
              <a:rPr lang="de-DE" dirty="0"/>
              <a:t>Nehmt stellvertretend anhand des Films „Post für Herrn Gaddafi“, die Perspektiven von:</a:t>
            </a:r>
          </a:p>
          <a:p>
            <a:pPr marL="749808" lvl="1" indent="-457200">
              <a:buFont typeface="+mj-lt"/>
              <a:buAutoNum type="arabicPeriod"/>
            </a:pPr>
            <a:r>
              <a:rPr lang="de-DE" b="1" dirty="0"/>
              <a:t>Kind</a:t>
            </a:r>
            <a:r>
              <a:rPr lang="de-DE" dirty="0"/>
              <a:t>, </a:t>
            </a:r>
          </a:p>
          <a:p>
            <a:pPr marL="749808" lvl="1" indent="-457200">
              <a:buFont typeface="+mj-lt"/>
              <a:buAutoNum type="arabicPeriod"/>
            </a:pPr>
            <a:r>
              <a:rPr lang="de-DE" b="1" dirty="0"/>
              <a:t>Fachkraft/ Team </a:t>
            </a:r>
            <a:r>
              <a:rPr lang="de-DE" dirty="0"/>
              <a:t>und </a:t>
            </a:r>
          </a:p>
          <a:p>
            <a:pPr marL="749808" lvl="1" indent="-457200">
              <a:buFont typeface="+mj-lt"/>
              <a:buAutoNum type="arabicPeriod"/>
            </a:pPr>
            <a:r>
              <a:rPr lang="de-DE" b="1" dirty="0"/>
              <a:t>Eltern </a:t>
            </a:r>
            <a:r>
              <a:rPr lang="de-DE" dirty="0"/>
              <a:t>ein. (Eure gezogene Zahl zeigt euch eure Gruppe an.)</a:t>
            </a:r>
          </a:p>
          <a:p>
            <a:pPr marL="457200" indent="-457200">
              <a:buFont typeface="+mj-lt"/>
              <a:buAutoNum type="arabicPeriod"/>
            </a:pPr>
            <a:r>
              <a:rPr lang="de-DE" dirty="0"/>
              <a:t>Orientiert Euch dabei an den Leitfragen zum Perspektivwechsel.</a:t>
            </a:r>
          </a:p>
          <a:p>
            <a:pPr marL="457200" indent="-457200">
              <a:buFont typeface="+mj-lt"/>
              <a:buAutoNum type="arabicPeriod"/>
            </a:pPr>
            <a:r>
              <a:rPr lang="de-DE" dirty="0"/>
              <a:t>Macht Notizen auf einem Whiteboard.	</a:t>
            </a:r>
            <a:r>
              <a:rPr lang="de-DE" b="1" dirty="0">
                <a:solidFill>
                  <a:srgbClr val="00B050"/>
                </a:solidFill>
              </a:rPr>
              <a:t>Zeit: 10 Min.</a:t>
            </a:r>
          </a:p>
          <a:p>
            <a:pPr marL="457200" indent="-457200">
              <a:buFont typeface="+mj-lt"/>
              <a:buAutoNum type="arabicPeriod"/>
            </a:pPr>
            <a:r>
              <a:rPr lang="de-DE" dirty="0"/>
              <a:t>Wir besprechen eure Ergebnisse im Plenum. </a:t>
            </a:r>
          </a:p>
          <a:p>
            <a:pPr marL="457200" indent="-457200">
              <a:buFont typeface="+mj-lt"/>
              <a:buAutoNum type="arabicPeriod"/>
            </a:pPr>
            <a:endParaRPr lang="de-DE" dirty="0"/>
          </a:p>
          <a:p>
            <a:pPr marL="0" indent="0">
              <a:buNone/>
            </a:pPr>
            <a:endParaRPr lang="de-DE" dirty="0"/>
          </a:p>
          <a:p>
            <a:pPr lvl="1">
              <a:buFont typeface="Wingdings" panose="05000000000000000000" pitchFamily="2" charset="2"/>
              <a:buChar char="§"/>
            </a:pPr>
            <a:endParaRPr lang="de-DE" dirty="0"/>
          </a:p>
          <a:p>
            <a:pPr marL="201168" lvl="1" indent="0">
              <a:buNone/>
            </a:pPr>
            <a:endParaRPr lang="de-DE" dirty="0"/>
          </a:p>
          <a:p>
            <a:pPr marL="0" indent="0">
              <a:buNone/>
            </a:pPr>
            <a:endParaRPr lang="de-DE" dirty="0"/>
          </a:p>
        </p:txBody>
      </p:sp>
      <p:pic>
        <p:nvPicPr>
          <p:cNvPr id="5" name="Grafik 4">
            <a:extLst>
              <a:ext uri="{FF2B5EF4-FFF2-40B4-BE49-F238E27FC236}">
                <a16:creationId xmlns:a16="http://schemas.microsoft.com/office/drawing/2014/main" id="{B18A1831-196A-AD7A-FE45-22A5977284AF}"/>
              </a:ext>
            </a:extLst>
          </p:cNvPr>
          <p:cNvPicPr>
            <a:picLocks noChangeAspect="1"/>
          </p:cNvPicPr>
          <p:nvPr/>
        </p:nvPicPr>
        <p:blipFill>
          <a:blip r:embed="rId2"/>
          <a:stretch>
            <a:fillRect/>
          </a:stretch>
        </p:blipFill>
        <p:spPr>
          <a:xfrm>
            <a:off x="8280384" y="1916318"/>
            <a:ext cx="2615480" cy="3471012"/>
          </a:xfrm>
          <a:prstGeom prst="rect">
            <a:avLst/>
          </a:prstGeom>
        </p:spPr>
      </p:pic>
    </p:spTree>
    <p:extLst>
      <p:ext uri="{BB962C8B-B14F-4D97-AF65-F5344CB8AC3E}">
        <p14:creationId xmlns:p14="http://schemas.microsoft.com/office/powerpoint/2010/main" val="944759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6B5612-1EA9-5C47-8E54-6A22E10ABDEE}"/>
              </a:ext>
            </a:extLst>
          </p:cNvPr>
          <p:cNvSpPr>
            <a:spLocks noGrp="1"/>
          </p:cNvSpPr>
          <p:nvPr>
            <p:ph type="title"/>
          </p:nvPr>
        </p:nvSpPr>
        <p:spPr/>
        <p:txBody>
          <a:bodyPr>
            <a:normAutofit/>
          </a:bodyPr>
          <a:lstStyle/>
          <a:p>
            <a:r>
              <a:rPr lang="de-DE" sz="4000" b="1" dirty="0"/>
              <a:t>2. Verstehen und Analysieren</a:t>
            </a:r>
          </a:p>
        </p:txBody>
      </p:sp>
      <p:sp>
        <p:nvSpPr>
          <p:cNvPr id="3" name="Inhaltsplatzhalter 2">
            <a:extLst>
              <a:ext uri="{FF2B5EF4-FFF2-40B4-BE49-F238E27FC236}">
                <a16:creationId xmlns:a16="http://schemas.microsoft.com/office/drawing/2014/main" id="{0E9D3C08-EB64-5749-8450-BDDE3E820E7C}"/>
              </a:ext>
            </a:extLst>
          </p:cNvPr>
          <p:cNvSpPr>
            <a:spLocks noGrp="1"/>
          </p:cNvSpPr>
          <p:nvPr>
            <p:ph idx="1"/>
          </p:nvPr>
        </p:nvSpPr>
        <p:spPr/>
        <p:txBody>
          <a:bodyPr>
            <a:normAutofit/>
          </a:bodyPr>
          <a:lstStyle/>
          <a:p>
            <a:pPr marL="0" indent="0">
              <a:buNone/>
            </a:pPr>
            <a:r>
              <a:rPr lang="de-DE" sz="2000" b="1" dirty="0">
                <a:solidFill>
                  <a:schemeClr val="tx1"/>
                </a:solidFill>
              </a:rPr>
              <a:t>Entwickelt erste fachliche Ideen und Vermutungen, um die Herausforderungen von partizipativen Prozessen in der Praxis zu meistern:</a:t>
            </a:r>
          </a:p>
          <a:p>
            <a:pPr marL="0" indent="0">
              <a:buNone/>
            </a:pPr>
            <a:r>
              <a:rPr lang="de-DE" dirty="0">
                <a:solidFill>
                  <a:schemeClr val="tx1"/>
                </a:solidFill>
              </a:rPr>
              <a:t>Was müssen wir wissen/ können, um den Anforderungen in der Praxis gerecht zu werden? </a:t>
            </a:r>
          </a:p>
          <a:p>
            <a:pPr marL="0" indent="0">
              <a:buNone/>
            </a:pPr>
            <a:r>
              <a:rPr lang="de-DE" dirty="0">
                <a:solidFill>
                  <a:srgbClr val="00B050"/>
                </a:solidFill>
              </a:rPr>
              <a:t>(10 Min.)</a:t>
            </a:r>
          </a:p>
          <a:p>
            <a:pPr marL="0" indent="0">
              <a:buNone/>
            </a:pPr>
            <a:endParaRPr lang="de-DE" dirty="0">
              <a:solidFill>
                <a:schemeClr val="tx1"/>
              </a:solidFill>
            </a:endParaRPr>
          </a:p>
          <a:p>
            <a:pPr marL="0" indent="0">
              <a:buNone/>
            </a:pPr>
            <a:endParaRPr lang="de-DE" dirty="0"/>
          </a:p>
          <a:p>
            <a:pPr marL="201168" lvl="1" indent="0">
              <a:buNone/>
            </a:pPr>
            <a:endParaRPr lang="de-DE" dirty="0"/>
          </a:p>
          <a:p>
            <a:pPr marL="0" indent="0">
              <a:buNone/>
            </a:pPr>
            <a:endParaRPr lang="de-DE" dirty="0"/>
          </a:p>
        </p:txBody>
      </p:sp>
    </p:spTree>
    <p:extLst>
      <p:ext uri="{BB962C8B-B14F-4D97-AF65-F5344CB8AC3E}">
        <p14:creationId xmlns:p14="http://schemas.microsoft.com/office/powerpoint/2010/main" val="2636800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5C1A45-EC13-AE7A-2F6E-B4C32C62163A}"/>
              </a:ext>
            </a:extLst>
          </p:cNvPr>
          <p:cNvSpPr>
            <a:spLocks noGrp="1"/>
          </p:cNvSpPr>
          <p:nvPr>
            <p:ph type="title"/>
          </p:nvPr>
        </p:nvSpPr>
        <p:spPr>
          <a:xfrm>
            <a:off x="1097280" y="286603"/>
            <a:ext cx="10058400" cy="1450757"/>
          </a:xfrm>
        </p:spPr>
        <p:txBody>
          <a:bodyPr>
            <a:normAutofit/>
          </a:bodyPr>
          <a:lstStyle/>
          <a:p>
            <a:r>
              <a:rPr lang="de-DE" sz="4000" b="1" dirty="0"/>
              <a:t>2. Verstehen und Analysieren</a:t>
            </a:r>
            <a:endParaRPr lang="de-DE" sz="4000" dirty="0"/>
          </a:p>
        </p:txBody>
      </p:sp>
      <p:pic>
        <p:nvPicPr>
          <p:cNvPr id="4" name="Inhaltsplatzhalter 3">
            <a:extLst>
              <a:ext uri="{FF2B5EF4-FFF2-40B4-BE49-F238E27FC236}">
                <a16:creationId xmlns:a16="http://schemas.microsoft.com/office/drawing/2014/main" id="{AC0F7183-1103-259A-3177-8D094F4A6F1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rot="204775">
            <a:off x="3020859" y="2416569"/>
            <a:ext cx="5940735" cy="2901289"/>
          </a:xfrm>
          <a:prstGeom prst="rect">
            <a:avLst/>
          </a:prstGeom>
          <a:noFill/>
          <a:ln>
            <a:noFill/>
          </a:ln>
        </p:spPr>
      </p:pic>
    </p:spTree>
    <p:extLst>
      <p:ext uri="{BB962C8B-B14F-4D97-AF65-F5344CB8AC3E}">
        <p14:creationId xmlns:p14="http://schemas.microsoft.com/office/powerpoint/2010/main" val="1151688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5C1A45-EC13-AE7A-2F6E-B4C32C62163A}"/>
              </a:ext>
            </a:extLst>
          </p:cNvPr>
          <p:cNvSpPr>
            <a:spLocks noGrp="1"/>
          </p:cNvSpPr>
          <p:nvPr>
            <p:ph type="title"/>
          </p:nvPr>
        </p:nvSpPr>
        <p:spPr>
          <a:xfrm>
            <a:off x="1097280" y="286603"/>
            <a:ext cx="10058400" cy="1450757"/>
          </a:xfrm>
        </p:spPr>
        <p:txBody>
          <a:bodyPr>
            <a:normAutofit/>
          </a:bodyPr>
          <a:lstStyle/>
          <a:p>
            <a:r>
              <a:rPr lang="de-DE" b="1" dirty="0"/>
              <a:t>2. Verstehen und Analysieren: </a:t>
            </a:r>
            <a:br>
              <a:rPr lang="de-DE" b="1" dirty="0"/>
            </a:br>
            <a:r>
              <a:rPr lang="de-DE" b="1" dirty="0"/>
              <a:t>Grundlagen Partizipation</a:t>
            </a:r>
            <a:endParaRPr lang="de-DE" dirty="0"/>
          </a:p>
        </p:txBody>
      </p:sp>
      <p:sp>
        <p:nvSpPr>
          <p:cNvPr id="3" name="Inhaltsplatzhalter 2">
            <a:extLst>
              <a:ext uri="{FF2B5EF4-FFF2-40B4-BE49-F238E27FC236}">
                <a16:creationId xmlns:a16="http://schemas.microsoft.com/office/drawing/2014/main" id="{581C200D-308D-2C6E-E7A6-89E3C00DF1D7}"/>
              </a:ext>
            </a:extLst>
          </p:cNvPr>
          <p:cNvSpPr>
            <a:spLocks noGrp="1"/>
          </p:cNvSpPr>
          <p:nvPr>
            <p:ph idx="1"/>
          </p:nvPr>
        </p:nvSpPr>
        <p:spPr>
          <a:xfrm>
            <a:off x="1097279" y="1845734"/>
            <a:ext cx="6454987" cy="4023360"/>
          </a:xfrm>
        </p:spPr>
        <p:txBody>
          <a:bodyPr>
            <a:normAutofit/>
          </a:bodyPr>
          <a:lstStyle/>
          <a:p>
            <a:endParaRPr lang="de-DE" b="1" dirty="0"/>
          </a:p>
          <a:p>
            <a:r>
              <a:rPr lang="de-DE" b="1" dirty="0"/>
              <a:t>Partizipation - eine Begriffsannäherung</a:t>
            </a:r>
          </a:p>
          <a:p>
            <a:pPr lvl="1">
              <a:buFont typeface="Wingdings" panose="05000000000000000000" pitchFamily="2" charset="2"/>
              <a:buChar char="§"/>
            </a:pPr>
            <a:r>
              <a:rPr lang="de-DE" dirty="0"/>
              <a:t>„Partizipation“ stammt aus dem Lateinischen: Wörtliche Übersetzung: „einen Teil (weg-)nehmen“</a:t>
            </a:r>
          </a:p>
          <a:p>
            <a:pPr lvl="1">
              <a:buFont typeface="Wingdings" panose="05000000000000000000" pitchFamily="2" charset="2"/>
              <a:buChar char="§"/>
            </a:pPr>
            <a:r>
              <a:rPr lang="de-DE" dirty="0"/>
              <a:t>wird im Deutschen umgangssprachlich als „Beteiligung, Teilhabe, Teilnahme, Mitwirkung, Mitbestimmung und Einbeziehung übersetzt</a:t>
            </a:r>
          </a:p>
          <a:p>
            <a:pPr lvl="1">
              <a:buFont typeface="Wingdings" panose="05000000000000000000" pitchFamily="2" charset="2"/>
              <a:buChar char="§"/>
            </a:pPr>
            <a:r>
              <a:rPr lang="de-DE" dirty="0"/>
              <a:t>Partizipation steht für die aktive Beteiligung Betroffener</a:t>
            </a:r>
          </a:p>
          <a:p>
            <a:pPr lvl="2">
              <a:buFont typeface="Symbol" panose="05050102010706020507" pitchFamily="18" charset="2"/>
              <a:buChar char="-"/>
            </a:pPr>
            <a:r>
              <a:rPr lang="de-DE" dirty="0"/>
              <a:t>Unmittelbare Umgebung/ eigener Wohnort</a:t>
            </a:r>
          </a:p>
          <a:p>
            <a:pPr lvl="2">
              <a:buFont typeface="Symbol" panose="05050102010706020507" pitchFamily="18" charset="2"/>
              <a:buChar char="-"/>
            </a:pPr>
            <a:r>
              <a:rPr lang="de-DE" dirty="0"/>
              <a:t>global</a:t>
            </a:r>
          </a:p>
          <a:p>
            <a:pPr lvl="1">
              <a:buFont typeface="Wingdings" panose="05000000000000000000" pitchFamily="2" charset="2"/>
              <a:buChar char="§"/>
            </a:pPr>
            <a:r>
              <a:rPr lang="de-DE" dirty="0"/>
              <a:t>Chance zur Mitgestaltung oder Selbstbestimmung</a:t>
            </a:r>
          </a:p>
        </p:txBody>
      </p:sp>
      <p:pic>
        <p:nvPicPr>
          <p:cNvPr id="6" name="Grafik 5" descr="Ein Bild, das Clipart, Text, Darstellung enthält.&#10;&#10;Automatisch generierte Beschreibung">
            <a:extLst>
              <a:ext uri="{FF2B5EF4-FFF2-40B4-BE49-F238E27FC236}">
                <a16:creationId xmlns:a16="http://schemas.microsoft.com/office/drawing/2014/main" id="{F31EF62E-1BD0-20CC-56BC-D5D44A3E7728}"/>
              </a:ext>
            </a:extLst>
          </p:cNvPr>
          <p:cNvPicPr>
            <a:picLocks noChangeAspect="1"/>
          </p:cNvPicPr>
          <p:nvPr/>
        </p:nvPicPr>
        <p:blipFill>
          <a:blip r:embed="rId2"/>
          <a:stretch>
            <a:fillRect/>
          </a:stretch>
        </p:blipFill>
        <p:spPr>
          <a:xfrm>
            <a:off x="8020570" y="2608688"/>
            <a:ext cx="3135109" cy="2086272"/>
          </a:xfrm>
          <a:prstGeom prst="rect">
            <a:avLst/>
          </a:prstGeom>
        </p:spPr>
      </p:pic>
    </p:spTree>
    <p:extLst>
      <p:ext uri="{BB962C8B-B14F-4D97-AF65-F5344CB8AC3E}">
        <p14:creationId xmlns:p14="http://schemas.microsoft.com/office/powerpoint/2010/main" val="1879119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5C1A45-EC13-AE7A-2F6E-B4C32C62163A}"/>
              </a:ext>
            </a:extLst>
          </p:cNvPr>
          <p:cNvSpPr>
            <a:spLocks noGrp="1"/>
          </p:cNvSpPr>
          <p:nvPr>
            <p:ph type="title"/>
          </p:nvPr>
        </p:nvSpPr>
        <p:spPr>
          <a:xfrm>
            <a:off x="1097280" y="286603"/>
            <a:ext cx="10058400" cy="1450757"/>
          </a:xfrm>
        </p:spPr>
        <p:txBody>
          <a:bodyPr>
            <a:normAutofit/>
          </a:bodyPr>
          <a:lstStyle/>
          <a:p>
            <a:r>
              <a:rPr lang="de-DE" b="1" dirty="0"/>
              <a:t>2. Verstehen und Analysieren: </a:t>
            </a:r>
            <a:br>
              <a:rPr lang="de-DE" b="1" dirty="0"/>
            </a:br>
            <a:r>
              <a:rPr lang="de-DE" b="1" dirty="0"/>
              <a:t>Grundlagen Partizipation</a:t>
            </a:r>
            <a:endParaRPr lang="de-DE" dirty="0"/>
          </a:p>
        </p:txBody>
      </p:sp>
      <p:sp>
        <p:nvSpPr>
          <p:cNvPr id="3" name="Inhaltsplatzhalter 2">
            <a:extLst>
              <a:ext uri="{FF2B5EF4-FFF2-40B4-BE49-F238E27FC236}">
                <a16:creationId xmlns:a16="http://schemas.microsoft.com/office/drawing/2014/main" id="{581C200D-308D-2C6E-E7A6-89E3C00DF1D7}"/>
              </a:ext>
            </a:extLst>
          </p:cNvPr>
          <p:cNvSpPr>
            <a:spLocks noGrp="1"/>
          </p:cNvSpPr>
          <p:nvPr>
            <p:ph idx="1"/>
          </p:nvPr>
        </p:nvSpPr>
        <p:spPr>
          <a:xfrm>
            <a:off x="1097279" y="1845734"/>
            <a:ext cx="6454987" cy="4023360"/>
          </a:xfrm>
        </p:spPr>
        <p:txBody>
          <a:bodyPr>
            <a:normAutofit/>
          </a:bodyPr>
          <a:lstStyle/>
          <a:p>
            <a:pPr marL="0" indent="0">
              <a:buNone/>
            </a:pPr>
            <a:r>
              <a:rPr lang="de-DE" dirty="0"/>
              <a:t>Im sozialpädagogischen Bereich wird Partizipation wie folgt definiert: </a:t>
            </a:r>
          </a:p>
          <a:p>
            <a:pPr marL="0" indent="0">
              <a:buNone/>
            </a:pPr>
            <a:endParaRPr lang="de-DE" b="1" dirty="0"/>
          </a:p>
          <a:p>
            <a:r>
              <a:rPr lang="de-DE" sz="2400" b="1" dirty="0"/>
              <a:t>„Partizipation von Kindern und Jugendlichen ist deren verbindliche Einflussnahme auf Planungs- und Entscheidungsprozesse, von denen sie betroffen sind, mittels ihnen angepasster Formen und Methoden“ (vgl. </a:t>
            </a:r>
            <a:r>
              <a:rPr lang="de-DE" sz="2400" b="1" dirty="0" err="1"/>
              <a:t>Jaun</a:t>
            </a:r>
            <a:r>
              <a:rPr lang="de-DE" sz="2400" b="1" dirty="0"/>
              <a:t>: 1999, S. 91)</a:t>
            </a:r>
          </a:p>
          <a:p>
            <a:endParaRPr lang="de-DE" b="1" dirty="0"/>
          </a:p>
          <a:p>
            <a:pPr marL="0" indent="0">
              <a:buNone/>
            </a:pPr>
            <a:endParaRPr lang="de-DE" b="1" dirty="0"/>
          </a:p>
        </p:txBody>
      </p:sp>
      <p:pic>
        <p:nvPicPr>
          <p:cNvPr id="6" name="Grafik 5" descr="Ein Bild, das Clipart, Text, Darstellung enthält.&#10;&#10;Automatisch generierte Beschreibung">
            <a:extLst>
              <a:ext uri="{FF2B5EF4-FFF2-40B4-BE49-F238E27FC236}">
                <a16:creationId xmlns:a16="http://schemas.microsoft.com/office/drawing/2014/main" id="{F31EF62E-1BD0-20CC-56BC-D5D44A3E7728}"/>
              </a:ext>
            </a:extLst>
          </p:cNvPr>
          <p:cNvPicPr>
            <a:picLocks noChangeAspect="1"/>
          </p:cNvPicPr>
          <p:nvPr/>
        </p:nvPicPr>
        <p:blipFill>
          <a:blip r:embed="rId2"/>
          <a:stretch>
            <a:fillRect/>
          </a:stretch>
        </p:blipFill>
        <p:spPr>
          <a:xfrm>
            <a:off x="8020570" y="2608688"/>
            <a:ext cx="3135109" cy="2086272"/>
          </a:xfrm>
          <a:prstGeom prst="rect">
            <a:avLst/>
          </a:prstGeom>
        </p:spPr>
      </p:pic>
    </p:spTree>
    <p:extLst>
      <p:ext uri="{BB962C8B-B14F-4D97-AF65-F5344CB8AC3E}">
        <p14:creationId xmlns:p14="http://schemas.microsoft.com/office/powerpoint/2010/main" val="387989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5C1A45-EC13-AE7A-2F6E-B4C32C62163A}"/>
              </a:ext>
            </a:extLst>
          </p:cNvPr>
          <p:cNvSpPr>
            <a:spLocks noGrp="1"/>
          </p:cNvSpPr>
          <p:nvPr>
            <p:ph type="title"/>
          </p:nvPr>
        </p:nvSpPr>
        <p:spPr>
          <a:xfrm>
            <a:off x="1097280" y="286603"/>
            <a:ext cx="10058400" cy="1450757"/>
          </a:xfrm>
        </p:spPr>
        <p:txBody>
          <a:bodyPr>
            <a:normAutofit/>
          </a:bodyPr>
          <a:lstStyle/>
          <a:p>
            <a:r>
              <a:rPr lang="de-DE" b="1" dirty="0"/>
              <a:t>2. Verstehen und Analysieren: </a:t>
            </a:r>
            <a:br>
              <a:rPr lang="de-DE" b="1" dirty="0"/>
            </a:br>
            <a:r>
              <a:rPr lang="de-DE" b="1" dirty="0"/>
              <a:t>Grundlagen Partizipation</a:t>
            </a:r>
            <a:endParaRPr lang="de-DE" dirty="0"/>
          </a:p>
        </p:txBody>
      </p:sp>
      <p:sp>
        <p:nvSpPr>
          <p:cNvPr id="3" name="Inhaltsplatzhalter 2">
            <a:extLst>
              <a:ext uri="{FF2B5EF4-FFF2-40B4-BE49-F238E27FC236}">
                <a16:creationId xmlns:a16="http://schemas.microsoft.com/office/drawing/2014/main" id="{581C200D-308D-2C6E-E7A6-89E3C00DF1D7}"/>
              </a:ext>
            </a:extLst>
          </p:cNvPr>
          <p:cNvSpPr>
            <a:spLocks noGrp="1"/>
          </p:cNvSpPr>
          <p:nvPr>
            <p:ph idx="1"/>
          </p:nvPr>
        </p:nvSpPr>
        <p:spPr>
          <a:xfrm>
            <a:off x="1097279" y="1845734"/>
            <a:ext cx="9136612" cy="4023360"/>
          </a:xfrm>
        </p:spPr>
        <p:txBody>
          <a:bodyPr>
            <a:normAutofit/>
          </a:bodyPr>
          <a:lstStyle/>
          <a:p>
            <a:pPr marL="0" indent="0">
              <a:buNone/>
            </a:pPr>
            <a:endParaRPr lang="de-DE" sz="2400" b="1" dirty="0"/>
          </a:p>
          <a:p>
            <a:pPr marL="0" indent="0">
              <a:buNone/>
            </a:pPr>
            <a:r>
              <a:rPr lang="de-DE" sz="2400" b="1" dirty="0"/>
              <a:t>Prämissen/ Grundvoraussetzungen:</a:t>
            </a:r>
          </a:p>
          <a:p>
            <a:pPr>
              <a:buFont typeface="Wingdings" panose="05000000000000000000" pitchFamily="2" charset="2"/>
              <a:buChar char="§"/>
            </a:pPr>
            <a:r>
              <a:rPr lang="de-DE" sz="2400" dirty="0"/>
              <a:t> Echte Partizipation ist freiwillig</a:t>
            </a:r>
          </a:p>
          <a:p>
            <a:pPr>
              <a:buFont typeface="Wingdings" panose="05000000000000000000" pitchFamily="2" charset="2"/>
              <a:buChar char="§"/>
            </a:pPr>
            <a:r>
              <a:rPr lang="de-DE" sz="2400" dirty="0"/>
              <a:t> Recht auf Partizipation muss da sein (eingeräumt oder erkämpft)</a:t>
            </a:r>
          </a:p>
          <a:p>
            <a:pPr>
              <a:buFont typeface="Wingdings" panose="05000000000000000000" pitchFamily="2" charset="2"/>
              <a:buChar char="§"/>
            </a:pPr>
            <a:r>
              <a:rPr lang="de-DE" sz="2400" dirty="0"/>
              <a:t> D.h. Erwachsene/ </a:t>
            </a:r>
            <a:r>
              <a:rPr lang="de-DE" sz="2400" dirty="0" err="1"/>
              <a:t>Entscheidungsträger:innen</a:t>
            </a:r>
            <a:r>
              <a:rPr lang="de-DE" sz="2400" dirty="0"/>
              <a:t> müssen Macht abgeben </a:t>
            </a:r>
          </a:p>
          <a:p>
            <a:pPr>
              <a:buFont typeface="Wingdings" panose="05000000000000000000" pitchFamily="2" charset="2"/>
              <a:buChar char="§"/>
            </a:pPr>
            <a:r>
              <a:rPr lang="de-DE" sz="2400" dirty="0"/>
              <a:t> Partizipation in allen Lebensbereichen (nicht nur auf politische Willensbildungsprozesse fokussiert)</a:t>
            </a:r>
          </a:p>
        </p:txBody>
      </p:sp>
    </p:spTree>
    <p:extLst>
      <p:ext uri="{BB962C8B-B14F-4D97-AF65-F5344CB8AC3E}">
        <p14:creationId xmlns:p14="http://schemas.microsoft.com/office/powerpoint/2010/main" val="127639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116F2-DA6F-7320-274C-EF5D73C7909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A26A01-ED0C-4E17-1BD5-D542A659D942}"/>
              </a:ext>
            </a:extLst>
          </p:cNvPr>
          <p:cNvSpPr>
            <a:spLocks noGrp="1"/>
          </p:cNvSpPr>
          <p:nvPr>
            <p:ph type="title"/>
          </p:nvPr>
        </p:nvSpPr>
        <p:spPr/>
        <p:txBody>
          <a:bodyPr>
            <a:normAutofit/>
          </a:bodyPr>
          <a:lstStyle/>
          <a:p>
            <a:r>
              <a:rPr lang="de-DE" sz="3600" b="1" dirty="0"/>
              <a:t>2. Verstehen und Analysieren: </a:t>
            </a:r>
            <a:br>
              <a:rPr lang="de-DE" sz="3600" b="1" dirty="0"/>
            </a:br>
            <a:r>
              <a:rPr lang="de-DE" sz="3600" b="1" dirty="0"/>
              <a:t>Grundlagen Partizipation</a:t>
            </a:r>
            <a:endParaRPr lang="de-DE" sz="3600" dirty="0"/>
          </a:p>
        </p:txBody>
      </p:sp>
      <p:graphicFrame>
        <p:nvGraphicFramePr>
          <p:cNvPr id="7" name="Diagramm 6">
            <a:extLst>
              <a:ext uri="{FF2B5EF4-FFF2-40B4-BE49-F238E27FC236}">
                <a16:creationId xmlns:a16="http://schemas.microsoft.com/office/drawing/2014/main" id="{1164BC07-78C2-79A1-011B-5BE9887590FA}"/>
              </a:ext>
            </a:extLst>
          </p:cNvPr>
          <p:cNvGraphicFramePr/>
          <p:nvPr>
            <p:extLst>
              <p:ext uri="{D42A27DB-BD31-4B8C-83A1-F6EECF244321}">
                <p14:modId xmlns:p14="http://schemas.microsoft.com/office/powerpoint/2010/main" val="17612094"/>
              </p:ext>
            </p:extLst>
          </p:nvPr>
        </p:nvGraphicFramePr>
        <p:xfrm>
          <a:off x="1097280" y="1893455"/>
          <a:ext cx="9496829" cy="4054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0548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106A19-6EAD-D7E7-4F9A-C7FB918A8166}"/>
              </a:ext>
            </a:extLst>
          </p:cNvPr>
          <p:cNvSpPr>
            <a:spLocks noGrp="1"/>
          </p:cNvSpPr>
          <p:nvPr>
            <p:ph type="title"/>
          </p:nvPr>
        </p:nvSpPr>
        <p:spPr/>
        <p:txBody>
          <a:bodyPr/>
          <a:lstStyle/>
          <a:p>
            <a:r>
              <a:rPr lang="de-DE" b="1" dirty="0"/>
              <a:t>2. Verstehen und Analysieren: </a:t>
            </a:r>
            <a:br>
              <a:rPr lang="de-DE" b="1" dirty="0"/>
            </a:br>
            <a:r>
              <a:rPr lang="de-DE" b="1" dirty="0"/>
              <a:t>Grundlagen Partizipation</a:t>
            </a:r>
            <a:endParaRPr lang="de-DE" dirty="0"/>
          </a:p>
        </p:txBody>
      </p:sp>
      <p:sp>
        <p:nvSpPr>
          <p:cNvPr id="3" name="Inhaltsplatzhalter 2">
            <a:extLst>
              <a:ext uri="{FF2B5EF4-FFF2-40B4-BE49-F238E27FC236}">
                <a16:creationId xmlns:a16="http://schemas.microsoft.com/office/drawing/2014/main" id="{F4EE9B4E-2ABB-9240-E331-671F65EB91D9}"/>
              </a:ext>
            </a:extLst>
          </p:cNvPr>
          <p:cNvSpPr>
            <a:spLocks noGrp="1"/>
          </p:cNvSpPr>
          <p:nvPr>
            <p:ph idx="1"/>
          </p:nvPr>
        </p:nvSpPr>
        <p:spPr>
          <a:xfrm>
            <a:off x="1245062" y="1928861"/>
            <a:ext cx="3918066" cy="4023360"/>
          </a:xfrm>
        </p:spPr>
        <p:txBody>
          <a:bodyPr/>
          <a:lstStyle/>
          <a:p>
            <a:r>
              <a:rPr lang="de-DE" b="1" dirty="0"/>
              <a:t>Selbstbestimmung meint:</a:t>
            </a:r>
          </a:p>
          <a:p>
            <a:pPr>
              <a:buFont typeface="Wingdings" panose="05000000000000000000" pitchFamily="2" charset="2"/>
              <a:buChar char="§"/>
            </a:pPr>
            <a:r>
              <a:rPr lang="de-DE" dirty="0"/>
              <a:t> Freiheit und Individualität des Kindes zu respektieren</a:t>
            </a:r>
          </a:p>
          <a:p>
            <a:pPr>
              <a:buFont typeface="Wingdings" panose="05000000000000000000" pitchFamily="2" charset="2"/>
              <a:buChar char="§"/>
            </a:pPr>
            <a:r>
              <a:rPr lang="de-DE" dirty="0"/>
              <a:t> Dem Kind Vertrauen in die eigenen Fähigkeiten und Entwicklungs-möglichkeiten vermitteln</a:t>
            </a:r>
          </a:p>
        </p:txBody>
      </p:sp>
      <p:sp>
        <p:nvSpPr>
          <p:cNvPr id="6" name="Textfeld 5">
            <a:extLst>
              <a:ext uri="{FF2B5EF4-FFF2-40B4-BE49-F238E27FC236}">
                <a16:creationId xmlns:a16="http://schemas.microsoft.com/office/drawing/2014/main" id="{A268A4AA-EAE8-DCDB-8447-7F4F77487FD3}"/>
              </a:ext>
            </a:extLst>
          </p:cNvPr>
          <p:cNvSpPr txBox="1"/>
          <p:nvPr/>
        </p:nvSpPr>
        <p:spPr>
          <a:xfrm>
            <a:off x="6784109" y="1827261"/>
            <a:ext cx="4162829" cy="3385542"/>
          </a:xfrm>
          <a:prstGeom prst="rect">
            <a:avLst/>
          </a:prstGeom>
          <a:noFill/>
        </p:spPr>
        <p:txBody>
          <a:bodyPr wrap="square" rtlCol="0">
            <a:spAutoFit/>
          </a:bodyPr>
          <a:lstStyle/>
          <a:p>
            <a:r>
              <a:rPr lang="de-DE" sz="2000" b="1" dirty="0"/>
              <a:t>Fremdbestimmung meint:</a:t>
            </a:r>
          </a:p>
          <a:p>
            <a:endParaRPr lang="de-DE" sz="2000" dirty="0"/>
          </a:p>
          <a:p>
            <a:pPr marL="285750" indent="-285750">
              <a:buFont typeface="Wingdings" panose="05000000000000000000" pitchFamily="2" charset="2"/>
              <a:buChar char="§"/>
            </a:pPr>
            <a:r>
              <a:rPr lang="de-DE" sz="2000" dirty="0"/>
              <a:t>Lenkung, Dirigieren, Manipulation des Kindes, </a:t>
            </a:r>
          </a:p>
          <a:p>
            <a:pPr marL="285750" indent="-285750">
              <a:buFont typeface="Wingdings" panose="05000000000000000000" pitchFamily="2" charset="2"/>
              <a:buChar char="§"/>
            </a:pPr>
            <a:r>
              <a:rPr lang="de-DE" sz="2000" dirty="0"/>
              <a:t>Befehle, Regeln, Anweisungen an das Kind</a:t>
            </a:r>
          </a:p>
          <a:p>
            <a:pPr marL="285750" indent="-285750">
              <a:buFont typeface="Wingdings" panose="05000000000000000000" pitchFamily="2" charset="2"/>
              <a:buChar char="§"/>
            </a:pPr>
            <a:r>
              <a:rPr lang="de-DE" sz="2000" dirty="0"/>
              <a:t>Appelle und nonverbal vermittelte Erwartungshaltungen</a:t>
            </a:r>
          </a:p>
          <a:p>
            <a:endParaRPr lang="de-DE" dirty="0"/>
          </a:p>
          <a:p>
            <a:endParaRPr lang="de-DE" dirty="0"/>
          </a:p>
          <a:p>
            <a:endParaRPr lang="de-DE" dirty="0"/>
          </a:p>
        </p:txBody>
      </p:sp>
      <p:sp>
        <p:nvSpPr>
          <p:cNvPr id="7" name="Textfeld 6">
            <a:extLst>
              <a:ext uri="{FF2B5EF4-FFF2-40B4-BE49-F238E27FC236}">
                <a16:creationId xmlns:a16="http://schemas.microsoft.com/office/drawing/2014/main" id="{1DE6317F-C98B-5894-F194-F0011A620AD5}"/>
              </a:ext>
            </a:extLst>
          </p:cNvPr>
          <p:cNvSpPr txBox="1"/>
          <p:nvPr/>
        </p:nvSpPr>
        <p:spPr>
          <a:xfrm>
            <a:off x="5212079" y="2974109"/>
            <a:ext cx="1003993" cy="707886"/>
          </a:xfrm>
          <a:prstGeom prst="rect">
            <a:avLst/>
          </a:prstGeom>
          <a:noFill/>
        </p:spPr>
        <p:txBody>
          <a:bodyPr wrap="square" rtlCol="0">
            <a:spAutoFit/>
          </a:bodyPr>
          <a:lstStyle/>
          <a:p>
            <a:r>
              <a:rPr lang="de-DE" sz="4000" b="1" dirty="0"/>
              <a:t>VS.</a:t>
            </a:r>
          </a:p>
        </p:txBody>
      </p:sp>
      <p:pic>
        <p:nvPicPr>
          <p:cNvPr id="9" name="Grafik 8" descr="Ein Bild, das Design enthält.&#10;&#10;Automatisch generierte Beschreibung">
            <a:extLst>
              <a:ext uri="{FF2B5EF4-FFF2-40B4-BE49-F238E27FC236}">
                <a16:creationId xmlns:a16="http://schemas.microsoft.com/office/drawing/2014/main" id="{7D2C0F50-038C-2595-1127-03856BB2640F}"/>
              </a:ext>
            </a:extLst>
          </p:cNvPr>
          <p:cNvPicPr>
            <a:picLocks noChangeAspect="1"/>
          </p:cNvPicPr>
          <p:nvPr/>
        </p:nvPicPr>
        <p:blipFill>
          <a:blip r:embed="rId2"/>
          <a:stretch>
            <a:fillRect/>
          </a:stretch>
        </p:blipFill>
        <p:spPr>
          <a:xfrm>
            <a:off x="5203814" y="3681995"/>
            <a:ext cx="1003993" cy="1340382"/>
          </a:xfrm>
          <a:prstGeom prst="rect">
            <a:avLst/>
          </a:prstGeom>
        </p:spPr>
      </p:pic>
    </p:spTree>
    <p:extLst>
      <p:ext uri="{BB962C8B-B14F-4D97-AF65-F5344CB8AC3E}">
        <p14:creationId xmlns:p14="http://schemas.microsoft.com/office/powerpoint/2010/main" val="3556941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106A19-6EAD-D7E7-4F9A-C7FB918A8166}"/>
              </a:ext>
            </a:extLst>
          </p:cNvPr>
          <p:cNvSpPr>
            <a:spLocks noGrp="1"/>
          </p:cNvSpPr>
          <p:nvPr>
            <p:ph type="title"/>
          </p:nvPr>
        </p:nvSpPr>
        <p:spPr/>
        <p:txBody>
          <a:bodyPr>
            <a:normAutofit/>
          </a:bodyPr>
          <a:lstStyle/>
          <a:p>
            <a:r>
              <a:rPr lang="de-DE" sz="3600" b="1" dirty="0"/>
              <a:t>2. Verstehen und Analysieren: </a:t>
            </a:r>
            <a:br>
              <a:rPr lang="de-DE" sz="3600" b="1" dirty="0"/>
            </a:br>
            <a:r>
              <a:rPr lang="de-DE" sz="3600" b="1" dirty="0"/>
              <a:t>Grundlagen Partizipation</a:t>
            </a:r>
            <a:endParaRPr lang="de-DE" sz="3600" dirty="0"/>
          </a:p>
        </p:txBody>
      </p:sp>
      <p:graphicFrame>
        <p:nvGraphicFramePr>
          <p:cNvPr id="7" name="Diagramm 6">
            <a:extLst>
              <a:ext uri="{FF2B5EF4-FFF2-40B4-BE49-F238E27FC236}">
                <a16:creationId xmlns:a16="http://schemas.microsoft.com/office/drawing/2014/main" id="{6990A122-A79A-8B0F-FF31-BC25153B9F0F}"/>
              </a:ext>
            </a:extLst>
          </p:cNvPr>
          <p:cNvGraphicFramePr/>
          <p:nvPr>
            <p:extLst>
              <p:ext uri="{D42A27DB-BD31-4B8C-83A1-F6EECF244321}">
                <p14:modId xmlns:p14="http://schemas.microsoft.com/office/powerpoint/2010/main" val="403179034"/>
              </p:ext>
            </p:extLst>
          </p:nvPr>
        </p:nvGraphicFramePr>
        <p:xfrm>
          <a:off x="1097280" y="1893455"/>
          <a:ext cx="9496829" cy="4054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feld 2">
            <a:extLst>
              <a:ext uri="{FF2B5EF4-FFF2-40B4-BE49-F238E27FC236}">
                <a16:creationId xmlns:a16="http://schemas.microsoft.com/office/drawing/2014/main" id="{DE8E6DEC-5660-FBD9-958C-C083289BC1C6}"/>
              </a:ext>
            </a:extLst>
          </p:cNvPr>
          <p:cNvSpPr txBox="1"/>
          <p:nvPr/>
        </p:nvSpPr>
        <p:spPr>
          <a:xfrm rot="16200000">
            <a:off x="4036300" y="3628449"/>
            <a:ext cx="3731596" cy="584775"/>
          </a:xfrm>
          <a:prstGeom prst="rect">
            <a:avLst/>
          </a:prstGeom>
          <a:solidFill>
            <a:srgbClr val="92D050"/>
          </a:solidFill>
          <a:ln>
            <a:solidFill>
              <a:schemeClr val="bg1"/>
            </a:solidFill>
          </a:ln>
        </p:spPr>
        <p:txBody>
          <a:bodyPr wrap="square" rtlCol="0">
            <a:spAutoFit/>
          </a:bodyPr>
          <a:lstStyle/>
          <a:p>
            <a:pPr algn="ctr"/>
            <a:r>
              <a:rPr lang="de-DE" sz="3200" dirty="0"/>
              <a:t>Mitbestimmung</a:t>
            </a:r>
          </a:p>
        </p:txBody>
      </p:sp>
    </p:spTree>
    <p:extLst>
      <p:ext uri="{BB962C8B-B14F-4D97-AF65-F5344CB8AC3E}">
        <p14:creationId xmlns:p14="http://schemas.microsoft.com/office/powerpoint/2010/main" val="2680726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2310-81BC-4F1A-59D2-5E4FCADE69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AB8FE79-BFF7-BDE6-C6A1-95B398C882FC}"/>
              </a:ext>
            </a:extLst>
          </p:cNvPr>
          <p:cNvSpPr>
            <a:spLocks noGrp="1"/>
          </p:cNvSpPr>
          <p:nvPr>
            <p:ph type="title"/>
          </p:nvPr>
        </p:nvSpPr>
        <p:spPr/>
        <p:txBody>
          <a:bodyPr/>
          <a:lstStyle/>
          <a:p>
            <a:r>
              <a:rPr lang="de-DE" b="1" dirty="0"/>
              <a:t>2. Verstehen und Analysieren: </a:t>
            </a:r>
            <a:br>
              <a:rPr lang="de-DE" b="1" dirty="0"/>
            </a:br>
            <a:r>
              <a:rPr lang="de-DE" b="1" dirty="0"/>
              <a:t>Grundlagen Partizipation</a:t>
            </a:r>
            <a:endParaRPr lang="de-DE" dirty="0"/>
          </a:p>
        </p:txBody>
      </p:sp>
      <p:sp>
        <p:nvSpPr>
          <p:cNvPr id="3" name="Inhaltsplatzhalter 2">
            <a:extLst>
              <a:ext uri="{FF2B5EF4-FFF2-40B4-BE49-F238E27FC236}">
                <a16:creationId xmlns:a16="http://schemas.microsoft.com/office/drawing/2014/main" id="{3E48A0B3-176B-3303-9FE1-70467E648356}"/>
              </a:ext>
            </a:extLst>
          </p:cNvPr>
          <p:cNvSpPr>
            <a:spLocks noGrp="1"/>
          </p:cNvSpPr>
          <p:nvPr>
            <p:ph idx="1"/>
          </p:nvPr>
        </p:nvSpPr>
        <p:spPr>
          <a:xfrm>
            <a:off x="1245062" y="1928861"/>
            <a:ext cx="2689629" cy="4023360"/>
          </a:xfrm>
        </p:spPr>
        <p:txBody>
          <a:bodyPr/>
          <a:lstStyle/>
          <a:p>
            <a:r>
              <a:rPr lang="de-DE" b="1" dirty="0"/>
              <a:t>Selbstbestimmung meint:</a:t>
            </a:r>
          </a:p>
          <a:p>
            <a:pPr>
              <a:buFont typeface="Wingdings" panose="05000000000000000000" pitchFamily="2" charset="2"/>
              <a:buChar char="§"/>
            </a:pPr>
            <a:r>
              <a:rPr lang="de-DE" dirty="0">
                <a:solidFill>
                  <a:schemeClr val="tx1"/>
                </a:solidFill>
              </a:rPr>
              <a:t> Freiheit und Individualität des Kindes zu respektieren</a:t>
            </a:r>
          </a:p>
          <a:p>
            <a:pPr>
              <a:buFont typeface="Wingdings" panose="05000000000000000000" pitchFamily="2" charset="2"/>
              <a:buChar char="§"/>
            </a:pPr>
            <a:r>
              <a:rPr lang="de-DE" dirty="0">
                <a:solidFill>
                  <a:schemeClr val="tx1"/>
                </a:solidFill>
              </a:rPr>
              <a:t> Dem Kind Vertrauen in die eigenen Fähigkeiten und Entwicklungs-möglichkeiten vermitteln</a:t>
            </a:r>
          </a:p>
        </p:txBody>
      </p:sp>
      <p:sp>
        <p:nvSpPr>
          <p:cNvPr id="6" name="Textfeld 5">
            <a:extLst>
              <a:ext uri="{FF2B5EF4-FFF2-40B4-BE49-F238E27FC236}">
                <a16:creationId xmlns:a16="http://schemas.microsoft.com/office/drawing/2014/main" id="{13F54889-E2D8-EA27-6D3A-05048B4097D2}"/>
              </a:ext>
            </a:extLst>
          </p:cNvPr>
          <p:cNvSpPr txBox="1"/>
          <p:nvPr/>
        </p:nvSpPr>
        <p:spPr>
          <a:xfrm>
            <a:off x="8128000" y="1827261"/>
            <a:ext cx="2818938" cy="4616648"/>
          </a:xfrm>
          <a:prstGeom prst="rect">
            <a:avLst/>
          </a:prstGeom>
          <a:noFill/>
        </p:spPr>
        <p:txBody>
          <a:bodyPr wrap="square" rtlCol="0">
            <a:spAutoFit/>
          </a:bodyPr>
          <a:lstStyle/>
          <a:p>
            <a:r>
              <a:rPr lang="de-DE" sz="2000" b="1" dirty="0"/>
              <a:t>Fremdbestimmung meint:</a:t>
            </a:r>
          </a:p>
          <a:p>
            <a:endParaRPr lang="de-DE" sz="2000" dirty="0"/>
          </a:p>
          <a:p>
            <a:pPr marL="285750" indent="-285750">
              <a:buFont typeface="Wingdings" panose="05000000000000000000" pitchFamily="2" charset="2"/>
              <a:buChar char="§"/>
            </a:pPr>
            <a:r>
              <a:rPr lang="de-DE" sz="2000" dirty="0"/>
              <a:t>Lenkung, Dirigieren, Manipulation des Kindes, </a:t>
            </a:r>
          </a:p>
          <a:p>
            <a:pPr marL="285750" indent="-285750">
              <a:buFont typeface="Wingdings" panose="05000000000000000000" pitchFamily="2" charset="2"/>
              <a:buChar char="§"/>
            </a:pPr>
            <a:r>
              <a:rPr lang="de-DE" sz="2000" dirty="0"/>
              <a:t>Befehle, Regeln, Anweisungen an das Kind</a:t>
            </a:r>
          </a:p>
          <a:p>
            <a:pPr marL="285750" indent="-285750">
              <a:buFont typeface="Wingdings" panose="05000000000000000000" pitchFamily="2" charset="2"/>
              <a:buChar char="§"/>
            </a:pPr>
            <a:r>
              <a:rPr lang="de-DE" sz="2000" dirty="0"/>
              <a:t>Appelle und nonverbal vermittelte Erwartungshaltungen</a:t>
            </a:r>
          </a:p>
          <a:p>
            <a:endParaRPr lang="de-DE" dirty="0"/>
          </a:p>
          <a:p>
            <a:endParaRPr lang="de-DE" dirty="0"/>
          </a:p>
          <a:p>
            <a:endParaRPr lang="de-DE" dirty="0"/>
          </a:p>
        </p:txBody>
      </p:sp>
      <p:sp>
        <p:nvSpPr>
          <p:cNvPr id="7" name="Textfeld 6">
            <a:extLst>
              <a:ext uri="{FF2B5EF4-FFF2-40B4-BE49-F238E27FC236}">
                <a16:creationId xmlns:a16="http://schemas.microsoft.com/office/drawing/2014/main" id="{A7B3D9A9-5FED-363B-24B1-3FED59816A53}"/>
              </a:ext>
            </a:extLst>
          </p:cNvPr>
          <p:cNvSpPr txBox="1"/>
          <p:nvPr/>
        </p:nvSpPr>
        <p:spPr>
          <a:xfrm>
            <a:off x="4359565" y="1928861"/>
            <a:ext cx="3048000" cy="3170099"/>
          </a:xfrm>
          <a:prstGeom prst="rect">
            <a:avLst/>
          </a:prstGeom>
          <a:noFill/>
        </p:spPr>
        <p:txBody>
          <a:bodyPr wrap="square" rtlCol="0">
            <a:spAutoFit/>
          </a:bodyPr>
          <a:lstStyle/>
          <a:p>
            <a:r>
              <a:rPr lang="de-DE" sz="2000" b="1" dirty="0"/>
              <a:t>Mitbestimmung meint: </a:t>
            </a:r>
          </a:p>
          <a:p>
            <a:endParaRPr lang="de-DE" sz="2000" b="1" dirty="0"/>
          </a:p>
          <a:p>
            <a:pPr marL="342900" indent="-342900">
              <a:buFont typeface="Wingdings" panose="05000000000000000000" pitchFamily="2" charset="2"/>
              <a:buChar char="§"/>
            </a:pPr>
            <a:r>
              <a:rPr lang="de-DE" sz="2000" dirty="0"/>
              <a:t>Aushandeln, demo-</a:t>
            </a:r>
            <a:r>
              <a:rPr lang="de-DE" sz="2000" dirty="0" err="1"/>
              <a:t>kratische</a:t>
            </a:r>
            <a:r>
              <a:rPr lang="de-DE" sz="2000" dirty="0"/>
              <a:t> </a:t>
            </a:r>
            <a:r>
              <a:rPr lang="de-DE" sz="2000" dirty="0" err="1"/>
              <a:t>Prozesseu</a:t>
            </a:r>
            <a:r>
              <a:rPr lang="de-DE" sz="2000" dirty="0"/>
              <a:t>. Grundregeln erleben</a:t>
            </a:r>
          </a:p>
          <a:p>
            <a:pPr marL="342900" indent="-342900">
              <a:buFont typeface="Wingdings" panose="05000000000000000000" pitchFamily="2" charset="2"/>
              <a:buChar char="§"/>
            </a:pPr>
            <a:r>
              <a:rPr lang="de-DE" sz="2000" dirty="0"/>
              <a:t>andere Meinungen „aushalten“ können</a:t>
            </a:r>
          </a:p>
          <a:p>
            <a:pPr marL="342900" indent="-342900">
              <a:buFont typeface="Wingdings" panose="05000000000000000000" pitchFamily="2" charset="2"/>
              <a:buChar char="§"/>
            </a:pPr>
            <a:r>
              <a:rPr lang="de-DE" sz="2000" dirty="0"/>
              <a:t>diskutieren, argumentieren, Kompromisse schließen</a:t>
            </a:r>
          </a:p>
        </p:txBody>
      </p:sp>
    </p:spTree>
    <p:extLst>
      <p:ext uri="{BB962C8B-B14F-4D97-AF65-F5344CB8AC3E}">
        <p14:creationId xmlns:p14="http://schemas.microsoft.com/office/powerpoint/2010/main" val="3693511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106A19-6EAD-D7E7-4F9A-C7FB918A8166}"/>
              </a:ext>
            </a:extLst>
          </p:cNvPr>
          <p:cNvSpPr>
            <a:spLocks noGrp="1"/>
          </p:cNvSpPr>
          <p:nvPr>
            <p:ph type="title"/>
          </p:nvPr>
        </p:nvSpPr>
        <p:spPr>
          <a:xfrm>
            <a:off x="1097280" y="286604"/>
            <a:ext cx="10058400" cy="692452"/>
          </a:xfrm>
        </p:spPr>
        <p:txBody>
          <a:bodyPr>
            <a:normAutofit/>
          </a:bodyPr>
          <a:lstStyle/>
          <a:p>
            <a:r>
              <a:rPr lang="de-DE" sz="3200" b="1" dirty="0"/>
              <a:t>2. Verstehen und Analysieren: Grundlagen Partizipation</a:t>
            </a:r>
            <a:endParaRPr lang="de-DE" sz="3200" dirty="0"/>
          </a:p>
        </p:txBody>
      </p:sp>
      <p:graphicFrame>
        <p:nvGraphicFramePr>
          <p:cNvPr id="10" name="Tabelle 9">
            <a:extLst>
              <a:ext uri="{FF2B5EF4-FFF2-40B4-BE49-F238E27FC236}">
                <a16:creationId xmlns:a16="http://schemas.microsoft.com/office/drawing/2014/main" id="{16B1720D-E138-AB3D-C286-99163A80C6E4}"/>
              </a:ext>
            </a:extLst>
          </p:cNvPr>
          <p:cNvGraphicFramePr>
            <a:graphicFrameLocks noGrp="1"/>
          </p:cNvGraphicFramePr>
          <p:nvPr>
            <p:extLst>
              <p:ext uri="{D42A27DB-BD31-4B8C-83A1-F6EECF244321}">
                <p14:modId xmlns:p14="http://schemas.microsoft.com/office/powerpoint/2010/main" val="1557393435"/>
              </p:ext>
            </p:extLst>
          </p:nvPr>
        </p:nvGraphicFramePr>
        <p:xfrm>
          <a:off x="1006764" y="2142246"/>
          <a:ext cx="10330192" cy="3829238"/>
        </p:xfrm>
        <a:graphic>
          <a:graphicData uri="http://schemas.openxmlformats.org/drawingml/2006/table">
            <a:tbl>
              <a:tblPr firstRow="1" bandRow="1">
                <a:tableStyleId>{93296810-A885-4BE3-A3E7-6D5BEEA58F35}</a:tableStyleId>
              </a:tblPr>
              <a:tblGrid>
                <a:gridCol w="2717095">
                  <a:extLst>
                    <a:ext uri="{9D8B030D-6E8A-4147-A177-3AD203B41FA5}">
                      <a16:colId xmlns:a16="http://schemas.microsoft.com/office/drawing/2014/main" val="1954118869"/>
                    </a:ext>
                  </a:extLst>
                </a:gridCol>
                <a:gridCol w="4131960">
                  <a:extLst>
                    <a:ext uri="{9D8B030D-6E8A-4147-A177-3AD203B41FA5}">
                      <a16:colId xmlns:a16="http://schemas.microsoft.com/office/drawing/2014/main" val="544421475"/>
                    </a:ext>
                  </a:extLst>
                </a:gridCol>
                <a:gridCol w="3481137">
                  <a:extLst>
                    <a:ext uri="{9D8B030D-6E8A-4147-A177-3AD203B41FA5}">
                      <a16:colId xmlns:a16="http://schemas.microsoft.com/office/drawing/2014/main" val="3712100982"/>
                    </a:ext>
                  </a:extLst>
                </a:gridCol>
              </a:tblGrid>
              <a:tr h="1063677">
                <a:tc>
                  <a:txBody>
                    <a:bodyPr/>
                    <a:lstStyle/>
                    <a:p>
                      <a:endParaRPr lang="de-DE" dirty="0"/>
                    </a:p>
                  </a:txBody>
                  <a:tcPr/>
                </a:tc>
                <a:tc>
                  <a:txBody>
                    <a:bodyPr/>
                    <a:lstStyle/>
                    <a:p>
                      <a:r>
                        <a:rPr lang="de-DE" dirty="0"/>
                        <a:t>Folgen für die Gefühle/ Wahrnehmung des Kindes</a:t>
                      </a:r>
                    </a:p>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Folgen für das kindliche Verhalten</a:t>
                      </a:r>
                    </a:p>
                    <a:p>
                      <a:endParaRPr lang="de-DE" dirty="0"/>
                    </a:p>
                  </a:txBody>
                  <a:tcPr/>
                </a:tc>
                <a:extLst>
                  <a:ext uri="{0D108BD9-81ED-4DB2-BD59-A6C34878D82A}">
                    <a16:rowId xmlns:a16="http://schemas.microsoft.com/office/drawing/2014/main" val="3647117143"/>
                  </a:ext>
                </a:extLst>
              </a:tr>
              <a:tr h="1063677">
                <a:tc>
                  <a:txBody>
                    <a:bodyPr/>
                    <a:lstStyle/>
                    <a:p>
                      <a:r>
                        <a:rPr lang="de-DE" dirty="0"/>
                        <a:t>Selbstbestimmung/ Mitbestimmung</a:t>
                      </a:r>
                    </a:p>
                    <a:p>
                      <a:endParaRPr lang="de-DE" dirty="0"/>
                    </a:p>
                  </a:txBody>
                  <a:tcPr/>
                </a:tc>
                <a:tc>
                  <a:txBody>
                    <a:bodyPr/>
                    <a:lstStyle/>
                    <a:p>
                      <a:pPr marL="0" indent="0">
                        <a:buFont typeface="Wingdings" panose="05000000000000000000" pitchFamily="2" charset="2"/>
                        <a:buNone/>
                      </a:pPr>
                      <a:r>
                        <a:rPr lang="de-DE" dirty="0"/>
                        <a:t>…</a:t>
                      </a:r>
                    </a:p>
                  </a:txBody>
                  <a:tcPr/>
                </a:tc>
                <a:tc>
                  <a:txBody>
                    <a:bodyPr/>
                    <a:lstStyle/>
                    <a:p>
                      <a:pPr marL="0" indent="0">
                        <a:buFont typeface="Arial" panose="020B0604020202020204" pitchFamily="34" charset="0"/>
                        <a:buNone/>
                      </a:pPr>
                      <a:r>
                        <a:rPr lang="de-DE" dirty="0"/>
                        <a:t>…</a:t>
                      </a:r>
                    </a:p>
                  </a:txBody>
                  <a:tcPr/>
                </a:tc>
                <a:extLst>
                  <a:ext uri="{0D108BD9-81ED-4DB2-BD59-A6C34878D82A}">
                    <a16:rowId xmlns:a16="http://schemas.microsoft.com/office/drawing/2014/main" val="3357613509"/>
                  </a:ext>
                </a:extLst>
              </a:tr>
              <a:tr h="1701884">
                <a:tc>
                  <a:txBody>
                    <a:bodyPr/>
                    <a:lstStyle/>
                    <a:p>
                      <a:r>
                        <a:rPr lang="de-DE" dirty="0"/>
                        <a:t>Fremdbestimmung (Lenkung, Befehle, Anweisungen, Bestimmungen)</a:t>
                      </a:r>
                    </a:p>
                    <a:p>
                      <a:endParaRPr lang="de-DE" dirty="0"/>
                    </a:p>
                  </a:txBody>
                  <a:tcPr/>
                </a:tc>
                <a:tc>
                  <a:txBody>
                    <a:bodyPr/>
                    <a:lstStyle/>
                    <a:p>
                      <a:pPr marL="0" indent="0">
                        <a:buFont typeface="Arial" panose="020B0604020202020204" pitchFamily="34" charset="0"/>
                        <a:buNone/>
                      </a:pPr>
                      <a:r>
                        <a:rPr lang="de-DE" dirty="0"/>
                        <a:t>…</a:t>
                      </a:r>
                    </a:p>
                  </a:txBody>
                  <a:tcPr/>
                </a:tc>
                <a:tc>
                  <a:txBody>
                    <a:bodyPr/>
                    <a:lstStyle/>
                    <a:p>
                      <a:pPr marL="0" indent="0">
                        <a:buFont typeface="Arial" panose="020B0604020202020204" pitchFamily="34" charset="0"/>
                        <a:buNone/>
                      </a:pPr>
                      <a:r>
                        <a:rPr lang="de-DE" dirty="0"/>
                        <a:t>…</a:t>
                      </a:r>
                    </a:p>
                  </a:txBody>
                  <a:tcPr/>
                </a:tc>
                <a:extLst>
                  <a:ext uri="{0D108BD9-81ED-4DB2-BD59-A6C34878D82A}">
                    <a16:rowId xmlns:a16="http://schemas.microsoft.com/office/drawing/2014/main" val="3661234000"/>
                  </a:ext>
                </a:extLst>
              </a:tr>
            </a:tbl>
          </a:graphicData>
        </a:graphic>
      </p:graphicFrame>
      <p:pic>
        <p:nvPicPr>
          <p:cNvPr id="3" name="Grafik 2" descr="Ein Bild, das Zeichnung, Clipart, Animierter Cartoon, Kinderkunst enthält.&#10;&#10;Automatisch generierte Beschreibung">
            <a:extLst>
              <a:ext uri="{FF2B5EF4-FFF2-40B4-BE49-F238E27FC236}">
                <a16:creationId xmlns:a16="http://schemas.microsoft.com/office/drawing/2014/main" id="{5F9AAC04-9E8E-F356-9F8F-CAFB070FCDFE}"/>
              </a:ext>
            </a:extLst>
          </p:cNvPr>
          <p:cNvPicPr>
            <a:picLocks noChangeAspect="1"/>
          </p:cNvPicPr>
          <p:nvPr/>
        </p:nvPicPr>
        <p:blipFill>
          <a:blip r:embed="rId2"/>
          <a:stretch>
            <a:fillRect/>
          </a:stretch>
        </p:blipFill>
        <p:spPr>
          <a:xfrm>
            <a:off x="1874419" y="2272178"/>
            <a:ext cx="504218" cy="760459"/>
          </a:xfrm>
          <a:prstGeom prst="rect">
            <a:avLst/>
          </a:prstGeom>
        </p:spPr>
      </p:pic>
      <p:sp>
        <p:nvSpPr>
          <p:cNvPr id="4" name="Textfeld 3">
            <a:extLst>
              <a:ext uri="{FF2B5EF4-FFF2-40B4-BE49-F238E27FC236}">
                <a16:creationId xmlns:a16="http://schemas.microsoft.com/office/drawing/2014/main" id="{5CAA33F0-3519-6F7C-3E7C-E260DF5ECEA3}"/>
              </a:ext>
            </a:extLst>
          </p:cNvPr>
          <p:cNvSpPr txBox="1"/>
          <p:nvPr/>
        </p:nvSpPr>
        <p:spPr>
          <a:xfrm>
            <a:off x="1066800" y="1098986"/>
            <a:ext cx="10058400" cy="923330"/>
          </a:xfrm>
          <a:prstGeom prst="rect">
            <a:avLst/>
          </a:prstGeom>
          <a:noFill/>
        </p:spPr>
        <p:txBody>
          <a:bodyPr wrap="square" rtlCol="0">
            <a:spAutoFit/>
          </a:bodyPr>
          <a:lstStyle/>
          <a:p>
            <a:r>
              <a:rPr lang="de-DE" b="1" dirty="0"/>
              <a:t>Kurze Nachdenkpause: </a:t>
            </a:r>
            <a:r>
              <a:rPr lang="de-DE" dirty="0"/>
              <a:t>Welche Folgen hat Selbstbestimmung/ Mitbestimmung für die Gefühle und  Wahrnehmung des Kindes und sein Verhalten?  Und welche Folgen haben fremdbestimmte Interaktionen für das Gefühl und die Wahrnehmung des Kindes und seines Verhaltens. </a:t>
            </a:r>
          </a:p>
        </p:txBody>
      </p:sp>
    </p:spTree>
    <p:extLst>
      <p:ext uri="{BB962C8B-B14F-4D97-AF65-F5344CB8AC3E}">
        <p14:creationId xmlns:p14="http://schemas.microsoft.com/office/powerpoint/2010/main" val="2513180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0C7A93-F5FC-90F4-1C26-CC1AC392D2F2}"/>
              </a:ext>
            </a:extLst>
          </p:cNvPr>
          <p:cNvSpPr>
            <a:spLocks noGrp="1"/>
          </p:cNvSpPr>
          <p:nvPr>
            <p:ph type="title"/>
          </p:nvPr>
        </p:nvSpPr>
        <p:spPr>
          <a:xfrm>
            <a:off x="1066800" y="526626"/>
            <a:ext cx="10058400" cy="924560"/>
          </a:xfrm>
        </p:spPr>
        <p:txBody>
          <a:bodyPr>
            <a:normAutofit/>
          </a:bodyPr>
          <a:lstStyle/>
          <a:p>
            <a:r>
              <a:rPr lang="de-DE" sz="3600" b="1" dirty="0"/>
              <a:t>2. Verstehen und Analysieren: Grundlagen Partizipation</a:t>
            </a:r>
            <a:endParaRPr lang="de-DE" sz="3600" dirty="0"/>
          </a:p>
        </p:txBody>
      </p:sp>
      <p:sp>
        <p:nvSpPr>
          <p:cNvPr id="3" name="Inhaltsplatzhalter 2">
            <a:extLst>
              <a:ext uri="{FF2B5EF4-FFF2-40B4-BE49-F238E27FC236}">
                <a16:creationId xmlns:a16="http://schemas.microsoft.com/office/drawing/2014/main" id="{0FAF5F3A-8056-2B37-290F-24C2C4425F70}"/>
              </a:ext>
            </a:extLst>
          </p:cNvPr>
          <p:cNvSpPr>
            <a:spLocks noGrp="1"/>
          </p:cNvSpPr>
          <p:nvPr>
            <p:ph idx="1"/>
          </p:nvPr>
        </p:nvSpPr>
        <p:spPr>
          <a:xfrm>
            <a:off x="1097280" y="1717963"/>
            <a:ext cx="10058400" cy="4345094"/>
          </a:xfrm>
        </p:spPr>
        <p:txBody>
          <a:bodyPr>
            <a:normAutofit fontScale="92500"/>
          </a:bodyPr>
          <a:lstStyle/>
          <a:p>
            <a:r>
              <a:rPr lang="de-DE" sz="2400" b="1" u="sng" dirty="0"/>
              <a:t>Wie findet Partizipation und Kommunikation in päd. Einrichtungen oft statt?</a:t>
            </a:r>
          </a:p>
          <a:p>
            <a:pPr>
              <a:buFont typeface="Wingdings" panose="05000000000000000000" pitchFamily="2" charset="2"/>
              <a:buChar char="§"/>
            </a:pPr>
            <a:r>
              <a:rPr lang="de-DE" sz="2400" dirty="0"/>
              <a:t> Timm Albers belegt 2009, dass Sprache immer noch überwiegend direktiv zur Regulierung eingesetzt wird</a:t>
            </a:r>
          </a:p>
          <a:p>
            <a:pPr>
              <a:buFont typeface="Wingdings" panose="05000000000000000000" pitchFamily="2" charset="2"/>
              <a:buChar char="§"/>
            </a:pPr>
            <a:r>
              <a:rPr lang="de-DE" sz="2400" dirty="0"/>
              <a:t> Morgenkreise werden oft zu  frontal konzipierten Lehrveranstaltungen umfunktioniert</a:t>
            </a:r>
          </a:p>
          <a:p>
            <a:pPr>
              <a:buFont typeface="Wingdings" panose="05000000000000000000" pitchFamily="2" charset="2"/>
              <a:buChar char="§"/>
            </a:pPr>
            <a:r>
              <a:rPr lang="de-DE" sz="2400" dirty="0"/>
              <a:t> Starre Tagesstrukturen geben einen engen Rahmen vor (wenig Raum für Selbstbestimmung und Selbstbildungsprozesse) </a:t>
            </a:r>
          </a:p>
          <a:p>
            <a:pPr>
              <a:buFont typeface="Wingdings" panose="05000000000000000000" pitchFamily="2" charset="2"/>
              <a:buChar char="§"/>
            </a:pPr>
            <a:r>
              <a:rPr lang="de-DE" sz="2400" dirty="0"/>
              <a:t> Kommunikation findet in fremdbestimmter Form statt (Drannehmen bei Meldung; Sprechverbote (Flur, beim Essen); nur Themen, die wesentlich für die </a:t>
            </a:r>
            <a:r>
              <a:rPr lang="de-DE" sz="2400" dirty="0" err="1"/>
              <a:t>Erzieher:innen</a:t>
            </a:r>
            <a:r>
              <a:rPr lang="de-DE" sz="2400" dirty="0"/>
              <a:t> erscheinen, die Themen der Kinder werden nicht aufgegriffen) </a:t>
            </a:r>
            <a:r>
              <a:rPr lang="de-DE" sz="2400" dirty="0">
                <a:sym typeface="Wingdings" panose="05000000000000000000" pitchFamily="2" charset="2"/>
              </a:rPr>
              <a:t> wirkliche Gespräche kommen kaum zustande (zw. Kind und </a:t>
            </a:r>
            <a:r>
              <a:rPr lang="de-DE" sz="2400" dirty="0" err="1">
                <a:sym typeface="Wingdings" panose="05000000000000000000" pitchFamily="2" charset="2"/>
              </a:rPr>
              <a:t>Erzieher:innen</a:t>
            </a:r>
            <a:r>
              <a:rPr lang="de-DE" sz="2400" dirty="0">
                <a:sym typeface="Wingdings" panose="05000000000000000000" pitchFamily="2" charset="2"/>
              </a:rPr>
              <a:t>) </a:t>
            </a:r>
          </a:p>
          <a:p>
            <a:pPr>
              <a:buFont typeface="Wingdings" panose="05000000000000000000" pitchFamily="2" charset="2"/>
              <a:buChar char="§"/>
            </a:pPr>
            <a:r>
              <a:rPr lang="de-DE" dirty="0">
                <a:sym typeface="Wingdings" panose="05000000000000000000" pitchFamily="2" charset="2"/>
              </a:rPr>
              <a:t> </a:t>
            </a:r>
            <a:endParaRPr lang="de-DE" dirty="0"/>
          </a:p>
          <a:p>
            <a:pPr marL="0" indent="0">
              <a:buNone/>
            </a:pPr>
            <a:endParaRPr lang="de-DE" dirty="0"/>
          </a:p>
          <a:p>
            <a:endParaRPr lang="de-DE" dirty="0"/>
          </a:p>
        </p:txBody>
      </p:sp>
    </p:spTree>
    <p:extLst>
      <p:ext uri="{BB962C8B-B14F-4D97-AF65-F5344CB8AC3E}">
        <p14:creationId xmlns:p14="http://schemas.microsoft.com/office/powerpoint/2010/main" val="1652482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7BBD6-2A72-C579-E71C-197C507B4A3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D1CFCB4-F1A3-201F-37F3-C0F5D2AF10DA}"/>
              </a:ext>
            </a:extLst>
          </p:cNvPr>
          <p:cNvSpPr>
            <a:spLocks noGrp="1"/>
          </p:cNvSpPr>
          <p:nvPr>
            <p:ph type="title"/>
          </p:nvPr>
        </p:nvSpPr>
        <p:spPr>
          <a:xfrm>
            <a:off x="1066800" y="526626"/>
            <a:ext cx="10058400" cy="924560"/>
          </a:xfrm>
        </p:spPr>
        <p:txBody>
          <a:bodyPr>
            <a:normAutofit/>
          </a:bodyPr>
          <a:lstStyle/>
          <a:p>
            <a:r>
              <a:rPr lang="de-DE" sz="3600" b="1" dirty="0"/>
              <a:t>2. Verstehen und Analysieren: Grundlagen Partizipation</a:t>
            </a:r>
            <a:endParaRPr lang="de-DE" sz="3600" dirty="0"/>
          </a:p>
        </p:txBody>
      </p:sp>
      <p:sp>
        <p:nvSpPr>
          <p:cNvPr id="3" name="Inhaltsplatzhalter 2">
            <a:extLst>
              <a:ext uri="{FF2B5EF4-FFF2-40B4-BE49-F238E27FC236}">
                <a16:creationId xmlns:a16="http://schemas.microsoft.com/office/drawing/2014/main" id="{08276198-34E3-377C-8087-AAF2042F4900}"/>
              </a:ext>
            </a:extLst>
          </p:cNvPr>
          <p:cNvSpPr>
            <a:spLocks noGrp="1"/>
          </p:cNvSpPr>
          <p:nvPr>
            <p:ph idx="1"/>
          </p:nvPr>
        </p:nvSpPr>
        <p:spPr>
          <a:xfrm>
            <a:off x="1097280" y="1717964"/>
            <a:ext cx="10058400" cy="4345094"/>
          </a:xfrm>
        </p:spPr>
        <p:txBody>
          <a:bodyPr>
            <a:normAutofit/>
          </a:bodyPr>
          <a:lstStyle/>
          <a:p>
            <a:r>
              <a:rPr lang="de-DE" sz="2400" b="1" u="sng" dirty="0"/>
              <a:t>Wie findet Partizipation und Kommunikation in päd. Einrichtungen oft statt?</a:t>
            </a:r>
          </a:p>
          <a:p>
            <a:pPr>
              <a:buFont typeface="Wingdings" panose="05000000000000000000" pitchFamily="2" charset="2"/>
              <a:buChar char="§"/>
            </a:pPr>
            <a:r>
              <a:rPr lang="de-DE" sz="2400" dirty="0">
                <a:sym typeface="Wingdings" panose="05000000000000000000" pitchFamily="2" charset="2"/>
              </a:rPr>
              <a:t>Organisation/ Routinen/ Abläufe haben höhere Bedeutung</a:t>
            </a:r>
          </a:p>
          <a:p>
            <a:pPr>
              <a:buFont typeface="Wingdings" panose="05000000000000000000" pitchFamily="2" charset="2"/>
              <a:buChar char="§"/>
            </a:pPr>
            <a:r>
              <a:rPr lang="de-DE" sz="2400" dirty="0">
                <a:sym typeface="Wingdings" panose="05000000000000000000" pitchFamily="2" charset="2"/>
              </a:rPr>
              <a:t> Angebliche Themenauswahl der Kinder erfolgt häufig auf manipulierende Weise</a:t>
            </a:r>
          </a:p>
          <a:p>
            <a:pPr>
              <a:buFont typeface="Wingdings" panose="05000000000000000000" pitchFamily="2" charset="2"/>
              <a:buChar char="§"/>
            </a:pPr>
            <a:r>
              <a:rPr lang="de-DE" sz="2400" dirty="0">
                <a:sym typeface="Wingdings" panose="05000000000000000000" pitchFamily="2" charset="2"/>
              </a:rPr>
              <a:t> Anweisungen, Monologe, Frontalunterricht und Bestimmung von Themen durch </a:t>
            </a:r>
            <a:r>
              <a:rPr lang="de-DE" sz="2400" dirty="0" err="1">
                <a:sym typeface="Wingdings" panose="05000000000000000000" pitchFamily="2" charset="2"/>
              </a:rPr>
              <a:t>Pädagog:innen</a:t>
            </a:r>
            <a:r>
              <a:rPr lang="de-DE" sz="2400" dirty="0">
                <a:sym typeface="Wingdings" panose="05000000000000000000" pitchFamily="2" charset="2"/>
              </a:rPr>
              <a:t> bestimmen die Alltagskommunikation</a:t>
            </a:r>
          </a:p>
          <a:p>
            <a:pPr>
              <a:buFont typeface="Wingdings" panose="05000000000000000000" pitchFamily="2" charset="2"/>
              <a:buChar char="à"/>
            </a:pPr>
            <a:r>
              <a:rPr lang="de-DE" sz="2400" b="1" dirty="0">
                <a:sym typeface="Wingdings" panose="05000000000000000000" pitchFamily="2" charset="2"/>
              </a:rPr>
              <a:t>Kaum reziproke (wechselseitige) Kommunikation  vermehrt direktive bzw. restriktive Interaktion</a:t>
            </a:r>
          </a:p>
          <a:p>
            <a:pPr marL="0" indent="0">
              <a:buNone/>
            </a:pPr>
            <a:endParaRPr lang="de-DE" dirty="0"/>
          </a:p>
          <a:p>
            <a:pPr marL="0" indent="0">
              <a:buNone/>
            </a:pPr>
            <a:endParaRPr lang="de-DE" dirty="0"/>
          </a:p>
          <a:p>
            <a:endParaRPr lang="de-DE" dirty="0"/>
          </a:p>
        </p:txBody>
      </p:sp>
    </p:spTree>
    <p:extLst>
      <p:ext uri="{BB962C8B-B14F-4D97-AF65-F5344CB8AC3E}">
        <p14:creationId xmlns:p14="http://schemas.microsoft.com/office/powerpoint/2010/main" val="2511628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0C7A93-F5FC-90F4-1C26-CC1AC392D2F2}"/>
              </a:ext>
            </a:extLst>
          </p:cNvPr>
          <p:cNvSpPr>
            <a:spLocks noGrp="1"/>
          </p:cNvSpPr>
          <p:nvPr>
            <p:ph type="title"/>
          </p:nvPr>
        </p:nvSpPr>
        <p:spPr>
          <a:xfrm>
            <a:off x="1066800" y="517852"/>
            <a:ext cx="10058400" cy="748454"/>
          </a:xfrm>
        </p:spPr>
        <p:txBody>
          <a:bodyPr>
            <a:normAutofit/>
          </a:bodyPr>
          <a:lstStyle/>
          <a:p>
            <a:r>
              <a:rPr lang="de-DE" sz="3600" b="1" dirty="0"/>
              <a:t>2. Verstehen und Analysieren: Grundlagen Partizipation</a:t>
            </a:r>
            <a:endParaRPr lang="de-DE" sz="3600" dirty="0"/>
          </a:p>
        </p:txBody>
      </p:sp>
      <p:sp>
        <p:nvSpPr>
          <p:cNvPr id="3" name="Inhaltsplatzhalter 2">
            <a:extLst>
              <a:ext uri="{FF2B5EF4-FFF2-40B4-BE49-F238E27FC236}">
                <a16:creationId xmlns:a16="http://schemas.microsoft.com/office/drawing/2014/main" id="{0FAF5F3A-8056-2B37-290F-24C2C4425F70}"/>
              </a:ext>
            </a:extLst>
          </p:cNvPr>
          <p:cNvSpPr>
            <a:spLocks noGrp="1"/>
          </p:cNvSpPr>
          <p:nvPr>
            <p:ph idx="1"/>
          </p:nvPr>
        </p:nvSpPr>
        <p:spPr>
          <a:xfrm>
            <a:off x="1097280" y="1431636"/>
            <a:ext cx="10058400" cy="4437458"/>
          </a:xfrm>
        </p:spPr>
        <p:txBody>
          <a:bodyPr>
            <a:normAutofit lnSpcReduction="10000"/>
          </a:bodyPr>
          <a:lstStyle/>
          <a:p>
            <a:r>
              <a:rPr lang="de-DE" sz="2400" b="1" u="sng" dirty="0"/>
              <a:t>Wie findet Partizipation und Kommunikation in päd. Einrichtungen oft statt?</a:t>
            </a:r>
          </a:p>
          <a:p>
            <a:pPr>
              <a:buFont typeface="Wingdings" panose="05000000000000000000" pitchFamily="2" charset="2"/>
              <a:buChar char="§"/>
            </a:pPr>
            <a:r>
              <a:rPr lang="de-DE" sz="2400" dirty="0"/>
              <a:t> Dirigieren und </a:t>
            </a:r>
            <a:r>
              <a:rPr lang="de-DE" sz="2400" dirty="0" err="1"/>
              <a:t>Dirigiertwerden</a:t>
            </a:r>
            <a:r>
              <a:rPr lang="de-DE" sz="2400" dirty="0"/>
              <a:t> werden als Verhaltens- und Kommunikationsmuster internalisiert </a:t>
            </a:r>
            <a:r>
              <a:rPr lang="de-DE" sz="2400" dirty="0">
                <a:sym typeface="Wingdings" panose="05000000000000000000" pitchFamily="2" charset="2"/>
              </a:rPr>
              <a:t> vermittelt Unmündigkeit</a:t>
            </a:r>
          </a:p>
          <a:p>
            <a:pPr>
              <a:buFont typeface="Wingdings" panose="05000000000000000000" pitchFamily="2" charset="2"/>
              <a:buChar char="§"/>
            </a:pPr>
            <a:r>
              <a:rPr lang="de-DE" sz="2400" dirty="0">
                <a:sym typeface="Wingdings" panose="05000000000000000000" pitchFamily="2" charset="2"/>
              </a:rPr>
              <a:t> Partizipation in Kita meist in Form der Mitbestimmung: Z.B. Moderation Morgenkreis, „Meckerkasten“, Vorschläge Spiel/ Unternehmung, Kinderkonferenzen, Kinderräte etc. </a:t>
            </a:r>
          </a:p>
          <a:p>
            <a:pPr marL="0" indent="0">
              <a:buNone/>
            </a:pPr>
            <a:endParaRPr lang="de-DE" sz="2400" dirty="0">
              <a:sym typeface="Wingdings" panose="05000000000000000000" pitchFamily="2" charset="2"/>
            </a:endParaRPr>
          </a:p>
          <a:p>
            <a:pPr marL="0" indent="0">
              <a:buNone/>
            </a:pPr>
            <a:r>
              <a:rPr lang="de-DE" sz="2400" b="1" dirty="0">
                <a:sym typeface="Wingdings" panose="05000000000000000000" pitchFamily="2" charset="2"/>
              </a:rPr>
              <a:t> Jedoch häufig auch nur „Alibi“-Partizipation (kein grundsätzliches Recht auf Selbst-/Mitbestimmung und symmetrische Beziehungen)  Mitbestimmung findet innerhalb eines Rahmens fremdbestimmter Regeln und komplementärer Beziehungen statt</a:t>
            </a:r>
          </a:p>
          <a:p>
            <a:pPr marL="0" indent="0">
              <a:buNone/>
            </a:pPr>
            <a:endParaRPr lang="de-DE" b="1" dirty="0">
              <a:sym typeface="Wingdings" panose="05000000000000000000" pitchFamily="2" charset="2"/>
            </a:endParaRPr>
          </a:p>
          <a:p>
            <a:pPr marL="0" indent="0">
              <a:buNone/>
            </a:pPr>
            <a:endParaRPr lang="de-DE" dirty="0"/>
          </a:p>
          <a:p>
            <a:pPr marL="0" indent="0">
              <a:buNone/>
            </a:pPr>
            <a:endParaRPr lang="de-DE" dirty="0"/>
          </a:p>
          <a:p>
            <a:endParaRPr lang="de-DE" dirty="0"/>
          </a:p>
        </p:txBody>
      </p:sp>
    </p:spTree>
    <p:extLst>
      <p:ext uri="{BB962C8B-B14F-4D97-AF65-F5344CB8AC3E}">
        <p14:creationId xmlns:p14="http://schemas.microsoft.com/office/powerpoint/2010/main" val="3845586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0C7A93-F5FC-90F4-1C26-CC1AC392D2F2}"/>
              </a:ext>
            </a:extLst>
          </p:cNvPr>
          <p:cNvSpPr>
            <a:spLocks noGrp="1"/>
          </p:cNvSpPr>
          <p:nvPr>
            <p:ph type="title"/>
          </p:nvPr>
        </p:nvSpPr>
        <p:spPr>
          <a:xfrm>
            <a:off x="940262" y="351597"/>
            <a:ext cx="10058400" cy="748454"/>
          </a:xfrm>
        </p:spPr>
        <p:txBody>
          <a:bodyPr>
            <a:normAutofit/>
          </a:bodyPr>
          <a:lstStyle/>
          <a:p>
            <a:r>
              <a:rPr lang="de-DE" sz="3600" b="1" dirty="0"/>
              <a:t>2. Verstehen und Analysieren: Grundlagen Partizipation</a:t>
            </a:r>
            <a:endParaRPr lang="de-DE" sz="3600" dirty="0"/>
          </a:p>
        </p:txBody>
      </p:sp>
      <p:sp>
        <p:nvSpPr>
          <p:cNvPr id="3" name="Inhaltsplatzhalter 2">
            <a:extLst>
              <a:ext uri="{FF2B5EF4-FFF2-40B4-BE49-F238E27FC236}">
                <a16:creationId xmlns:a16="http://schemas.microsoft.com/office/drawing/2014/main" id="{0FAF5F3A-8056-2B37-290F-24C2C4425F70}"/>
              </a:ext>
            </a:extLst>
          </p:cNvPr>
          <p:cNvSpPr>
            <a:spLocks noGrp="1"/>
          </p:cNvSpPr>
          <p:nvPr>
            <p:ph idx="1"/>
          </p:nvPr>
        </p:nvSpPr>
        <p:spPr>
          <a:xfrm>
            <a:off x="1066800" y="1229360"/>
            <a:ext cx="10058400" cy="4866640"/>
          </a:xfrm>
        </p:spPr>
        <p:txBody>
          <a:bodyPr>
            <a:normAutofit/>
          </a:bodyPr>
          <a:lstStyle/>
          <a:p>
            <a:r>
              <a:rPr lang="de-DE" sz="2400" b="1" u="sng" dirty="0"/>
              <a:t>Was ist dann echte, wirkliche Partizipation?</a:t>
            </a:r>
          </a:p>
          <a:p>
            <a:pPr>
              <a:buFont typeface="Wingdings" panose="05000000000000000000" pitchFamily="2" charset="2"/>
              <a:buChar char="§"/>
            </a:pPr>
            <a:r>
              <a:rPr lang="de-DE" sz="2400" dirty="0">
                <a:sym typeface="Wingdings" panose="05000000000000000000" pitchFamily="2" charset="2"/>
              </a:rPr>
              <a:t> kindliche Entscheidungsprozesse werden nicht von Erwachsenen gelenkt</a:t>
            </a:r>
          </a:p>
          <a:p>
            <a:pPr>
              <a:buFont typeface="Wingdings" panose="05000000000000000000" pitchFamily="2" charset="2"/>
              <a:buChar char="§"/>
            </a:pPr>
            <a:r>
              <a:rPr lang="de-DE" sz="2400" dirty="0">
                <a:sym typeface="Wingdings" panose="05000000000000000000" pitchFamily="2" charset="2"/>
              </a:rPr>
              <a:t> Entscheidungen der Kinder sind verbindlich und haben reale Folgen, nicht erfüllbare Ideen/Entscheidungen müssen kommuniziert werden</a:t>
            </a:r>
          </a:p>
          <a:p>
            <a:pPr>
              <a:buFont typeface="Wingdings" panose="05000000000000000000" pitchFamily="2" charset="2"/>
              <a:buChar char="§"/>
            </a:pPr>
            <a:r>
              <a:rPr lang="de-DE" sz="2400" dirty="0">
                <a:sym typeface="Wingdings" panose="05000000000000000000" pitchFamily="2" charset="2"/>
              </a:rPr>
              <a:t> Kinder bestimmen die Regeln ihres Zusammenlebens selbst bzw. mit</a:t>
            </a:r>
          </a:p>
          <a:p>
            <a:pPr>
              <a:buFont typeface="Wingdings" panose="05000000000000000000" pitchFamily="2" charset="2"/>
              <a:buChar char="§"/>
            </a:pPr>
            <a:r>
              <a:rPr lang="de-DE" sz="2400" dirty="0">
                <a:sym typeface="Wingdings" panose="05000000000000000000" pitchFamily="2" charset="2"/>
              </a:rPr>
              <a:t> gemeinsames Suchen nach Problemlösungen</a:t>
            </a:r>
          </a:p>
          <a:p>
            <a:pPr>
              <a:buFont typeface="Wingdings" panose="05000000000000000000" pitchFamily="2" charset="2"/>
              <a:buChar char="§"/>
            </a:pPr>
            <a:r>
              <a:rPr lang="de-DE" sz="2400" dirty="0">
                <a:sym typeface="Wingdings" panose="05000000000000000000" pitchFamily="2" charset="2"/>
              </a:rPr>
              <a:t> Kinder entwickeln dabei Konzepte von Gerechtigkeit, </a:t>
            </a:r>
            <a:r>
              <a:rPr lang="de-DE" sz="2400" b="1" dirty="0">
                <a:solidFill>
                  <a:schemeClr val="tx1"/>
                </a:solidFill>
                <a:sym typeface="Wingdings" panose="05000000000000000000" pitchFamily="2" charset="2"/>
              </a:rPr>
              <a:t>demokratischen Entscheidungsmechanismen und kooperativen Lösungswegen</a:t>
            </a:r>
          </a:p>
          <a:p>
            <a:pPr marL="0" indent="0">
              <a:buNone/>
            </a:pPr>
            <a:r>
              <a:rPr lang="de-DE" sz="2400" dirty="0">
                <a:solidFill>
                  <a:schemeClr val="tx1"/>
                </a:solidFill>
                <a:sym typeface="Wingdings" panose="05000000000000000000" pitchFamily="2" charset="2"/>
              </a:rPr>
              <a:t> Kinder entwickeln dabei eine </a:t>
            </a:r>
            <a:r>
              <a:rPr lang="de-DE" sz="2400" b="1" dirty="0">
                <a:solidFill>
                  <a:schemeClr val="tx1"/>
                </a:solidFill>
                <a:sym typeface="Wingdings" panose="05000000000000000000" pitchFamily="2" charset="2"/>
              </a:rPr>
              <a:t>demokratische Grundhaltung</a:t>
            </a:r>
            <a:r>
              <a:rPr lang="de-DE" sz="2400" dirty="0">
                <a:solidFill>
                  <a:schemeClr val="tx1"/>
                </a:solidFill>
                <a:sym typeface="Wingdings" panose="05000000000000000000" pitchFamily="2" charset="2"/>
              </a:rPr>
              <a:t>, identifizieren sich mit der Gemeinschaft, sind motiviert sich einzubringen</a:t>
            </a:r>
          </a:p>
          <a:p>
            <a:pPr>
              <a:buFont typeface="Wingdings" panose="05000000000000000000" pitchFamily="2" charset="2"/>
              <a:buChar char="§"/>
            </a:pPr>
            <a:endParaRPr lang="de-DE" b="1" dirty="0">
              <a:sym typeface="Wingdings" panose="05000000000000000000" pitchFamily="2" charset="2"/>
            </a:endParaRPr>
          </a:p>
          <a:p>
            <a:pPr marL="0" indent="0">
              <a:buNone/>
            </a:pPr>
            <a:endParaRPr lang="de-DE" dirty="0"/>
          </a:p>
          <a:p>
            <a:pPr marL="0" indent="0">
              <a:buNone/>
            </a:pPr>
            <a:endParaRPr lang="de-DE" dirty="0"/>
          </a:p>
          <a:p>
            <a:endParaRPr lang="de-DE" dirty="0"/>
          </a:p>
        </p:txBody>
      </p:sp>
    </p:spTree>
    <p:extLst>
      <p:ext uri="{BB962C8B-B14F-4D97-AF65-F5344CB8AC3E}">
        <p14:creationId xmlns:p14="http://schemas.microsoft.com/office/powerpoint/2010/main" val="1994983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309AAC-BF79-220B-2B9B-8552B993CE19}"/>
              </a:ext>
            </a:extLst>
          </p:cNvPr>
          <p:cNvSpPr>
            <a:spLocks noGrp="1"/>
          </p:cNvSpPr>
          <p:nvPr>
            <p:ph type="title"/>
          </p:nvPr>
        </p:nvSpPr>
        <p:spPr/>
        <p:txBody>
          <a:bodyPr>
            <a:normAutofit/>
          </a:bodyPr>
          <a:lstStyle/>
          <a:p>
            <a:r>
              <a:rPr lang="de-DE" sz="4000" dirty="0"/>
              <a:t>Exkurs und fachliche Einordnung -  Partizipation: Stufen der Beteiligung</a:t>
            </a:r>
          </a:p>
        </p:txBody>
      </p:sp>
      <p:sp>
        <p:nvSpPr>
          <p:cNvPr id="3" name="Inhaltsplatzhalter 2">
            <a:extLst>
              <a:ext uri="{FF2B5EF4-FFF2-40B4-BE49-F238E27FC236}">
                <a16:creationId xmlns:a16="http://schemas.microsoft.com/office/drawing/2014/main" id="{7C2CDCB0-1160-C1E2-AB2E-4493ECA33821}"/>
              </a:ext>
            </a:extLst>
          </p:cNvPr>
          <p:cNvSpPr>
            <a:spLocks noGrp="1"/>
          </p:cNvSpPr>
          <p:nvPr>
            <p:ph idx="1"/>
          </p:nvPr>
        </p:nvSpPr>
        <p:spPr>
          <a:xfrm>
            <a:off x="1097280" y="1845734"/>
            <a:ext cx="10058400" cy="4023360"/>
          </a:xfrm>
        </p:spPr>
        <p:txBody>
          <a:bodyPr>
            <a:normAutofit/>
          </a:bodyPr>
          <a:lstStyle/>
          <a:p>
            <a:pPr marL="201168" lvl="1" indent="0">
              <a:buNone/>
            </a:pPr>
            <a:endParaRPr lang="de-DE" dirty="0"/>
          </a:p>
          <a:p>
            <a:pPr marL="201168" lvl="1" indent="0">
              <a:buNone/>
            </a:pPr>
            <a:endParaRPr lang="de-DE" dirty="0"/>
          </a:p>
        </p:txBody>
      </p:sp>
      <p:pic>
        <p:nvPicPr>
          <p:cNvPr id="4" name="Picture 2" descr="Hart Gernert - Stufen der Beteiligng">
            <a:extLst>
              <a:ext uri="{FF2B5EF4-FFF2-40B4-BE49-F238E27FC236}">
                <a16:creationId xmlns:a16="http://schemas.microsoft.com/office/drawing/2014/main" id="{17DDC058-5608-406C-A201-CE5B642A8416}"/>
              </a:ext>
            </a:extLst>
          </p:cNvPr>
          <p:cNvPicPr>
            <a:picLocks noChangeAspect="1" noChangeArrowheads="1"/>
          </p:cNvPicPr>
          <p:nvPr/>
        </p:nvPicPr>
        <p:blipFill>
          <a:blip r:embed="rId2" cstate="print"/>
          <a:srcRect/>
          <a:stretch>
            <a:fillRect/>
          </a:stretch>
        </p:blipFill>
        <p:spPr bwMode="auto">
          <a:xfrm>
            <a:off x="1097280" y="1876275"/>
            <a:ext cx="4856766" cy="4426823"/>
          </a:xfrm>
          <a:prstGeom prst="rect">
            <a:avLst/>
          </a:prstGeom>
          <a:noFill/>
        </p:spPr>
      </p:pic>
      <p:sp>
        <p:nvSpPr>
          <p:cNvPr id="5" name="Textfeld 4">
            <a:extLst>
              <a:ext uri="{FF2B5EF4-FFF2-40B4-BE49-F238E27FC236}">
                <a16:creationId xmlns:a16="http://schemas.microsoft.com/office/drawing/2014/main" id="{96BCEEB7-B7A3-406D-AD31-0FDE82EF8FB6}"/>
              </a:ext>
            </a:extLst>
          </p:cNvPr>
          <p:cNvSpPr txBox="1"/>
          <p:nvPr/>
        </p:nvSpPr>
        <p:spPr>
          <a:xfrm>
            <a:off x="5954046" y="2854834"/>
            <a:ext cx="2532926" cy="461665"/>
          </a:xfrm>
          <a:prstGeom prst="rect">
            <a:avLst/>
          </a:prstGeom>
          <a:noFill/>
        </p:spPr>
        <p:txBody>
          <a:bodyPr wrap="square" rtlCol="0">
            <a:spAutoFit/>
          </a:bodyPr>
          <a:lstStyle/>
          <a:p>
            <a:r>
              <a:rPr lang="de-DE" sz="2400" b="1" dirty="0">
                <a:solidFill>
                  <a:srgbClr val="FFFF00"/>
                </a:solidFill>
              </a:rPr>
              <a:t>Selbstbestimmung</a:t>
            </a:r>
          </a:p>
        </p:txBody>
      </p:sp>
      <p:sp>
        <p:nvSpPr>
          <p:cNvPr id="6" name="Textfeld 5">
            <a:extLst>
              <a:ext uri="{FF2B5EF4-FFF2-40B4-BE49-F238E27FC236}">
                <a16:creationId xmlns:a16="http://schemas.microsoft.com/office/drawing/2014/main" id="{7FFDCBA7-F76B-45E2-B4EC-094CB919C641}"/>
              </a:ext>
            </a:extLst>
          </p:cNvPr>
          <p:cNvSpPr txBox="1"/>
          <p:nvPr/>
        </p:nvSpPr>
        <p:spPr>
          <a:xfrm>
            <a:off x="5643417" y="3833393"/>
            <a:ext cx="1662896" cy="461665"/>
          </a:xfrm>
          <a:prstGeom prst="rect">
            <a:avLst/>
          </a:prstGeom>
          <a:noFill/>
        </p:spPr>
        <p:txBody>
          <a:bodyPr wrap="square" rtlCol="0">
            <a:spAutoFit/>
          </a:bodyPr>
          <a:lstStyle/>
          <a:p>
            <a:r>
              <a:rPr lang="de-DE" sz="2400" b="1" dirty="0">
                <a:solidFill>
                  <a:srgbClr val="92D050"/>
                </a:solidFill>
              </a:rPr>
              <a:t>Beteiligung</a:t>
            </a:r>
          </a:p>
        </p:txBody>
      </p:sp>
      <p:sp>
        <p:nvSpPr>
          <p:cNvPr id="7" name="Textfeld 6">
            <a:extLst>
              <a:ext uri="{FF2B5EF4-FFF2-40B4-BE49-F238E27FC236}">
                <a16:creationId xmlns:a16="http://schemas.microsoft.com/office/drawing/2014/main" id="{0FD1F8EC-08FC-43BF-B382-81C8376165EF}"/>
              </a:ext>
            </a:extLst>
          </p:cNvPr>
          <p:cNvSpPr txBox="1"/>
          <p:nvPr/>
        </p:nvSpPr>
        <p:spPr>
          <a:xfrm>
            <a:off x="5141088" y="4842001"/>
            <a:ext cx="1909823" cy="461665"/>
          </a:xfrm>
          <a:prstGeom prst="rect">
            <a:avLst/>
          </a:prstGeom>
          <a:noFill/>
        </p:spPr>
        <p:txBody>
          <a:bodyPr wrap="square" rtlCol="0">
            <a:spAutoFit/>
          </a:bodyPr>
          <a:lstStyle/>
          <a:p>
            <a:r>
              <a:rPr lang="de-DE" sz="2400" b="1" dirty="0">
                <a:solidFill>
                  <a:srgbClr val="FF0000"/>
                </a:solidFill>
              </a:rPr>
              <a:t>Fehlformen</a:t>
            </a:r>
          </a:p>
        </p:txBody>
      </p:sp>
      <p:sp>
        <p:nvSpPr>
          <p:cNvPr id="8" name="Geschweifte Klammer rechts 7">
            <a:extLst>
              <a:ext uri="{FF2B5EF4-FFF2-40B4-BE49-F238E27FC236}">
                <a16:creationId xmlns:a16="http://schemas.microsoft.com/office/drawing/2014/main" id="{BDFBF51D-FEB1-477F-B987-052467B9FAE3}"/>
              </a:ext>
            </a:extLst>
          </p:cNvPr>
          <p:cNvSpPr/>
          <p:nvPr/>
        </p:nvSpPr>
        <p:spPr>
          <a:xfrm>
            <a:off x="5246254" y="2742334"/>
            <a:ext cx="397163" cy="686666"/>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de-DE" dirty="0"/>
          </a:p>
        </p:txBody>
      </p:sp>
      <p:sp>
        <p:nvSpPr>
          <p:cNvPr id="9" name="Geschweifte Klammer rechts 8">
            <a:extLst>
              <a:ext uri="{FF2B5EF4-FFF2-40B4-BE49-F238E27FC236}">
                <a16:creationId xmlns:a16="http://schemas.microsoft.com/office/drawing/2014/main" id="{5E6BEACD-ABEA-4A58-A069-DF1BBCA14D21}"/>
              </a:ext>
            </a:extLst>
          </p:cNvPr>
          <p:cNvSpPr/>
          <p:nvPr/>
        </p:nvSpPr>
        <p:spPr>
          <a:xfrm>
            <a:off x="4849091" y="3463921"/>
            <a:ext cx="397163" cy="117273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de-DE"/>
          </a:p>
        </p:txBody>
      </p:sp>
      <p:sp>
        <p:nvSpPr>
          <p:cNvPr id="10" name="Geschweifte Klammer rechts 9">
            <a:extLst>
              <a:ext uri="{FF2B5EF4-FFF2-40B4-BE49-F238E27FC236}">
                <a16:creationId xmlns:a16="http://schemas.microsoft.com/office/drawing/2014/main" id="{2F4F2560-5372-4A56-A853-38DAC7367ED8}"/>
              </a:ext>
            </a:extLst>
          </p:cNvPr>
          <p:cNvSpPr/>
          <p:nvPr/>
        </p:nvSpPr>
        <p:spPr>
          <a:xfrm>
            <a:off x="4322619" y="4616216"/>
            <a:ext cx="397163" cy="97992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375343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8CCA0621-DB41-52AA-681F-FDB46E285CF9}"/>
              </a:ext>
            </a:extLst>
          </p:cNvPr>
          <p:cNvSpPr>
            <a:spLocks noGrp="1"/>
          </p:cNvSpPr>
          <p:nvPr>
            <p:ph type="ftr" sz="quarter" idx="11"/>
          </p:nvPr>
        </p:nvSpPr>
        <p:spPr>
          <a:xfrm>
            <a:off x="4038600" y="6356350"/>
            <a:ext cx="4114800" cy="365125"/>
          </a:xfrm>
        </p:spPr>
        <p:txBody>
          <a:bodyPr/>
          <a:lstStyle/>
          <a:p>
            <a:r>
              <a:rPr lang="de-DE"/>
              <a:t>WPU „Partizipation“</a:t>
            </a:r>
            <a:endParaRPr lang="de-DE" dirty="0"/>
          </a:p>
        </p:txBody>
      </p:sp>
      <p:sp>
        <p:nvSpPr>
          <p:cNvPr id="5" name="Textfeld 4">
            <a:extLst>
              <a:ext uri="{FF2B5EF4-FFF2-40B4-BE49-F238E27FC236}">
                <a16:creationId xmlns:a16="http://schemas.microsoft.com/office/drawing/2014/main" id="{4C33A2C6-02A3-477B-5397-407AFEB96C8E}"/>
              </a:ext>
            </a:extLst>
          </p:cNvPr>
          <p:cNvSpPr txBox="1"/>
          <p:nvPr/>
        </p:nvSpPr>
        <p:spPr>
          <a:xfrm>
            <a:off x="601882" y="405114"/>
            <a:ext cx="4166888" cy="1169551"/>
          </a:xfrm>
          <a:prstGeom prst="rect">
            <a:avLst/>
          </a:prstGeom>
          <a:noFill/>
        </p:spPr>
        <p:txBody>
          <a:bodyPr wrap="square" rtlCol="0">
            <a:spAutoFit/>
          </a:bodyPr>
          <a:lstStyle/>
          <a:p>
            <a:r>
              <a:rPr lang="de-DE" sz="1400" dirty="0"/>
              <a:t>1. Auf Bitten des Bürgermeisters erscheint eine Kindergartengruppe zur Eröffnung des Spielplatzes. Sie singen ein Lied und stehen daneben, als der Bürgermeister feierlich ein Band zerschneidet. Das Foto davon erscheint in der Lokalpresse</a:t>
            </a:r>
          </a:p>
        </p:txBody>
      </p:sp>
      <p:sp>
        <p:nvSpPr>
          <p:cNvPr id="6" name="Textfeld 5">
            <a:extLst>
              <a:ext uri="{FF2B5EF4-FFF2-40B4-BE49-F238E27FC236}">
                <a16:creationId xmlns:a16="http://schemas.microsoft.com/office/drawing/2014/main" id="{310C9FCA-797B-7C66-A426-DE82F0C66C61}"/>
              </a:ext>
            </a:extLst>
          </p:cNvPr>
          <p:cNvSpPr txBox="1"/>
          <p:nvPr/>
        </p:nvSpPr>
        <p:spPr>
          <a:xfrm>
            <a:off x="2164467" y="5036917"/>
            <a:ext cx="3972046" cy="1169551"/>
          </a:xfrm>
          <a:prstGeom prst="rect">
            <a:avLst/>
          </a:prstGeom>
          <a:noFill/>
        </p:spPr>
        <p:txBody>
          <a:bodyPr wrap="square" rtlCol="0">
            <a:spAutoFit/>
          </a:bodyPr>
          <a:lstStyle/>
          <a:p>
            <a:r>
              <a:rPr lang="de-DE" sz="1400" dirty="0"/>
              <a:t>8. Das Außengeländer der Kita wird neu gestaltet. Alle Kinder sollen eine Zeichnung machen, wie sie sich den „perfekten“ Schulhof wünschen.  Der Architekt hat seine Planungen aber schon abgeschlossen.</a:t>
            </a:r>
          </a:p>
        </p:txBody>
      </p:sp>
      <p:sp>
        <p:nvSpPr>
          <p:cNvPr id="7" name="Textfeld 6">
            <a:extLst>
              <a:ext uri="{FF2B5EF4-FFF2-40B4-BE49-F238E27FC236}">
                <a16:creationId xmlns:a16="http://schemas.microsoft.com/office/drawing/2014/main" id="{AC26977C-67C4-3926-4F97-A69B97F87F05}"/>
              </a:ext>
            </a:extLst>
          </p:cNvPr>
          <p:cNvSpPr txBox="1"/>
          <p:nvPr/>
        </p:nvSpPr>
        <p:spPr>
          <a:xfrm>
            <a:off x="617314" y="1971556"/>
            <a:ext cx="3653743" cy="1169551"/>
          </a:xfrm>
          <a:prstGeom prst="rect">
            <a:avLst/>
          </a:prstGeom>
          <a:noFill/>
        </p:spPr>
        <p:txBody>
          <a:bodyPr wrap="square" rtlCol="0">
            <a:spAutoFit/>
          </a:bodyPr>
          <a:lstStyle/>
          <a:p>
            <a:r>
              <a:rPr lang="de-DE" sz="1400" dirty="0"/>
              <a:t>3. Der Schulleiter äußert gegenüber der Stadt, dass der Schüler*innen-Rat seine Pläne für einen Schulumbau unterstützt. Die Schüler*innen haben von diesen Plänen aber noch gar nicht erfahren.</a:t>
            </a:r>
          </a:p>
        </p:txBody>
      </p:sp>
      <p:sp>
        <p:nvSpPr>
          <p:cNvPr id="8" name="Textfeld 7">
            <a:extLst>
              <a:ext uri="{FF2B5EF4-FFF2-40B4-BE49-F238E27FC236}">
                <a16:creationId xmlns:a16="http://schemas.microsoft.com/office/drawing/2014/main" id="{28972BE6-7778-FB9A-B8AE-83CD9A58D8F5}"/>
              </a:ext>
            </a:extLst>
          </p:cNvPr>
          <p:cNvSpPr txBox="1"/>
          <p:nvPr/>
        </p:nvSpPr>
        <p:spPr>
          <a:xfrm>
            <a:off x="734992" y="3964331"/>
            <a:ext cx="4265272" cy="738664"/>
          </a:xfrm>
          <a:prstGeom prst="rect">
            <a:avLst/>
          </a:prstGeom>
          <a:noFill/>
        </p:spPr>
        <p:txBody>
          <a:bodyPr wrap="square" rtlCol="0">
            <a:spAutoFit/>
          </a:bodyPr>
          <a:lstStyle/>
          <a:p>
            <a:r>
              <a:rPr lang="de-DE" sz="1400" dirty="0"/>
              <a:t>6. Alle 6 Monate findet eine Jugendsprechstunde statt, in der der Bürgermeister über aktuelle Themen berichtet und Jugendliche dazu Fragen stellen können. </a:t>
            </a:r>
          </a:p>
        </p:txBody>
      </p:sp>
      <p:sp>
        <p:nvSpPr>
          <p:cNvPr id="9" name="Textfeld 8">
            <a:extLst>
              <a:ext uri="{FF2B5EF4-FFF2-40B4-BE49-F238E27FC236}">
                <a16:creationId xmlns:a16="http://schemas.microsoft.com/office/drawing/2014/main" id="{D598AB1E-40E2-C903-1DD0-EBAFD618B57F}"/>
              </a:ext>
            </a:extLst>
          </p:cNvPr>
          <p:cNvSpPr txBox="1"/>
          <p:nvPr/>
        </p:nvSpPr>
        <p:spPr>
          <a:xfrm>
            <a:off x="4660738" y="2068011"/>
            <a:ext cx="3777206" cy="1169551"/>
          </a:xfrm>
          <a:prstGeom prst="rect">
            <a:avLst/>
          </a:prstGeom>
          <a:noFill/>
        </p:spPr>
        <p:txBody>
          <a:bodyPr wrap="square" rtlCol="0">
            <a:spAutoFit/>
          </a:bodyPr>
          <a:lstStyle/>
          <a:p>
            <a:r>
              <a:rPr lang="de-DE" sz="1400" dirty="0"/>
              <a:t>9. Die Kindergartengruppe hat von der Verwaltung ein Hochbeet mitten in der Stadt zur Verfügung gestellt bekommen. Die Kinder kümmern sich regelmäßig darum und machen Ausflüge dorthin.</a:t>
            </a:r>
          </a:p>
        </p:txBody>
      </p:sp>
      <p:sp>
        <p:nvSpPr>
          <p:cNvPr id="10" name="Textfeld 9">
            <a:extLst>
              <a:ext uri="{FF2B5EF4-FFF2-40B4-BE49-F238E27FC236}">
                <a16:creationId xmlns:a16="http://schemas.microsoft.com/office/drawing/2014/main" id="{EB6FBF02-6B45-4C54-386F-C8C1BC1E1B1E}"/>
              </a:ext>
            </a:extLst>
          </p:cNvPr>
          <p:cNvSpPr txBox="1"/>
          <p:nvPr/>
        </p:nvSpPr>
        <p:spPr>
          <a:xfrm>
            <a:off x="6238754" y="354960"/>
            <a:ext cx="4525701" cy="1169551"/>
          </a:xfrm>
          <a:prstGeom prst="rect">
            <a:avLst/>
          </a:prstGeom>
          <a:noFill/>
        </p:spPr>
        <p:txBody>
          <a:bodyPr wrap="square" rtlCol="0">
            <a:spAutoFit/>
          </a:bodyPr>
          <a:lstStyle/>
          <a:p>
            <a:r>
              <a:rPr lang="de-DE" sz="1400" dirty="0"/>
              <a:t>2. Die Grundschulklasse erarbeitet gemeinsam mit dem Klassenlehrer Wünsche und Ideen für die gemeinsame Abschlussfahrt. Die Entscheidung trifft der Klassenlehrer nach eigener Recherche und Preiskalkulation in Absprache mit der Klasse.</a:t>
            </a:r>
          </a:p>
        </p:txBody>
      </p:sp>
      <p:sp>
        <p:nvSpPr>
          <p:cNvPr id="11" name="Textfeld 10">
            <a:extLst>
              <a:ext uri="{FF2B5EF4-FFF2-40B4-BE49-F238E27FC236}">
                <a16:creationId xmlns:a16="http://schemas.microsoft.com/office/drawing/2014/main" id="{17D98350-5011-0719-76ED-889AEED84D34}"/>
              </a:ext>
            </a:extLst>
          </p:cNvPr>
          <p:cNvSpPr txBox="1"/>
          <p:nvPr/>
        </p:nvSpPr>
        <p:spPr>
          <a:xfrm>
            <a:off x="6894653" y="3838938"/>
            <a:ext cx="4265272" cy="954107"/>
          </a:xfrm>
          <a:prstGeom prst="rect">
            <a:avLst/>
          </a:prstGeom>
          <a:noFill/>
        </p:spPr>
        <p:txBody>
          <a:bodyPr wrap="square" rtlCol="0">
            <a:spAutoFit/>
          </a:bodyPr>
          <a:lstStyle/>
          <a:p>
            <a:r>
              <a:rPr lang="de-DE" sz="1400" dirty="0"/>
              <a:t>7. Schülervertreter*innen stimmen gemeinsam mit den Elternvertreter*innen und einigen Lehrer*innen gegen den Vorschlag der Schulleitung für das neue Schulprogramm.</a:t>
            </a:r>
          </a:p>
        </p:txBody>
      </p:sp>
      <p:sp>
        <p:nvSpPr>
          <p:cNvPr id="12" name="Textfeld 11">
            <a:extLst>
              <a:ext uri="{FF2B5EF4-FFF2-40B4-BE49-F238E27FC236}">
                <a16:creationId xmlns:a16="http://schemas.microsoft.com/office/drawing/2014/main" id="{8432FF3B-7A0D-2440-743A-98CA0EFF112C}"/>
              </a:ext>
            </a:extLst>
          </p:cNvPr>
          <p:cNvSpPr txBox="1"/>
          <p:nvPr/>
        </p:nvSpPr>
        <p:spPr>
          <a:xfrm>
            <a:off x="6985320" y="5168099"/>
            <a:ext cx="4496765" cy="1169551"/>
          </a:xfrm>
          <a:prstGeom prst="rect">
            <a:avLst/>
          </a:prstGeom>
          <a:noFill/>
        </p:spPr>
        <p:txBody>
          <a:bodyPr wrap="square" rtlCol="0">
            <a:spAutoFit/>
          </a:bodyPr>
          <a:lstStyle/>
          <a:p>
            <a:r>
              <a:rPr lang="de-DE" sz="1400" dirty="0"/>
              <a:t>4. Einige Jugendliche haben selbständig eine Initiative zur Unterstützung von geflüchteten Menschen im Alltag gegründet. Sie werden bei der alltäglichen Organisation und Koordination von einer Mitarbeiterin aus dem Jugendzentrum unterstützt.</a:t>
            </a:r>
          </a:p>
        </p:txBody>
      </p:sp>
      <p:sp>
        <p:nvSpPr>
          <p:cNvPr id="13" name="Textfeld 12">
            <a:extLst>
              <a:ext uri="{FF2B5EF4-FFF2-40B4-BE49-F238E27FC236}">
                <a16:creationId xmlns:a16="http://schemas.microsoft.com/office/drawing/2014/main" id="{CB570CE5-F9F8-7D6A-D676-FB15FE57D3E2}"/>
              </a:ext>
            </a:extLst>
          </p:cNvPr>
          <p:cNvSpPr txBox="1"/>
          <p:nvPr/>
        </p:nvSpPr>
        <p:spPr>
          <a:xfrm>
            <a:off x="8827624" y="2068012"/>
            <a:ext cx="3186897" cy="954107"/>
          </a:xfrm>
          <a:prstGeom prst="rect">
            <a:avLst/>
          </a:prstGeom>
          <a:noFill/>
        </p:spPr>
        <p:txBody>
          <a:bodyPr wrap="square" rtlCol="0">
            <a:spAutoFit/>
          </a:bodyPr>
          <a:lstStyle/>
          <a:p>
            <a:r>
              <a:rPr lang="de-DE" sz="1400" dirty="0"/>
              <a:t>5. Im autonomen Jugendzentrum wird das ganze Programm von den jungen Besucher*innen selbst geplant und verwaltet.</a:t>
            </a:r>
          </a:p>
        </p:txBody>
      </p:sp>
    </p:spTree>
    <p:extLst>
      <p:ext uri="{BB962C8B-B14F-4D97-AF65-F5344CB8AC3E}">
        <p14:creationId xmlns:p14="http://schemas.microsoft.com/office/powerpoint/2010/main" val="405123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linds(horizontal)">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3">
            <a:extLst>
              <a:ext uri="{FF2B5EF4-FFF2-40B4-BE49-F238E27FC236}">
                <a16:creationId xmlns:a16="http://schemas.microsoft.com/office/drawing/2014/main" id="{22F72BFA-AC78-FA65-7415-C827EEC174A2}"/>
              </a:ext>
            </a:extLst>
          </p:cNvPr>
          <p:cNvSpPr>
            <a:spLocks noGrp="1"/>
          </p:cNvSpPr>
          <p:nvPr>
            <p:ph type="ftr" sz="quarter" idx="11"/>
          </p:nvPr>
        </p:nvSpPr>
        <p:spPr>
          <a:xfrm>
            <a:off x="4038600" y="6356350"/>
            <a:ext cx="4114800" cy="365125"/>
          </a:xfrm>
        </p:spPr>
        <p:txBody>
          <a:bodyPr/>
          <a:lstStyle/>
          <a:p>
            <a:r>
              <a:rPr lang="de-DE"/>
              <a:t>WPU „Partizipation“</a:t>
            </a:r>
            <a:endParaRPr lang="de-DE" dirty="0"/>
          </a:p>
        </p:txBody>
      </p:sp>
      <p:sp>
        <p:nvSpPr>
          <p:cNvPr id="3" name="Textfeld 2">
            <a:extLst>
              <a:ext uri="{FF2B5EF4-FFF2-40B4-BE49-F238E27FC236}">
                <a16:creationId xmlns:a16="http://schemas.microsoft.com/office/drawing/2014/main" id="{74FC9142-D9EB-79DF-CD17-7D01CEF26E66}"/>
              </a:ext>
            </a:extLst>
          </p:cNvPr>
          <p:cNvSpPr txBox="1"/>
          <p:nvPr/>
        </p:nvSpPr>
        <p:spPr>
          <a:xfrm>
            <a:off x="601882" y="405114"/>
            <a:ext cx="4166888" cy="1169551"/>
          </a:xfrm>
          <a:prstGeom prst="rect">
            <a:avLst/>
          </a:prstGeom>
          <a:noFill/>
        </p:spPr>
        <p:txBody>
          <a:bodyPr wrap="square" rtlCol="0">
            <a:spAutoFit/>
          </a:bodyPr>
          <a:lstStyle/>
          <a:p>
            <a:r>
              <a:rPr lang="de-DE" sz="1400" dirty="0"/>
              <a:t>1. Auf Bitten des Bürgermeisters erscheint eine Kindergartengruppe zur Eröffnung des Spielplatzes. Sie singen ein Lied und stehen daneben, als der Bürgermeister feierlich ein Band zerschneidet. Das Foto davon erscheint in der Lokalpresse</a:t>
            </a:r>
          </a:p>
        </p:txBody>
      </p:sp>
      <p:sp>
        <p:nvSpPr>
          <p:cNvPr id="4" name="Textfeld 3">
            <a:extLst>
              <a:ext uri="{FF2B5EF4-FFF2-40B4-BE49-F238E27FC236}">
                <a16:creationId xmlns:a16="http://schemas.microsoft.com/office/drawing/2014/main" id="{0ED24F76-E433-07A0-6FA3-84E97A9FA20F}"/>
              </a:ext>
            </a:extLst>
          </p:cNvPr>
          <p:cNvSpPr txBox="1"/>
          <p:nvPr/>
        </p:nvSpPr>
        <p:spPr>
          <a:xfrm>
            <a:off x="2164467" y="5036917"/>
            <a:ext cx="3972046" cy="1169551"/>
          </a:xfrm>
          <a:prstGeom prst="rect">
            <a:avLst/>
          </a:prstGeom>
          <a:noFill/>
        </p:spPr>
        <p:txBody>
          <a:bodyPr wrap="square" rtlCol="0">
            <a:spAutoFit/>
          </a:bodyPr>
          <a:lstStyle/>
          <a:p>
            <a:r>
              <a:rPr lang="de-DE" sz="1400" dirty="0"/>
              <a:t>8. Das Außengeländer der Kita wird neu gestaltet. Alle Kinder sollen eine Zeichnung machen, wie sie sich den „perfekten“ Schulhof wünschen.  Der Architekt hat seine Planungen aber schon abgeschlossen.</a:t>
            </a:r>
          </a:p>
        </p:txBody>
      </p:sp>
      <p:sp>
        <p:nvSpPr>
          <p:cNvPr id="5" name="Textfeld 4">
            <a:extLst>
              <a:ext uri="{FF2B5EF4-FFF2-40B4-BE49-F238E27FC236}">
                <a16:creationId xmlns:a16="http://schemas.microsoft.com/office/drawing/2014/main" id="{5CEBC314-E3B1-9709-BBCB-D5B2F1F7606D}"/>
              </a:ext>
            </a:extLst>
          </p:cNvPr>
          <p:cNvSpPr txBox="1"/>
          <p:nvPr/>
        </p:nvSpPr>
        <p:spPr>
          <a:xfrm>
            <a:off x="617314" y="1971556"/>
            <a:ext cx="3653743" cy="1169551"/>
          </a:xfrm>
          <a:prstGeom prst="rect">
            <a:avLst/>
          </a:prstGeom>
          <a:noFill/>
        </p:spPr>
        <p:txBody>
          <a:bodyPr wrap="square" rtlCol="0">
            <a:spAutoFit/>
          </a:bodyPr>
          <a:lstStyle/>
          <a:p>
            <a:r>
              <a:rPr lang="de-DE" sz="1400" dirty="0"/>
              <a:t>3. Der Schulleiter äußert gegenüber der Stadt, dass der Schüler*innen-Rat seine Pläne für einen Schulumbau unterstützt. Die Schüler*innen haben von diesen Plänen aber noch gar nicht erfahren.</a:t>
            </a:r>
          </a:p>
        </p:txBody>
      </p:sp>
      <p:sp>
        <p:nvSpPr>
          <p:cNvPr id="6" name="Textfeld 5">
            <a:extLst>
              <a:ext uri="{FF2B5EF4-FFF2-40B4-BE49-F238E27FC236}">
                <a16:creationId xmlns:a16="http://schemas.microsoft.com/office/drawing/2014/main" id="{14AE14D0-629F-E629-1052-28FF0A9FAF28}"/>
              </a:ext>
            </a:extLst>
          </p:cNvPr>
          <p:cNvSpPr txBox="1"/>
          <p:nvPr/>
        </p:nvSpPr>
        <p:spPr>
          <a:xfrm>
            <a:off x="734992" y="3964331"/>
            <a:ext cx="4265272" cy="738664"/>
          </a:xfrm>
          <a:prstGeom prst="rect">
            <a:avLst/>
          </a:prstGeom>
          <a:noFill/>
        </p:spPr>
        <p:txBody>
          <a:bodyPr wrap="square" rtlCol="0">
            <a:spAutoFit/>
          </a:bodyPr>
          <a:lstStyle/>
          <a:p>
            <a:r>
              <a:rPr lang="de-DE" sz="1400" dirty="0"/>
              <a:t>6. Alle 6 Monate findet eine Jugendsprechstunde statt, in der der Bürgermeister über aktuelle Themen berichtet und Jugendliche dazu Fragen stellen können. </a:t>
            </a:r>
          </a:p>
        </p:txBody>
      </p:sp>
      <p:sp>
        <p:nvSpPr>
          <p:cNvPr id="7" name="Textfeld 6">
            <a:extLst>
              <a:ext uri="{FF2B5EF4-FFF2-40B4-BE49-F238E27FC236}">
                <a16:creationId xmlns:a16="http://schemas.microsoft.com/office/drawing/2014/main" id="{D43988EE-57CA-C508-DA11-A92014429A24}"/>
              </a:ext>
            </a:extLst>
          </p:cNvPr>
          <p:cNvSpPr txBox="1"/>
          <p:nvPr/>
        </p:nvSpPr>
        <p:spPr>
          <a:xfrm>
            <a:off x="4660738" y="2068011"/>
            <a:ext cx="3777206" cy="1169551"/>
          </a:xfrm>
          <a:prstGeom prst="rect">
            <a:avLst/>
          </a:prstGeom>
          <a:noFill/>
        </p:spPr>
        <p:txBody>
          <a:bodyPr wrap="square" rtlCol="0">
            <a:spAutoFit/>
          </a:bodyPr>
          <a:lstStyle/>
          <a:p>
            <a:r>
              <a:rPr lang="de-DE" sz="1400" dirty="0"/>
              <a:t>9. Die Kindergartengruppe hat von der Verwaltung ein Hochbeet mitten in der Stadt zur Verfügung gestellt bekommen. Die Kinder kümmern sich regelmäßig darum und machen Ausflüge dorthin.</a:t>
            </a:r>
          </a:p>
        </p:txBody>
      </p:sp>
      <p:sp>
        <p:nvSpPr>
          <p:cNvPr id="8" name="Textfeld 7">
            <a:extLst>
              <a:ext uri="{FF2B5EF4-FFF2-40B4-BE49-F238E27FC236}">
                <a16:creationId xmlns:a16="http://schemas.microsoft.com/office/drawing/2014/main" id="{B5092E30-F0E0-E530-06A3-14D21C6EA451}"/>
              </a:ext>
            </a:extLst>
          </p:cNvPr>
          <p:cNvSpPr txBox="1"/>
          <p:nvPr/>
        </p:nvSpPr>
        <p:spPr>
          <a:xfrm>
            <a:off x="6238754" y="354960"/>
            <a:ext cx="4525701" cy="1169551"/>
          </a:xfrm>
          <a:prstGeom prst="rect">
            <a:avLst/>
          </a:prstGeom>
          <a:noFill/>
        </p:spPr>
        <p:txBody>
          <a:bodyPr wrap="square" rtlCol="0">
            <a:spAutoFit/>
          </a:bodyPr>
          <a:lstStyle/>
          <a:p>
            <a:r>
              <a:rPr lang="de-DE" sz="1400" dirty="0"/>
              <a:t>2. Die Grundschulklasse erarbeitet gemeinsam mit dem Klassenlehrer Wünsche und Ideen für die gemeinsame Abschlussfahrt. Die Entscheidung trifft der Klassenlehrer nach eigener Recherche und Preiskalkulation in Absprache mit der Klasse.</a:t>
            </a:r>
          </a:p>
        </p:txBody>
      </p:sp>
      <p:sp>
        <p:nvSpPr>
          <p:cNvPr id="9" name="Textfeld 8">
            <a:extLst>
              <a:ext uri="{FF2B5EF4-FFF2-40B4-BE49-F238E27FC236}">
                <a16:creationId xmlns:a16="http://schemas.microsoft.com/office/drawing/2014/main" id="{23269F66-7817-077F-3281-8DB6207907D0}"/>
              </a:ext>
            </a:extLst>
          </p:cNvPr>
          <p:cNvSpPr txBox="1"/>
          <p:nvPr/>
        </p:nvSpPr>
        <p:spPr>
          <a:xfrm>
            <a:off x="6894653" y="3838938"/>
            <a:ext cx="4265272" cy="954107"/>
          </a:xfrm>
          <a:prstGeom prst="rect">
            <a:avLst/>
          </a:prstGeom>
          <a:noFill/>
        </p:spPr>
        <p:txBody>
          <a:bodyPr wrap="square" rtlCol="0">
            <a:spAutoFit/>
          </a:bodyPr>
          <a:lstStyle/>
          <a:p>
            <a:r>
              <a:rPr lang="de-DE" sz="1400" dirty="0"/>
              <a:t>7. Schülervertreter*innen stimmen gemeinsam mit den Elternvertreter*innen und einigen Lehrer*innen gegen den Vorschlag der Schulleitung für das neue Schulprogramm.</a:t>
            </a:r>
          </a:p>
        </p:txBody>
      </p:sp>
      <p:sp>
        <p:nvSpPr>
          <p:cNvPr id="10" name="Textfeld 9">
            <a:extLst>
              <a:ext uri="{FF2B5EF4-FFF2-40B4-BE49-F238E27FC236}">
                <a16:creationId xmlns:a16="http://schemas.microsoft.com/office/drawing/2014/main" id="{394FEB89-3FB9-AA85-A524-5A58A94FBB71}"/>
              </a:ext>
            </a:extLst>
          </p:cNvPr>
          <p:cNvSpPr txBox="1"/>
          <p:nvPr/>
        </p:nvSpPr>
        <p:spPr>
          <a:xfrm>
            <a:off x="6985320" y="5168099"/>
            <a:ext cx="4496765" cy="1169551"/>
          </a:xfrm>
          <a:prstGeom prst="rect">
            <a:avLst/>
          </a:prstGeom>
          <a:noFill/>
        </p:spPr>
        <p:txBody>
          <a:bodyPr wrap="square" rtlCol="0">
            <a:spAutoFit/>
          </a:bodyPr>
          <a:lstStyle/>
          <a:p>
            <a:r>
              <a:rPr lang="de-DE" sz="1400" dirty="0"/>
              <a:t>4. Einige Jugendliche haben selbständig eine Initiative zur Unterstützung von geflüchteten Menschen im Alltag gegründet. Sie werden bei der alltäglichen Organisation und Koordination von einer Mitarbeitern aus dem Jugendzentrum unterstützt.</a:t>
            </a:r>
          </a:p>
        </p:txBody>
      </p:sp>
      <p:sp>
        <p:nvSpPr>
          <p:cNvPr id="11" name="Textfeld 10">
            <a:extLst>
              <a:ext uri="{FF2B5EF4-FFF2-40B4-BE49-F238E27FC236}">
                <a16:creationId xmlns:a16="http://schemas.microsoft.com/office/drawing/2014/main" id="{26649ED7-080A-0C84-C0E5-21B4670A59EA}"/>
              </a:ext>
            </a:extLst>
          </p:cNvPr>
          <p:cNvSpPr txBox="1"/>
          <p:nvPr/>
        </p:nvSpPr>
        <p:spPr>
          <a:xfrm>
            <a:off x="8827624" y="2068012"/>
            <a:ext cx="3186897" cy="954107"/>
          </a:xfrm>
          <a:prstGeom prst="rect">
            <a:avLst/>
          </a:prstGeom>
          <a:noFill/>
        </p:spPr>
        <p:txBody>
          <a:bodyPr wrap="square" rtlCol="0">
            <a:spAutoFit/>
          </a:bodyPr>
          <a:lstStyle/>
          <a:p>
            <a:r>
              <a:rPr lang="de-DE" sz="1400" dirty="0"/>
              <a:t>5. Im autonomen Jugendzentrum wird das ganze Programm von den jungen Besucher*innen selbst geplant und verwaltet.</a:t>
            </a:r>
          </a:p>
        </p:txBody>
      </p:sp>
      <p:sp>
        <p:nvSpPr>
          <p:cNvPr id="12" name="Textfeld 11">
            <a:extLst>
              <a:ext uri="{FF2B5EF4-FFF2-40B4-BE49-F238E27FC236}">
                <a16:creationId xmlns:a16="http://schemas.microsoft.com/office/drawing/2014/main" id="{6517AD23-3F83-4B61-9748-96A839330FB1}"/>
              </a:ext>
            </a:extLst>
          </p:cNvPr>
          <p:cNvSpPr txBox="1"/>
          <p:nvPr/>
        </p:nvSpPr>
        <p:spPr>
          <a:xfrm rot="21126772">
            <a:off x="783453" y="559583"/>
            <a:ext cx="3103105" cy="707886"/>
          </a:xfrm>
          <a:prstGeom prst="rect">
            <a:avLst/>
          </a:prstGeom>
          <a:noFill/>
        </p:spPr>
        <p:txBody>
          <a:bodyPr wrap="square" rtlCol="0">
            <a:spAutoFit/>
          </a:bodyPr>
          <a:lstStyle/>
          <a:p>
            <a:r>
              <a:rPr lang="de-DE" sz="4000" b="1" dirty="0">
                <a:ln>
                  <a:solidFill>
                    <a:schemeClr val="tx1"/>
                  </a:solidFill>
                </a:ln>
                <a:solidFill>
                  <a:srgbClr val="FF0000"/>
                </a:solidFill>
                <a:effectLst>
                  <a:glow rad="228600">
                    <a:schemeClr val="accent2">
                      <a:satMod val="175000"/>
                      <a:alpha val="40000"/>
                    </a:schemeClr>
                  </a:glow>
                </a:effectLst>
                <a:latin typeface="Franklin Gothic Heavy" pitchFamily="34" charset="0"/>
              </a:rPr>
              <a:t>Dekoration</a:t>
            </a:r>
          </a:p>
        </p:txBody>
      </p:sp>
      <p:sp>
        <p:nvSpPr>
          <p:cNvPr id="13" name="Textfeld 12">
            <a:extLst>
              <a:ext uri="{FF2B5EF4-FFF2-40B4-BE49-F238E27FC236}">
                <a16:creationId xmlns:a16="http://schemas.microsoft.com/office/drawing/2014/main" id="{F82D01B2-FA0B-2613-7021-1E78D93396DB}"/>
              </a:ext>
            </a:extLst>
          </p:cNvPr>
          <p:cNvSpPr txBox="1"/>
          <p:nvPr/>
        </p:nvSpPr>
        <p:spPr>
          <a:xfrm rot="21126772">
            <a:off x="1984814" y="5140078"/>
            <a:ext cx="4019641" cy="707886"/>
          </a:xfrm>
          <a:prstGeom prst="rect">
            <a:avLst/>
          </a:prstGeom>
          <a:noFill/>
        </p:spPr>
        <p:txBody>
          <a:bodyPr wrap="square" rtlCol="0">
            <a:spAutoFit/>
          </a:bodyPr>
          <a:lstStyle/>
          <a:p>
            <a:r>
              <a:rPr lang="de-DE" sz="4000" b="1" dirty="0">
                <a:ln>
                  <a:solidFill>
                    <a:schemeClr val="tx1"/>
                  </a:solidFill>
                </a:ln>
                <a:solidFill>
                  <a:srgbClr val="FF0000"/>
                </a:solidFill>
                <a:effectLst>
                  <a:glow rad="228600">
                    <a:schemeClr val="accent2">
                      <a:satMod val="175000"/>
                      <a:alpha val="40000"/>
                    </a:schemeClr>
                  </a:glow>
                </a:effectLst>
                <a:latin typeface="Franklin Gothic Heavy" pitchFamily="34" charset="0"/>
              </a:rPr>
              <a:t>Alibi-Teilnahme</a:t>
            </a:r>
          </a:p>
        </p:txBody>
      </p:sp>
      <p:sp>
        <p:nvSpPr>
          <p:cNvPr id="14" name="Textfeld 13">
            <a:extLst>
              <a:ext uri="{FF2B5EF4-FFF2-40B4-BE49-F238E27FC236}">
                <a16:creationId xmlns:a16="http://schemas.microsoft.com/office/drawing/2014/main" id="{5F54B5D2-8FD3-E2DE-9AD2-4BF76638868D}"/>
              </a:ext>
            </a:extLst>
          </p:cNvPr>
          <p:cNvSpPr txBox="1"/>
          <p:nvPr/>
        </p:nvSpPr>
        <p:spPr>
          <a:xfrm rot="21126772">
            <a:off x="576323" y="1886969"/>
            <a:ext cx="3254306" cy="1323439"/>
          </a:xfrm>
          <a:prstGeom prst="rect">
            <a:avLst/>
          </a:prstGeom>
          <a:noFill/>
        </p:spPr>
        <p:txBody>
          <a:bodyPr wrap="square" rtlCol="0">
            <a:spAutoFit/>
          </a:bodyPr>
          <a:lstStyle/>
          <a:p>
            <a:pPr algn="ctr"/>
            <a:r>
              <a:rPr lang="de-DE" sz="4000" b="1" dirty="0">
                <a:ln>
                  <a:solidFill>
                    <a:schemeClr val="tx1"/>
                  </a:solidFill>
                </a:ln>
                <a:solidFill>
                  <a:srgbClr val="FF0000"/>
                </a:solidFill>
                <a:effectLst>
                  <a:glow rad="228600">
                    <a:schemeClr val="accent2">
                      <a:satMod val="175000"/>
                      <a:alpha val="40000"/>
                    </a:schemeClr>
                  </a:glow>
                </a:effectLst>
                <a:latin typeface="Franklin Gothic Heavy" pitchFamily="34" charset="0"/>
              </a:rPr>
              <a:t>Fremd-</a:t>
            </a:r>
          </a:p>
          <a:p>
            <a:r>
              <a:rPr lang="de-DE" sz="4000" b="1" dirty="0" err="1">
                <a:ln>
                  <a:solidFill>
                    <a:schemeClr val="tx1"/>
                  </a:solidFill>
                </a:ln>
                <a:solidFill>
                  <a:srgbClr val="FF0000"/>
                </a:solidFill>
                <a:effectLst>
                  <a:glow rad="228600">
                    <a:schemeClr val="accent2">
                      <a:satMod val="175000"/>
                      <a:alpha val="40000"/>
                    </a:schemeClr>
                  </a:glow>
                </a:effectLst>
                <a:latin typeface="Franklin Gothic Heavy" pitchFamily="34" charset="0"/>
              </a:rPr>
              <a:t>bestimmung</a:t>
            </a:r>
            <a:endParaRPr lang="de-DE" sz="4000" b="1" dirty="0">
              <a:ln>
                <a:solidFill>
                  <a:schemeClr val="tx1"/>
                </a:solidFill>
              </a:ln>
              <a:solidFill>
                <a:srgbClr val="FF0000"/>
              </a:solidFill>
              <a:effectLst>
                <a:glow rad="228600">
                  <a:schemeClr val="accent2">
                    <a:satMod val="175000"/>
                    <a:alpha val="40000"/>
                  </a:schemeClr>
                </a:glow>
              </a:effectLst>
              <a:latin typeface="Franklin Gothic Heavy" pitchFamily="34" charset="0"/>
            </a:endParaRPr>
          </a:p>
        </p:txBody>
      </p:sp>
      <p:sp>
        <p:nvSpPr>
          <p:cNvPr id="15" name="Textfeld 14">
            <a:extLst>
              <a:ext uri="{FF2B5EF4-FFF2-40B4-BE49-F238E27FC236}">
                <a16:creationId xmlns:a16="http://schemas.microsoft.com/office/drawing/2014/main" id="{4FE8628F-2832-FF5A-0ED7-3E0D7C24C783}"/>
              </a:ext>
            </a:extLst>
          </p:cNvPr>
          <p:cNvSpPr txBox="1"/>
          <p:nvPr/>
        </p:nvSpPr>
        <p:spPr>
          <a:xfrm>
            <a:off x="6700045" y="468915"/>
            <a:ext cx="3103105" cy="707886"/>
          </a:xfrm>
          <a:prstGeom prst="rect">
            <a:avLst/>
          </a:prstGeom>
          <a:noFill/>
        </p:spPr>
        <p:txBody>
          <a:bodyPr wrap="square" rtlCol="0">
            <a:spAutoFit/>
          </a:bodyPr>
          <a:lstStyle/>
          <a:p>
            <a:r>
              <a:rPr lang="de-DE" sz="4000" b="1" dirty="0">
                <a:ln>
                  <a:solidFill>
                    <a:schemeClr val="tx1"/>
                  </a:solidFill>
                </a:ln>
                <a:solidFill>
                  <a:srgbClr val="92D050"/>
                </a:solidFill>
                <a:effectLst>
                  <a:glow rad="228600">
                    <a:schemeClr val="accent6">
                      <a:satMod val="175000"/>
                      <a:alpha val="40000"/>
                    </a:schemeClr>
                  </a:glow>
                </a:effectLst>
                <a:latin typeface="Franklin Gothic Heavy" pitchFamily="34" charset="0"/>
              </a:rPr>
              <a:t>Mitwirkung</a:t>
            </a:r>
          </a:p>
        </p:txBody>
      </p:sp>
      <p:sp>
        <p:nvSpPr>
          <p:cNvPr id="16" name="Textfeld 15">
            <a:extLst>
              <a:ext uri="{FF2B5EF4-FFF2-40B4-BE49-F238E27FC236}">
                <a16:creationId xmlns:a16="http://schemas.microsoft.com/office/drawing/2014/main" id="{2E54ACC4-EF50-70B4-5C25-AE8CC01B0D84}"/>
              </a:ext>
            </a:extLst>
          </p:cNvPr>
          <p:cNvSpPr txBox="1"/>
          <p:nvPr/>
        </p:nvSpPr>
        <p:spPr>
          <a:xfrm>
            <a:off x="6964198" y="3908459"/>
            <a:ext cx="3947617" cy="707886"/>
          </a:xfrm>
          <a:prstGeom prst="rect">
            <a:avLst/>
          </a:prstGeom>
          <a:noFill/>
        </p:spPr>
        <p:txBody>
          <a:bodyPr wrap="square" rtlCol="0">
            <a:spAutoFit/>
          </a:bodyPr>
          <a:lstStyle/>
          <a:p>
            <a:r>
              <a:rPr lang="de-DE" sz="4000" b="1" dirty="0">
                <a:ln>
                  <a:solidFill>
                    <a:schemeClr val="tx1"/>
                  </a:solidFill>
                </a:ln>
                <a:solidFill>
                  <a:srgbClr val="92D050"/>
                </a:solidFill>
                <a:effectLst>
                  <a:glow rad="228600">
                    <a:schemeClr val="accent6">
                      <a:satMod val="175000"/>
                      <a:alpha val="40000"/>
                    </a:schemeClr>
                  </a:glow>
                </a:effectLst>
                <a:latin typeface="Franklin Gothic Heavy" pitchFamily="34" charset="0"/>
              </a:rPr>
              <a:t>Mitbestimmung</a:t>
            </a:r>
          </a:p>
        </p:txBody>
      </p:sp>
      <p:sp>
        <p:nvSpPr>
          <p:cNvPr id="17" name="Textfeld 16">
            <a:extLst>
              <a:ext uri="{FF2B5EF4-FFF2-40B4-BE49-F238E27FC236}">
                <a16:creationId xmlns:a16="http://schemas.microsoft.com/office/drawing/2014/main" id="{0B3E1A33-7DD8-5F45-C272-DFCAEBD563B7}"/>
              </a:ext>
            </a:extLst>
          </p:cNvPr>
          <p:cNvSpPr txBox="1"/>
          <p:nvPr/>
        </p:nvSpPr>
        <p:spPr>
          <a:xfrm>
            <a:off x="6699910" y="5357224"/>
            <a:ext cx="4967370" cy="707886"/>
          </a:xfrm>
          <a:prstGeom prst="rect">
            <a:avLst/>
          </a:prstGeom>
          <a:noFill/>
        </p:spPr>
        <p:txBody>
          <a:bodyPr wrap="square" rtlCol="0">
            <a:spAutoFit/>
          </a:bodyPr>
          <a:lstStyle/>
          <a:p>
            <a:r>
              <a:rPr lang="de-DE" sz="4000" b="1" dirty="0">
                <a:ln>
                  <a:solidFill>
                    <a:schemeClr val="tx1"/>
                  </a:solidFill>
                </a:ln>
                <a:solidFill>
                  <a:srgbClr val="FFFF00"/>
                </a:solidFill>
                <a:effectLst>
                  <a:glow rad="228600">
                    <a:schemeClr val="accent4">
                      <a:satMod val="175000"/>
                      <a:alpha val="40000"/>
                    </a:schemeClr>
                  </a:glow>
                </a:effectLst>
                <a:latin typeface="Franklin Gothic Heavy" pitchFamily="34" charset="0"/>
              </a:rPr>
              <a:t>Selbstbestimmung</a:t>
            </a:r>
          </a:p>
        </p:txBody>
      </p:sp>
      <p:sp>
        <p:nvSpPr>
          <p:cNvPr id="18" name="Textfeld 17">
            <a:extLst>
              <a:ext uri="{FF2B5EF4-FFF2-40B4-BE49-F238E27FC236}">
                <a16:creationId xmlns:a16="http://schemas.microsoft.com/office/drawing/2014/main" id="{1CCA37D2-C7CD-C6A0-2E45-628104E628ED}"/>
              </a:ext>
            </a:extLst>
          </p:cNvPr>
          <p:cNvSpPr txBox="1"/>
          <p:nvPr/>
        </p:nvSpPr>
        <p:spPr>
          <a:xfrm>
            <a:off x="5000361" y="2187688"/>
            <a:ext cx="2501964" cy="707886"/>
          </a:xfrm>
          <a:prstGeom prst="rect">
            <a:avLst/>
          </a:prstGeom>
          <a:noFill/>
        </p:spPr>
        <p:txBody>
          <a:bodyPr wrap="square" rtlCol="0">
            <a:spAutoFit/>
          </a:bodyPr>
          <a:lstStyle/>
          <a:p>
            <a:r>
              <a:rPr lang="de-DE" sz="4000" b="1" dirty="0">
                <a:ln>
                  <a:solidFill>
                    <a:schemeClr val="tx1"/>
                  </a:solidFill>
                </a:ln>
                <a:solidFill>
                  <a:srgbClr val="92D050"/>
                </a:solidFill>
                <a:effectLst>
                  <a:glow rad="228600">
                    <a:schemeClr val="accent6">
                      <a:satMod val="175000"/>
                      <a:alpha val="40000"/>
                    </a:schemeClr>
                  </a:glow>
                </a:effectLst>
                <a:latin typeface="Franklin Gothic Heavy" pitchFamily="34" charset="0"/>
              </a:rPr>
              <a:t>Teilhabe</a:t>
            </a:r>
          </a:p>
        </p:txBody>
      </p:sp>
      <p:sp>
        <p:nvSpPr>
          <p:cNvPr id="19" name="Textfeld 18">
            <a:extLst>
              <a:ext uri="{FF2B5EF4-FFF2-40B4-BE49-F238E27FC236}">
                <a16:creationId xmlns:a16="http://schemas.microsoft.com/office/drawing/2014/main" id="{EF72E285-BF78-04D3-81E0-2866C615AA12}"/>
              </a:ext>
            </a:extLst>
          </p:cNvPr>
          <p:cNvSpPr txBox="1"/>
          <p:nvPr/>
        </p:nvSpPr>
        <p:spPr>
          <a:xfrm>
            <a:off x="208344" y="3937395"/>
            <a:ext cx="5536558" cy="553998"/>
          </a:xfrm>
          <a:prstGeom prst="rect">
            <a:avLst/>
          </a:prstGeom>
          <a:noFill/>
        </p:spPr>
        <p:txBody>
          <a:bodyPr wrap="square" rtlCol="0">
            <a:spAutoFit/>
          </a:bodyPr>
          <a:lstStyle/>
          <a:p>
            <a:pPr algn="ctr"/>
            <a:r>
              <a:rPr lang="de-DE" sz="3000" b="1" dirty="0">
                <a:ln>
                  <a:solidFill>
                    <a:schemeClr val="tx1"/>
                  </a:solidFill>
                </a:ln>
                <a:solidFill>
                  <a:srgbClr val="92D050"/>
                </a:solidFill>
                <a:effectLst>
                  <a:glow rad="228600">
                    <a:schemeClr val="accent6">
                      <a:satMod val="175000"/>
                      <a:alpha val="40000"/>
                    </a:schemeClr>
                  </a:glow>
                </a:effectLst>
                <a:latin typeface="Franklin Gothic Heavy" pitchFamily="34" charset="0"/>
              </a:rPr>
              <a:t>Zugewiesen, aber informiert</a:t>
            </a:r>
          </a:p>
        </p:txBody>
      </p:sp>
      <p:sp>
        <p:nvSpPr>
          <p:cNvPr id="20" name="Textfeld 19">
            <a:extLst>
              <a:ext uri="{FF2B5EF4-FFF2-40B4-BE49-F238E27FC236}">
                <a16:creationId xmlns:a16="http://schemas.microsoft.com/office/drawing/2014/main" id="{369526F7-475C-6D48-69BA-1677595279DB}"/>
              </a:ext>
            </a:extLst>
          </p:cNvPr>
          <p:cNvSpPr txBox="1"/>
          <p:nvPr/>
        </p:nvSpPr>
        <p:spPr>
          <a:xfrm>
            <a:off x="8833510" y="1956196"/>
            <a:ext cx="2903218" cy="1323439"/>
          </a:xfrm>
          <a:prstGeom prst="rect">
            <a:avLst/>
          </a:prstGeom>
          <a:noFill/>
        </p:spPr>
        <p:txBody>
          <a:bodyPr wrap="square" rtlCol="0">
            <a:spAutoFit/>
          </a:bodyPr>
          <a:lstStyle/>
          <a:p>
            <a:pPr algn="ctr"/>
            <a:r>
              <a:rPr lang="de-DE" sz="4000" b="1" dirty="0">
                <a:ln>
                  <a:solidFill>
                    <a:schemeClr val="tx1"/>
                  </a:solidFill>
                </a:ln>
                <a:solidFill>
                  <a:srgbClr val="FFFF00"/>
                </a:solidFill>
                <a:effectLst>
                  <a:glow rad="228600">
                    <a:schemeClr val="accent4">
                      <a:satMod val="175000"/>
                      <a:alpha val="40000"/>
                    </a:schemeClr>
                  </a:glow>
                </a:effectLst>
                <a:latin typeface="Franklin Gothic Heavy" pitchFamily="34" charset="0"/>
              </a:rPr>
              <a:t>Selbst-</a:t>
            </a:r>
          </a:p>
          <a:p>
            <a:pPr algn="ctr"/>
            <a:r>
              <a:rPr lang="de-DE" sz="4000" b="1" dirty="0" err="1">
                <a:ln>
                  <a:solidFill>
                    <a:schemeClr val="tx1"/>
                  </a:solidFill>
                </a:ln>
                <a:solidFill>
                  <a:srgbClr val="FFFF00"/>
                </a:solidFill>
                <a:effectLst>
                  <a:glow rad="228600">
                    <a:schemeClr val="accent4">
                      <a:satMod val="175000"/>
                      <a:alpha val="40000"/>
                    </a:schemeClr>
                  </a:glow>
                </a:effectLst>
                <a:latin typeface="Franklin Gothic Heavy" pitchFamily="34" charset="0"/>
              </a:rPr>
              <a:t>verwaltung</a:t>
            </a:r>
            <a:endParaRPr lang="de-DE" sz="4000" b="1" dirty="0">
              <a:ln>
                <a:solidFill>
                  <a:schemeClr val="tx1"/>
                </a:solidFill>
              </a:ln>
              <a:solidFill>
                <a:srgbClr val="FFFF00"/>
              </a:solidFill>
              <a:effectLst>
                <a:glow rad="228600">
                  <a:schemeClr val="accent4">
                    <a:satMod val="175000"/>
                    <a:alpha val="40000"/>
                  </a:schemeClr>
                </a:glow>
              </a:effectLst>
              <a:latin typeface="Franklin Gothic Heavy" pitchFamily="34" charset="0"/>
            </a:endParaRPr>
          </a:p>
        </p:txBody>
      </p:sp>
    </p:spTree>
    <p:extLst>
      <p:ext uri="{BB962C8B-B14F-4D97-AF65-F5344CB8AC3E}">
        <p14:creationId xmlns:p14="http://schemas.microsoft.com/office/powerpoint/2010/main" val="182952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p:cTn id="52" dur="1000" fill="hold"/>
                                        <p:tgtEl>
                                          <p:spTgt spid="12"/>
                                        </p:tgtEl>
                                        <p:attrNameLst>
                                          <p:attrName>ppt_w</p:attrName>
                                        </p:attrNameLst>
                                      </p:cBhvr>
                                      <p:tavLst>
                                        <p:tav tm="0">
                                          <p:val>
                                            <p:strVal val="#ppt_w*0.70"/>
                                          </p:val>
                                        </p:tav>
                                        <p:tav tm="100000">
                                          <p:val>
                                            <p:strVal val="#ppt_w"/>
                                          </p:val>
                                        </p:tav>
                                      </p:tavLst>
                                    </p:anim>
                                    <p:anim calcmode="lin" valueType="num">
                                      <p:cBhvr>
                                        <p:cTn id="53" dur="1000" fill="hold"/>
                                        <p:tgtEl>
                                          <p:spTgt spid="12"/>
                                        </p:tgtEl>
                                        <p:attrNameLst>
                                          <p:attrName>ppt_h</p:attrName>
                                        </p:attrNameLst>
                                      </p:cBhvr>
                                      <p:tavLst>
                                        <p:tav tm="0">
                                          <p:val>
                                            <p:strVal val="#ppt_h"/>
                                          </p:val>
                                        </p:tav>
                                        <p:tav tm="100000">
                                          <p:val>
                                            <p:strVal val="#ppt_h"/>
                                          </p:val>
                                        </p:tav>
                                      </p:tavLst>
                                    </p:anim>
                                    <p:animEffect transition="in" filter="fade">
                                      <p:cBhvr>
                                        <p:cTn id="54" dur="10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1000" fill="hold"/>
                                        <p:tgtEl>
                                          <p:spTgt spid="15"/>
                                        </p:tgtEl>
                                        <p:attrNameLst>
                                          <p:attrName>ppt_w</p:attrName>
                                        </p:attrNameLst>
                                      </p:cBhvr>
                                      <p:tavLst>
                                        <p:tav tm="0">
                                          <p:val>
                                            <p:strVal val="#ppt_w*0.70"/>
                                          </p:val>
                                        </p:tav>
                                        <p:tav tm="100000">
                                          <p:val>
                                            <p:strVal val="#ppt_w"/>
                                          </p:val>
                                        </p:tav>
                                      </p:tavLst>
                                    </p:anim>
                                    <p:anim calcmode="lin" valueType="num">
                                      <p:cBhvr>
                                        <p:cTn id="60" dur="1000" fill="hold"/>
                                        <p:tgtEl>
                                          <p:spTgt spid="15"/>
                                        </p:tgtEl>
                                        <p:attrNameLst>
                                          <p:attrName>ppt_h</p:attrName>
                                        </p:attrNameLst>
                                      </p:cBhvr>
                                      <p:tavLst>
                                        <p:tav tm="0">
                                          <p:val>
                                            <p:strVal val="#ppt_h"/>
                                          </p:val>
                                        </p:tav>
                                        <p:tav tm="100000">
                                          <p:val>
                                            <p:strVal val="#ppt_h"/>
                                          </p:val>
                                        </p:tav>
                                      </p:tavLst>
                                    </p:anim>
                                    <p:animEffect transition="in" filter="fade">
                                      <p:cBhvr>
                                        <p:cTn id="61" dur="10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p:cTn id="66" dur="1000" fill="hold"/>
                                        <p:tgtEl>
                                          <p:spTgt spid="14"/>
                                        </p:tgtEl>
                                        <p:attrNameLst>
                                          <p:attrName>ppt_w</p:attrName>
                                        </p:attrNameLst>
                                      </p:cBhvr>
                                      <p:tavLst>
                                        <p:tav tm="0">
                                          <p:val>
                                            <p:strVal val="#ppt_w*0.70"/>
                                          </p:val>
                                        </p:tav>
                                        <p:tav tm="100000">
                                          <p:val>
                                            <p:strVal val="#ppt_w"/>
                                          </p:val>
                                        </p:tav>
                                      </p:tavLst>
                                    </p:anim>
                                    <p:anim calcmode="lin" valueType="num">
                                      <p:cBhvr>
                                        <p:cTn id="67" dur="1000" fill="hold"/>
                                        <p:tgtEl>
                                          <p:spTgt spid="14"/>
                                        </p:tgtEl>
                                        <p:attrNameLst>
                                          <p:attrName>ppt_h</p:attrName>
                                        </p:attrNameLst>
                                      </p:cBhvr>
                                      <p:tavLst>
                                        <p:tav tm="0">
                                          <p:val>
                                            <p:strVal val="#ppt_h"/>
                                          </p:val>
                                        </p:tav>
                                        <p:tav tm="100000">
                                          <p:val>
                                            <p:strVal val="#ppt_h"/>
                                          </p:val>
                                        </p:tav>
                                      </p:tavLst>
                                    </p:anim>
                                    <p:animEffect transition="in" filter="fade">
                                      <p:cBhvr>
                                        <p:cTn id="68" dur="1000"/>
                                        <p:tgtEl>
                                          <p:spTgt spid="14"/>
                                        </p:tgtEl>
                                      </p:cBhvr>
                                    </p:animEffect>
                                  </p:childTnLst>
                                </p:cTn>
                              </p:par>
                            </p:childTnLst>
                          </p:cTn>
                        </p:par>
                      </p:childTnLst>
                    </p:cTn>
                  </p:par>
                  <p:par>
                    <p:cTn id="69" fill="hold">
                      <p:stCondLst>
                        <p:cond delay="indefinite"/>
                      </p:stCondLst>
                      <p:childTnLst>
                        <p:par>
                          <p:cTn id="70" fill="hold">
                            <p:stCondLst>
                              <p:cond delay="0"/>
                            </p:stCondLst>
                            <p:childTnLst>
                              <p:par>
                                <p:cTn id="71" presetID="55" presetClass="entr" presetSubtype="0"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p:cTn id="73" dur="1000" fill="hold"/>
                                        <p:tgtEl>
                                          <p:spTgt spid="18"/>
                                        </p:tgtEl>
                                        <p:attrNameLst>
                                          <p:attrName>ppt_w</p:attrName>
                                        </p:attrNameLst>
                                      </p:cBhvr>
                                      <p:tavLst>
                                        <p:tav tm="0">
                                          <p:val>
                                            <p:strVal val="#ppt_w*0.70"/>
                                          </p:val>
                                        </p:tav>
                                        <p:tav tm="100000">
                                          <p:val>
                                            <p:strVal val="#ppt_w"/>
                                          </p:val>
                                        </p:tav>
                                      </p:tavLst>
                                    </p:anim>
                                    <p:anim calcmode="lin" valueType="num">
                                      <p:cBhvr>
                                        <p:cTn id="74" dur="1000" fill="hold"/>
                                        <p:tgtEl>
                                          <p:spTgt spid="18"/>
                                        </p:tgtEl>
                                        <p:attrNameLst>
                                          <p:attrName>ppt_h</p:attrName>
                                        </p:attrNameLst>
                                      </p:cBhvr>
                                      <p:tavLst>
                                        <p:tav tm="0">
                                          <p:val>
                                            <p:strVal val="#ppt_h"/>
                                          </p:val>
                                        </p:tav>
                                        <p:tav tm="100000">
                                          <p:val>
                                            <p:strVal val="#ppt_h"/>
                                          </p:val>
                                        </p:tav>
                                      </p:tavLst>
                                    </p:anim>
                                    <p:animEffect transition="in" filter="fade">
                                      <p:cBhvr>
                                        <p:cTn id="75" dur="10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55" presetClass="entr" presetSubtype="0" fill="hold" grpId="0" nodeType="clickEffect">
                                  <p:stCondLst>
                                    <p:cond delay="0"/>
                                  </p:stCondLst>
                                  <p:childTnLst>
                                    <p:set>
                                      <p:cBhvr>
                                        <p:cTn id="79" dur="1" fill="hold">
                                          <p:stCondLst>
                                            <p:cond delay="0"/>
                                          </p:stCondLst>
                                        </p:cTn>
                                        <p:tgtEl>
                                          <p:spTgt spid="20"/>
                                        </p:tgtEl>
                                        <p:attrNameLst>
                                          <p:attrName>style.visibility</p:attrName>
                                        </p:attrNameLst>
                                      </p:cBhvr>
                                      <p:to>
                                        <p:strVal val="visible"/>
                                      </p:to>
                                    </p:set>
                                    <p:anim calcmode="lin" valueType="num">
                                      <p:cBhvr>
                                        <p:cTn id="80" dur="1000" fill="hold"/>
                                        <p:tgtEl>
                                          <p:spTgt spid="20"/>
                                        </p:tgtEl>
                                        <p:attrNameLst>
                                          <p:attrName>ppt_w</p:attrName>
                                        </p:attrNameLst>
                                      </p:cBhvr>
                                      <p:tavLst>
                                        <p:tav tm="0">
                                          <p:val>
                                            <p:strVal val="#ppt_w*0.70"/>
                                          </p:val>
                                        </p:tav>
                                        <p:tav tm="100000">
                                          <p:val>
                                            <p:strVal val="#ppt_w"/>
                                          </p:val>
                                        </p:tav>
                                      </p:tavLst>
                                    </p:anim>
                                    <p:anim calcmode="lin" valueType="num">
                                      <p:cBhvr>
                                        <p:cTn id="81" dur="1000" fill="hold"/>
                                        <p:tgtEl>
                                          <p:spTgt spid="20"/>
                                        </p:tgtEl>
                                        <p:attrNameLst>
                                          <p:attrName>ppt_h</p:attrName>
                                        </p:attrNameLst>
                                      </p:cBhvr>
                                      <p:tavLst>
                                        <p:tav tm="0">
                                          <p:val>
                                            <p:strVal val="#ppt_h"/>
                                          </p:val>
                                        </p:tav>
                                        <p:tav tm="100000">
                                          <p:val>
                                            <p:strVal val="#ppt_h"/>
                                          </p:val>
                                        </p:tav>
                                      </p:tavLst>
                                    </p:anim>
                                    <p:animEffect transition="in" filter="fade">
                                      <p:cBhvr>
                                        <p:cTn id="82" dur="10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55"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p:cTn id="87" dur="1000" fill="hold"/>
                                        <p:tgtEl>
                                          <p:spTgt spid="19"/>
                                        </p:tgtEl>
                                        <p:attrNameLst>
                                          <p:attrName>ppt_w</p:attrName>
                                        </p:attrNameLst>
                                      </p:cBhvr>
                                      <p:tavLst>
                                        <p:tav tm="0">
                                          <p:val>
                                            <p:strVal val="#ppt_w*0.70"/>
                                          </p:val>
                                        </p:tav>
                                        <p:tav tm="100000">
                                          <p:val>
                                            <p:strVal val="#ppt_w"/>
                                          </p:val>
                                        </p:tav>
                                      </p:tavLst>
                                    </p:anim>
                                    <p:anim calcmode="lin" valueType="num">
                                      <p:cBhvr>
                                        <p:cTn id="88" dur="1000" fill="hold"/>
                                        <p:tgtEl>
                                          <p:spTgt spid="19"/>
                                        </p:tgtEl>
                                        <p:attrNameLst>
                                          <p:attrName>ppt_h</p:attrName>
                                        </p:attrNameLst>
                                      </p:cBhvr>
                                      <p:tavLst>
                                        <p:tav tm="0">
                                          <p:val>
                                            <p:strVal val="#ppt_h"/>
                                          </p:val>
                                        </p:tav>
                                        <p:tav tm="100000">
                                          <p:val>
                                            <p:strVal val="#ppt_h"/>
                                          </p:val>
                                        </p:tav>
                                      </p:tavLst>
                                    </p:anim>
                                    <p:animEffect transition="in" filter="fade">
                                      <p:cBhvr>
                                        <p:cTn id="89" dur="1000"/>
                                        <p:tgtEl>
                                          <p:spTgt spid="19"/>
                                        </p:tgtEl>
                                      </p:cBhvr>
                                    </p:animEffect>
                                  </p:childTnLst>
                                </p:cTn>
                              </p:par>
                            </p:childTnLst>
                          </p:cTn>
                        </p:par>
                      </p:childTnLst>
                    </p:cTn>
                  </p:par>
                  <p:par>
                    <p:cTn id="90" fill="hold">
                      <p:stCondLst>
                        <p:cond delay="indefinite"/>
                      </p:stCondLst>
                      <p:childTnLst>
                        <p:par>
                          <p:cTn id="91" fill="hold">
                            <p:stCondLst>
                              <p:cond delay="0"/>
                            </p:stCondLst>
                            <p:childTnLst>
                              <p:par>
                                <p:cTn id="92" presetID="55" presetClass="entr" presetSubtype="0" fill="hold" grpId="0" nodeType="clickEffect">
                                  <p:stCondLst>
                                    <p:cond delay="0"/>
                                  </p:stCondLst>
                                  <p:childTnLst>
                                    <p:set>
                                      <p:cBhvr>
                                        <p:cTn id="93" dur="1" fill="hold">
                                          <p:stCondLst>
                                            <p:cond delay="0"/>
                                          </p:stCondLst>
                                        </p:cTn>
                                        <p:tgtEl>
                                          <p:spTgt spid="16"/>
                                        </p:tgtEl>
                                        <p:attrNameLst>
                                          <p:attrName>style.visibility</p:attrName>
                                        </p:attrNameLst>
                                      </p:cBhvr>
                                      <p:to>
                                        <p:strVal val="visible"/>
                                      </p:to>
                                    </p:set>
                                    <p:anim calcmode="lin" valueType="num">
                                      <p:cBhvr>
                                        <p:cTn id="94" dur="1000" fill="hold"/>
                                        <p:tgtEl>
                                          <p:spTgt spid="16"/>
                                        </p:tgtEl>
                                        <p:attrNameLst>
                                          <p:attrName>ppt_w</p:attrName>
                                        </p:attrNameLst>
                                      </p:cBhvr>
                                      <p:tavLst>
                                        <p:tav tm="0">
                                          <p:val>
                                            <p:strVal val="#ppt_w*0.70"/>
                                          </p:val>
                                        </p:tav>
                                        <p:tav tm="100000">
                                          <p:val>
                                            <p:strVal val="#ppt_w"/>
                                          </p:val>
                                        </p:tav>
                                      </p:tavLst>
                                    </p:anim>
                                    <p:anim calcmode="lin" valueType="num">
                                      <p:cBhvr>
                                        <p:cTn id="95" dur="1000" fill="hold"/>
                                        <p:tgtEl>
                                          <p:spTgt spid="16"/>
                                        </p:tgtEl>
                                        <p:attrNameLst>
                                          <p:attrName>ppt_h</p:attrName>
                                        </p:attrNameLst>
                                      </p:cBhvr>
                                      <p:tavLst>
                                        <p:tav tm="0">
                                          <p:val>
                                            <p:strVal val="#ppt_h"/>
                                          </p:val>
                                        </p:tav>
                                        <p:tav tm="100000">
                                          <p:val>
                                            <p:strVal val="#ppt_h"/>
                                          </p:val>
                                        </p:tav>
                                      </p:tavLst>
                                    </p:anim>
                                    <p:animEffect transition="in" filter="fade">
                                      <p:cBhvr>
                                        <p:cTn id="96" dur="1000"/>
                                        <p:tgtEl>
                                          <p:spTgt spid="16"/>
                                        </p:tgtEl>
                                      </p:cBhvr>
                                    </p:animEffect>
                                  </p:childTnLst>
                                </p:cTn>
                              </p:par>
                            </p:childTnLst>
                          </p:cTn>
                        </p:par>
                      </p:childTnLst>
                    </p:cTn>
                  </p:par>
                  <p:par>
                    <p:cTn id="97" fill="hold">
                      <p:stCondLst>
                        <p:cond delay="indefinite"/>
                      </p:stCondLst>
                      <p:childTnLst>
                        <p:par>
                          <p:cTn id="98" fill="hold">
                            <p:stCondLst>
                              <p:cond delay="0"/>
                            </p:stCondLst>
                            <p:childTnLst>
                              <p:par>
                                <p:cTn id="99" presetID="55" presetClass="entr" presetSubtype="0" fill="hold" grpId="0" nodeType="clickEffect">
                                  <p:stCondLst>
                                    <p:cond delay="0"/>
                                  </p:stCondLst>
                                  <p:childTnLst>
                                    <p:set>
                                      <p:cBhvr>
                                        <p:cTn id="100" dur="1" fill="hold">
                                          <p:stCondLst>
                                            <p:cond delay="0"/>
                                          </p:stCondLst>
                                        </p:cTn>
                                        <p:tgtEl>
                                          <p:spTgt spid="13"/>
                                        </p:tgtEl>
                                        <p:attrNameLst>
                                          <p:attrName>style.visibility</p:attrName>
                                        </p:attrNameLst>
                                      </p:cBhvr>
                                      <p:to>
                                        <p:strVal val="visible"/>
                                      </p:to>
                                    </p:set>
                                    <p:anim calcmode="lin" valueType="num">
                                      <p:cBhvr>
                                        <p:cTn id="101" dur="1000" fill="hold"/>
                                        <p:tgtEl>
                                          <p:spTgt spid="13"/>
                                        </p:tgtEl>
                                        <p:attrNameLst>
                                          <p:attrName>ppt_w</p:attrName>
                                        </p:attrNameLst>
                                      </p:cBhvr>
                                      <p:tavLst>
                                        <p:tav tm="0">
                                          <p:val>
                                            <p:strVal val="#ppt_w*0.70"/>
                                          </p:val>
                                        </p:tav>
                                        <p:tav tm="100000">
                                          <p:val>
                                            <p:strVal val="#ppt_w"/>
                                          </p:val>
                                        </p:tav>
                                      </p:tavLst>
                                    </p:anim>
                                    <p:anim calcmode="lin" valueType="num">
                                      <p:cBhvr>
                                        <p:cTn id="102" dur="1000" fill="hold"/>
                                        <p:tgtEl>
                                          <p:spTgt spid="13"/>
                                        </p:tgtEl>
                                        <p:attrNameLst>
                                          <p:attrName>ppt_h</p:attrName>
                                        </p:attrNameLst>
                                      </p:cBhvr>
                                      <p:tavLst>
                                        <p:tav tm="0">
                                          <p:val>
                                            <p:strVal val="#ppt_h"/>
                                          </p:val>
                                        </p:tav>
                                        <p:tav tm="100000">
                                          <p:val>
                                            <p:strVal val="#ppt_h"/>
                                          </p:val>
                                        </p:tav>
                                      </p:tavLst>
                                    </p:anim>
                                    <p:animEffect transition="in" filter="fade">
                                      <p:cBhvr>
                                        <p:cTn id="103" dur="1000"/>
                                        <p:tgtEl>
                                          <p:spTgt spid="13"/>
                                        </p:tgtEl>
                                      </p:cBhvr>
                                    </p:animEffect>
                                  </p:childTnLst>
                                </p:cTn>
                              </p:par>
                            </p:childTnLst>
                          </p:cTn>
                        </p:par>
                      </p:childTnLst>
                    </p:cTn>
                  </p:par>
                  <p:par>
                    <p:cTn id="104" fill="hold">
                      <p:stCondLst>
                        <p:cond delay="indefinite"/>
                      </p:stCondLst>
                      <p:childTnLst>
                        <p:par>
                          <p:cTn id="105" fill="hold">
                            <p:stCondLst>
                              <p:cond delay="0"/>
                            </p:stCondLst>
                            <p:childTnLst>
                              <p:par>
                                <p:cTn id="106" presetID="55" presetClass="entr" presetSubtype="0" fill="hold" grpId="0" nodeType="clickEffect">
                                  <p:stCondLst>
                                    <p:cond delay="0"/>
                                  </p:stCondLst>
                                  <p:childTnLst>
                                    <p:set>
                                      <p:cBhvr>
                                        <p:cTn id="107" dur="1" fill="hold">
                                          <p:stCondLst>
                                            <p:cond delay="0"/>
                                          </p:stCondLst>
                                        </p:cTn>
                                        <p:tgtEl>
                                          <p:spTgt spid="17"/>
                                        </p:tgtEl>
                                        <p:attrNameLst>
                                          <p:attrName>style.visibility</p:attrName>
                                        </p:attrNameLst>
                                      </p:cBhvr>
                                      <p:to>
                                        <p:strVal val="visible"/>
                                      </p:to>
                                    </p:set>
                                    <p:anim calcmode="lin" valueType="num">
                                      <p:cBhvr>
                                        <p:cTn id="108" dur="1000" fill="hold"/>
                                        <p:tgtEl>
                                          <p:spTgt spid="17"/>
                                        </p:tgtEl>
                                        <p:attrNameLst>
                                          <p:attrName>ppt_w</p:attrName>
                                        </p:attrNameLst>
                                      </p:cBhvr>
                                      <p:tavLst>
                                        <p:tav tm="0">
                                          <p:val>
                                            <p:strVal val="#ppt_w*0.70"/>
                                          </p:val>
                                        </p:tav>
                                        <p:tav tm="100000">
                                          <p:val>
                                            <p:strVal val="#ppt_w"/>
                                          </p:val>
                                        </p:tav>
                                      </p:tavLst>
                                    </p:anim>
                                    <p:anim calcmode="lin" valueType="num">
                                      <p:cBhvr>
                                        <p:cTn id="109" dur="1000" fill="hold"/>
                                        <p:tgtEl>
                                          <p:spTgt spid="17"/>
                                        </p:tgtEl>
                                        <p:attrNameLst>
                                          <p:attrName>ppt_h</p:attrName>
                                        </p:attrNameLst>
                                      </p:cBhvr>
                                      <p:tavLst>
                                        <p:tav tm="0">
                                          <p:val>
                                            <p:strVal val="#ppt_h"/>
                                          </p:val>
                                        </p:tav>
                                        <p:tav tm="100000">
                                          <p:val>
                                            <p:strVal val="#ppt_h"/>
                                          </p:val>
                                        </p:tav>
                                      </p:tavLst>
                                    </p:anim>
                                    <p:animEffect transition="in" filter="fade">
                                      <p:cBhvr>
                                        <p:cTn id="1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0C7A93-F5FC-90F4-1C26-CC1AC392D2F2}"/>
              </a:ext>
            </a:extLst>
          </p:cNvPr>
          <p:cNvSpPr>
            <a:spLocks noGrp="1"/>
          </p:cNvSpPr>
          <p:nvPr>
            <p:ph type="title"/>
          </p:nvPr>
        </p:nvSpPr>
        <p:spPr>
          <a:xfrm>
            <a:off x="1097280" y="286603"/>
            <a:ext cx="10058400" cy="1450757"/>
          </a:xfrm>
        </p:spPr>
        <p:txBody>
          <a:bodyPr>
            <a:normAutofit/>
          </a:bodyPr>
          <a:lstStyle/>
          <a:p>
            <a:r>
              <a:rPr lang="de-DE" sz="4000" b="1" dirty="0"/>
              <a:t>2. Verstehen und Analysieren: </a:t>
            </a:r>
            <a:br>
              <a:rPr lang="de-DE" sz="4000" b="1" dirty="0"/>
            </a:br>
            <a:r>
              <a:rPr lang="de-DE" sz="4000" b="1" dirty="0"/>
              <a:t>Grundlagen Partizipation: MEMO</a:t>
            </a:r>
            <a:endParaRPr lang="de-DE" sz="4000" dirty="0"/>
          </a:p>
        </p:txBody>
      </p:sp>
      <p:graphicFrame>
        <p:nvGraphicFramePr>
          <p:cNvPr id="6" name="Inhaltsplatzhalter 2">
            <a:extLst>
              <a:ext uri="{FF2B5EF4-FFF2-40B4-BE49-F238E27FC236}">
                <a16:creationId xmlns:a16="http://schemas.microsoft.com/office/drawing/2014/main" id="{AA62A341-94C8-2D77-3DF2-212A291F4BC2}"/>
              </a:ext>
            </a:extLst>
          </p:cNvPr>
          <p:cNvGraphicFramePr>
            <a:graphicFrameLocks noGrp="1"/>
          </p:cNvGraphicFramePr>
          <p:nvPr>
            <p:ph idx="1"/>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9412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D832C1-61D8-E476-D819-05ABBEFB8BD5}"/>
              </a:ext>
            </a:extLst>
          </p:cNvPr>
          <p:cNvSpPr>
            <a:spLocks noGrp="1"/>
          </p:cNvSpPr>
          <p:nvPr>
            <p:ph type="title"/>
          </p:nvPr>
        </p:nvSpPr>
        <p:spPr>
          <a:xfrm>
            <a:off x="1097280" y="286604"/>
            <a:ext cx="10058400" cy="1071142"/>
          </a:xfrm>
        </p:spPr>
        <p:txBody>
          <a:bodyPr>
            <a:normAutofit/>
          </a:bodyPr>
          <a:lstStyle/>
          <a:p>
            <a:r>
              <a:rPr lang="de-DE" sz="3600" b="1" dirty="0"/>
              <a:t>2. Verstehen und Analysieren: </a:t>
            </a:r>
            <a:br>
              <a:rPr lang="de-DE" sz="3600" b="1" dirty="0"/>
            </a:br>
            <a:r>
              <a:rPr lang="de-DE" sz="3600" b="1" dirty="0"/>
              <a:t>Grundlagen Partizipation</a:t>
            </a:r>
            <a:endParaRPr lang="de-DE" sz="3600" dirty="0"/>
          </a:p>
        </p:txBody>
      </p:sp>
      <p:sp>
        <p:nvSpPr>
          <p:cNvPr id="3" name="Inhaltsplatzhalter 2">
            <a:extLst>
              <a:ext uri="{FF2B5EF4-FFF2-40B4-BE49-F238E27FC236}">
                <a16:creationId xmlns:a16="http://schemas.microsoft.com/office/drawing/2014/main" id="{174E59DA-436F-01BE-7749-F381FEF732BE}"/>
              </a:ext>
            </a:extLst>
          </p:cNvPr>
          <p:cNvSpPr>
            <a:spLocks noGrp="1"/>
          </p:cNvSpPr>
          <p:nvPr>
            <p:ph idx="1"/>
          </p:nvPr>
        </p:nvSpPr>
        <p:spPr>
          <a:xfrm>
            <a:off x="1066800" y="1357746"/>
            <a:ext cx="10058400" cy="4511348"/>
          </a:xfrm>
        </p:spPr>
        <p:txBody>
          <a:bodyPr>
            <a:normAutofit/>
          </a:bodyPr>
          <a:lstStyle/>
          <a:p>
            <a:pPr marL="0" indent="0">
              <a:buNone/>
            </a:pPr>
            <a:r>
              <a:rPr lang="de-DE" b="1" dirty="0"/>
              <a:t>Arbeitsauftrag:</a:t>
            </a:r>
          </a:p>
          <a:p>
            <a:pPr marL="0" indent="0">
              <a:buNone/>
            </a:pPr>
            <a:r>
              <a:rPr lang="de-DE" dirty="0"/>
              <a:t>Lest in der Cloud den Grundlagentext „Kommunikation bei Partizipation“ und schreibt stichwortartig heraus:</a:t>
            </a:r>
          </a:p>
          <a:p>
            <a:pPr marL="0" indent="0">
              <a:buNone/>
            </a:pPr>
            <a:endParaRPr lang="de-DE" dirty="0"/>
          </a:p>
          <a:p>
            <a:pPr marL="292608" lvl="1" indent="0">
              <a:buNone/>
            </a:pPr>
            <a:r>
              <a:rPr lang="de-DE" b="1" dirty="0"/>
              <a:t>Welche To </a:t>
            </a:r>
            <a:r>
              <a:rPr lang="de-DE" b="1" dirty="0" err="1"/>
              <a:t>Do´s</a:t>
            </a:r>
            <a:r>
              <a:rPr lang="de-DE" b="1" dirty="0"/>
              <a:t> / Tipps/ Hinweise erhaltet ihr für eine gelingende, gute Kommunikation mit Kindern? (Wissen, Haltung und Können der päd. Fachkraft?)</a:t>
            </a:r>
          </a:p>
          <a:p>
            <a:pPr marL="0" indent="0">
              <a:buNone/>
            </a:pPr>
            <a:r>
              <a:rPr lang="de-DE" dirty="0"/>
              <a:t>Legt dabei auch ein besonderes Augenmerk auf folgende Begriffe/ Inhalte/ Fragen:</a:t>
            </a:r>
          </a:p>
          <a:p>
            <a:pPr lvl="1">
              <a:buFont typeface="Wingdings" panose="05000000000000000000" pitchFamily="2" charset="2"/>
              <a:buChar char="§"/>
            </a:pPr>
            <a:r>
              <a:rPr lang="de-DE" dirty="0"/>
              <a:t>aktives Zuhören</a:t>
            </a:r>
          </a:p>
          <a:p>
            <a:pPr lvl="1">
              <a:buFont typeface="Wingdings" panose="05000000000000000000" pitchFamily="2" charset="2"/>
              <a:buChar char="§"/>
            </a:pPr>
            <a:r>
              <a:rPr lang="de-DE" dirty="0"/>
              <a:t>Fragen stellen</a:t>
            </a:r>
          </a:p>
          <a:p>
            <a:pPr lvl="1">
              <a:buFont typeface="Wingdings" panose="05000000000000000000" pitchFamily="2" charset="2"/>
              <a:buChar char="§"/>
            </a:pPr>
            <a:r>
              <a:rPr lang="de-DE" dirty="0"/>
              <a:t>Konsensverfahren vs. Mehrheitsverfahren</a:t>
            </a:r>
          </a:p>
          <a:p>
            <a:pPr marL="201168" lvl="1" indent="0">
              <a:buNone/>
            </a:pPr>
            <a:endParaRPr lang="de-DE" dirty="0"/>
          </a:p>
          <a:p>
            <a:pPr marL="201168" lvl="1" indent="0">
              <a:buNone/>
            </a:pPr>
            <a:endParaRPr lang="de-DE" dirty="0"/>
          </a:p>
          <a:p>
            <a:pPr marL="201168" lvl="1" indent="0">
              <a:buNone/>
            </a:pPr>
            <a:endParaRPr lang="de-DE" dirty="0"/>
          </a:p>
          <a:p>
            <a:pPr lvl="1">
              <a:buFont typeface="Wingdings" panose="05000000000000000000" pitchFamily="2" charset="2"/>
              <a:buChar char="§"/>
            </a:pPr>
            <a:endParaRPr lang="de-DE" dirty="0"/>
          </a:p>
          <a:p>
            <a:pPr>
              <a:buFont typeface="Wingdings" panose="05000000000000000000" pitchFamily="2" charset="2"/>
              <a:buChar char="§"/>
            </a:pPr>
            <a:endParaRPr lang="de-DE" dirty="0"/>
          </a:p>
          <a:p>
            <a:pPr>
              <a:buFont typeface="Wingdings" panose="05000000000000000000" pitchFamily="2" charset="2"/>
              <a:buChar char="§"/>
            </a:pPr>
            <a:endParaRPr lang="de-DE" dirty="0"/>
          </a:p>
          <a:p>
            <a:pPr marL="0" indent="0">
              <a:buNone/>
            </a:pPr>
            <a:endParaRPr lang="de-DE" dirty="0"/>
          </a:p>
        </p:txBody>
      </p:sp>
      <p:sp>
        <p:nvSpPr>
          <p:cNvPr id="4" name="Pfeil: nach rechts 3">
            <a:extLst>
              <a:ext uri="{FF2B5EF4-FFF2-40B4-BE49-F238E27FC236}">
                <a16:creationId xmlns:a16="http://schemas.microsoft.com/office/drawing/2014/main" id="{7D58B5CF-E9FA-DD8C-FBFA-B9CBB45CFC0E}"/>
              </a:ext>
            </a:extLst>
          </p:cNvPr>
          <p:cNvSpPr/>
          <p:nvPr/>
        </p:nvSpPr>
        <p:spPr>
          <a:xfrm>
            <a:off x="1119447" y="2897909"/>
            <a:ext cx="195811" cy="230909"/>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de-DE"/>
          </a:p>
        </p:txBody>
      </p:sp>
      <p:graphicFrame>
        <p:nvGraphicFramePr>
          <p:cNvPr id="5" name="Tabelle 4">
            <a:extLst>
              <a:ext uri="{FF2B5EF4-FFF2-40B4-BE49-F238E27FC236}">
                <a16:creationId xmlns:a16="http://schemas.microsoft.com/office/drawing/2014/main" id="{9E4F6629-0D1D-74AF-C315-004ECEA8C063}"/>
              </a:ext>
            </a:extLst>
          </p:cNvPr>
          <p:cNvGraphicFramePr>
            <a:graphicFrameLocks noGrp="1"/>
          </p:cNvGraphicFramePr>
          <p:nvPr>
            <p:extLst>
              <p:ext uri="{D42A27DB-BD31-4B8C-83A1-F6EECF244321}">
                <p14:modId xmlns:p14="http://schemas.microsoft.com/office/powerpoint/2010/main" val="3949163917"/>
              </p:ext>
            </p:extLst>
          </p:nvPr>
        </p:nvGraphicFramePr>
        <p:xfrm>
          <a:off x="7950863" y="3985786"/>
          <a:ext cx="2273790" cy="2164848"/>
        </p:xfrm>
        <a:graphic>
          <a:graphicData uri="http://schemas.openxmlformats.org/drawingml/2006/table">
            <a:tbl>
              <a:tblPr firstRow="1" firstCol="1" bandRow="1">
                <a:tableStyleId>{5C22544A-7EE6-4342-B048-85BDC9FD1C3A}</a:tableStyleId>
              </a:tblPr>
              <a:tblGrid>
                <a:gridCol w="2273790">
                  <a:extLst>
                    <a:ext uri="{9D8B030D-6E8A-4147-A177-3AD203B41FA5}">
                      <a16:colId xmlns:a16="http://schemas.microsoft.com/office/drawing/2014/main" val="1892507243"/>
                    </a:ext>
                  </a:extLst>
                </a:gridCol>
              </a:tblGrid>
              <a:tr h="111180">
                <a:tc>
                  <a:txBody>
                    <a:bodyPr/>
                    <a:lstStyle/>
                    <a:p>
                      <a:pPr>
                        <a:lnSpc>
                          <a:spcPct val="115000"/>
                        </a:lnSpc>
                        <a:spcAft>
                          <a:spcPts val="1000"/>
                        </a:spcAft>
                        <a:buNone/>
                      </a:pPr>
                      <a:r>
                        <a:rPr lang="en-US" sz="1100" dirty="0">
                          <a:effectLst/>
                        </a:rPr>
                        <a:t>Amir</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56674915"/>
                  </a:ext>
                </a:extLst>
              </a:tr>
              <a:tr h="0">
                <a:tc>
                  <a:txBody>
                    <a:bodyPr/>
                    <a:lstStyle/>
                    <a:p>
                      <a:pPr>
                        <a:lnSpc>
                          <a:spcPct val="115000"/>
                        </a:lnSpc>
                        <a:spcAft>
                          <a:spcPts val="1000"/>
                        </a:spcAft>
                        <a:buNone/>
                      </a:pPr>
                      <a:r>
                        <a:rPr lang="en-US" sz="1100" dirty="0">
                          <a:effectLst/>
                        </a:rPr>
                        <a:t>T</a:t>
                      </a:r>
                      <a:r>
                        <a:rPr lang="en-US" sz="1100" u="sng" dirty="0">
                          <a:effectLst/>
                        </a:rPr>
                        <a:t>a</a:t>
                      </a:r>
                      <a:r>
                        <a:rPr lang="en-US" sz="1100" dirty="0">
                          <a:effectLst/>
                        </a:rPr>
                        <a:t>lia</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20920487"/>
                  </a:ext>
                </a:extLst>
              </a:tr>
              <a:tr h="0">
                <a:tc>
                  <a:txBody>
                    <a:bodyPr/>
                    <a:lstStyle/>
                    <a:p>
                      <a:pPr>
                        <a:lnSpc>
                          <a:spcPct val="115000"/>
                        </a:lnSpc>
                        <a:spcAft>
                          <a:spcPts val="1000"/>
                        </a:spcAft>
                        <a:buNone/>
                      </a:pPr>
                      <a:r>
                        <a:rPr lang="en-US" sz="1100" dirty="0">
                          <a:effectLst/>
                        </a:rPr>
                        <a:t>Daniel</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62655597"/>
                  </a:ext>
                </a:extLst>
              </a:tr>
              <a:tr h="70353">
                <a:tc>
                  <a:txBody>
                    <a:bodyPr/>
                    <a:lstStyle/>
                    <a:p>
                      <a:pPr>
                        <a:lnSpc>
                          <a:spcPct val="115000"/>
                        </a:lnSpc>
                        <a:spcAft>
                          <a:spcPts val="1000"/>
                        </a:spcAft>
                        <a:buNone/>
                      </a:pPr>
                      <a:r>
                        <a:rPr lang="en-US" sz="1100" dirty="0">
                          <a:effectLst/>
                        </a:rPr>
                        <a:t>Lotta</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56307723"/>
                  </a:ext>
                </a:extLst>
              </a:tr>
              <a:tr h="0">
                <a:tc>
                  <a:txBody>
                    <a:bodyPr/>
                    <a:lstStyle/>
                    <a:p>
                      <a:pPr>
                        <a:lnSpc>
                          <a:spcPct val="115000"/>
                        </a:lnSpc>
                        <a:spcAft>
                          <a:spcPts val="1000"/>
                        </a:spcAft>
                        <a:buNone/>
                      </a:pPr>
                      <a:r>
                        <a:rPr lang="en-US" sz="1100" u="none" dirty="0">
                          <a:effectLst/>
                        </a:rPr>
                        <a:t>Taiyo</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45034"/>
                  </a:ext>
                </a:extLst>
              </a:tr>
              <a:tr h="0">
                <a:tc>
                  <a:txBody>
                    <a:bodyPr/>
                    <a:lstStyle/>
                    <a:p>
                      <a:pPr>
                        <a:lnSpc>
                          <a:spcPct val="115000"/>
                        </a:lnSpc>
                        <a:spcAft>
                          <a:spcPts val="1000"/>
                        </a:spcAft>
                        <a:buNone/>
                      </a:pPr>
                      <a:r>
                        <a:rPr lang="en-US" sz="1100" dirty="0">
                          <a:effectLst/>
                        </a:rPr>
                        <a:t>Walid</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25775647"/>
                  </a:ext>
                </a:extLst>
              </a:tr>
              <a:tr h="0">
                <a:tc>
                  <a:txBody>
                    <a:bodyPr/>
                    <a:lstStyle/>
                    <a:p>
                      <a:pPr>
                        <a:lnSpc>
                          <a:spcPct val="115000"/>
                        </a:lnSpc>
                        <a:spcAft>
                          <a:spcPts val="1000"/>
                        </a:spcAft>
                        <a:buNone/>
                      </a:pPr>
                      <a:r>
                        <a:rPr lang="en-US" sz="1100" dirty="0">
                          <a:effectLst/>
                        </a:rPr>
                        <a:t>Bjarne</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64073134"/>
                  </a:ext>
                </a:extLst>
              </a:tr>
              <a:tr h="0">
                <a:tc>
                  <a:txBody>
                    <a:bodyPr/>
                    <a:lstStyle/>
                    <a:p>
                      <a:pPr>
                        <a:lnSpc>
                          <a:spcPct val="115000"/>
                        </a:lnSpc>
                        <a:spcAft>
                          <a:spcPts val="1000"/>
                        </a:spcAft>
                        <a:buNone/>
                      </a:pPr>
                      <a:r>
                        <a:rPr lang="en-US" sz="1100" dirty="0">
                          <a:effectLst/>
                        </a:rPr>
                        <a:t>Gesa</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44300974"/>
                  </a:ext>
                </a:extLst>
              </a:tr>
              <a:tr h="0">
                <a:tc>
                  <a:txBody>
                    <a:bodyPr/>
                    <a:lstStyle/>
                    <a:p>
                      <a:pPr>
                        <a:lnSpc>
                          <a:spcPct val="115000"/>
                        </a:lnSpc>
                        <a:spcAft>
                          <a:spcPts val="1000"/>
                        </a:spcAft>
                        <a:buNone/>
                      </a:pPr>
                      <a:r>
                        <a:rPr lang="en-US" sz="1100" u="sng" dirty="0">
                          <a:effectLst/>
                        </a:rPr>
                        <a:t>Magdalena</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65509293"/>
                  </a:ext>
                </a:extLst>
              </a:tr>
              <a:tr h="0">
                <a:tc>
                  <a:txBody>
                    <a:bodyPr/>
                    <a:lstStyle/>
                    <a:p>
                      <a:pPr>
                        <a:lnSpc>
                          <a:spcPct val="115000"/>
                        </a:lnSpc>
                        <a:spcAft>
                          <a:spcPts val="1000"/>
                        </a:spcAft>
                        <a:buNone/>
                      </a:pPr>
                      <a:r>
                        <a:rPr lang="en-US" sz="1100" dirty="0">
                          <a:effectLst/>
                        </a:rPr>
                        <a:t>Patrick</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42463096"/>
                  </a:ext>
                </a:extLst>
              </a:tr>
              <a:tr h="0">
                <a:tc>
                  <a:txBody>
                    <a:bodyPr/>
                    <a:lstStyle/>
                    <a:p>
                      <a:pPr>
                        <a:lnSpc>
                          <a:spcPct val="115000"/>
                        </a:lnSpc>
                        <a:spcAft>
                          <a:spcPts val="1000"/>
                        </a:spcAft>
                        <a:buNone/>
                      </a:pPr>
                      <a:r>
                        <a:rPr lang="en-US" sz="1100" dirty="0">
                          <a:effectLst/>
                        </a:rPr>
                        <a:t>Julia</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83790146"/>
                  </a:ext>
                </a:extLst>
              </a:tr>
              <a:tr h="0">
                <a:tc>
                  <a:txBody>
                    <a:bodyPr/>
                    <a:lstStyle/>
                    <a:p>
                      <a:pPr>
                        <a:lnSpc>
                          <a:spcPct val="115000"/>
                        </a:lnSpc>
                        <a:spcAft>
                          <a:spcPts val="1000"/>
                        </a:spcAft>
                        <a:buNone/>
                      </a:pPr>
                      <a:r>
                        <a:rPr lang="en-US" sz="1100" dirty="0">
                          <a:effectLst/>
                        </a:rPr>
                        <a:t>Emely</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74159093"/>
                  </a:ext>
                </a:extLst>
              </a:tr>
            </a:tbl>
          </a:graphicData>
        </a:graphic>
      </p:graphicFrame>
    </p:spTree>
    <p:extLst>
      <p:ext uri="{BB962C8B-B14F-4D97-AF65-F5344CB8AC3E}">
        <p14:creationId xmlns:p14="http://schemas.microsoft.com/office/powerpoint/2010/main" val="2074345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D832C1-61D8-E476-D819-05ABBEFB8BD5}"/>
              </a:ext>
            </a:extLst>
          </p:cNvPr>
          <p:cNvSpPr>
            <a:spLocks noGrp="1"/>
          </p:cNvSpPr>
          <p:nvPr>
            <p:ph type="title"/>
          </p:nvPr>
        </p:nvSpPr>
        <p:spPr>
          <a:xfrm>
            <a:off x="1097280" y="286604"/>
            <a:ext cx="10058400" cy="960306"/>
          </a:xfrm>
        </p:spPr>
        <p:txBody>
          <a:bodyPr>
            <a:normAutofit/>
          </a:bodyPr>
          <a:lstStyle/>
          <a:p>
            <a:r>
              <a:rPr lang="de-DE" sz="3200" b="1" dirty="0"/>
              <a:t>2. Verstehen und Analysieren: </a:t>
            </a:r>
            <a:br>
              <a:rPr lang="de-DE" sz="3200" b="1" dirty="0"/>
            </a:br>
            <a:r>
              <a:rPr lang="de-DE" sz="3200" b="1" dirty="0"/>
              <a:t>Grundlagen Partizipation</a:t>
            </a:r>
            <a:endParaRPr lang="de-DE" sz="3200" dirty="0"/>
          </a:p>
        </p:txBody>
      </p:sp>
      <p:sp>
        <p:nvSpPr>
          <p:cNvPr id="3" name="Inhaltsplatzhalter 2">
            <a:extLst>
              <a:ext uri="{FF2B5EF4-FFF2-40B4-BE49-F238E27FC236}">
                <a16:creationId xmlns:a16="http://schemas.microsoft.com/office/drawing/2014/main" id="{174E59DA-436F-01BE-7749-F381FEF732BE}"/>
              </a:ext>
            </a:extLst>
          </p:cNvPr>
          <p:cNvSpPr>
            <a:spLocks noGrp="1"/>
          </p:cNvSpPr>
          <p:nvPr>
            <p:ph idx="1"/>
          </p:nvPr>
        </p:nvSpPr>
        <p:spPr>
          <a:xfrm>
            <a:off x="1097280" y="1417320"/>
            <a:ext cx="10058400" cy="4023360"/>
          </a:xfrm>
        </p:spPr>
        <p:txBody>
          <a:bodyPr>
            <a:normAutofit/>
          </a:bodyPr>
          <a:lstStyle/>
          <a:p>
            <a:r>
              <a:rPr lang="de-DE" b="1" dirty="0"/>
              <a:t>Arbeitsauftrag:</a:t>
            </a:r>
          </a:p>
          <a:p>
            <a:pPr marL="0" indent="0">
              <a:buNone/>
            </a:pPr>
            <a:r>
              <a:rPr lang="de-DE" dirty="0"/>
              <a:t>Lest in der Cloud den Grundlagentext „Bedeutung einer dialogischen Grundhaltung für Partizipation“ und schreibt stichwortartig heraus:</a:t>
            </a:r>
          </a:p>
          <a:p>
            <a:pPr marL="292608" lvl="1" indent="0">
              <a:buNone/>
            </a:pPr>
            <a:endParaRPr lang="de-DE" dirty="0"/>
          </a:p>
          <a:p>
            <a:pPr marL="292608" lvl="1" indent="0">
              <a:buNone/>
            </a:pPr>
            <a:r>
              <a:rPr lang="de-DE" b="1" dirty="0"/>
              <a:t>Welche To </a:t>
            </a:r>
            <a:r>
              <a:rPr lang="de-DE" b="1" dirty="0" err="1"/>
              <a:t>Do´s</a:t>
            </a:r>
            <a:r>
              <a:rPr lang="de-DE" b="1" dirty="0"/>
              <a:t> / Tipps/ Hinweise erhaltet ihr für die Entwicklung einer dialogischen Haltung in päd. Interaktionen? (Wissen, Haltung und Können der päd. Fachkraft?)</a:t>
            </a:r>
          </a:p>
          <a:p>
            <a:pPr marL="0" indent="0">
              <a:buNone/>
            </a:pPr>
            <a:r>
              <a:rPr lang="de-DE" dirty="0"/>
              <a:t>Legt dabei auch ein besonderes Augenmerk auf folgende Begriffe/ Inhalte/ Fragen:</a:t>
            </a:r>
          </a:p>
          <a:p>
            <a:pPr lvl="1">
              <a:buFont typeface="Wingdings" panose="05000000000000000000" pitchFamily="2" charset="2"/>
              <a:buChar char="§"/>
            </a:pPr>
            <a:r>
              <a:rPr lang="de-DE" dirty="0"/>
              <a:t>Grundprinzip einer partizipationsorientierten Pädagogik</a:t>
            </a:r>
          </a:p>
          <a:p>
            <a:pPr lvl="1">
              <a:buFont typeface="Wingdings" panose="05000000000000000000" pitchFamily="2" charset="2"/>
              <a:buChar char="§"/>
            </a:pPr>
            <a:r>
              <a:rPr lang="de-DE" dirty="0"/>
              <a:t>Dialog „als eine neue Form des Gesprächs“ (Bohm, nach Buber) </a:t>
            </a:r>
          </a:p>
          <a:p>
            <a:pPr lvl="1">
              <a:buFont typeface="Wingdings" panose="05000000000000000000" pitchFamily="2" charset="2"/>
              <a:buChar char="§"/>
            </a:pPr>
            <a:r>
              <a:rPr lang="de-DE" dirty="0"/>
              <a:t>Zweifel als Grundwert</a:t>
            </a:r>
          </a:p>
          <a:p>
            <a:pPr lvl="1">
              <a:buFont typeface="Wingdings" panose="05000000000000000000" pitchFamily="2" charset="2"/>
              <a:buChar char="§"/>
            </a:pPr>
            <a:r>
              <a:rPr lang="de-DE" dirty="0"/>
              <a:t>Dialoge beenden</a:t>
            </a:r>
          </a:p>
          <a:p>
            <a:pPr lvl="1">
              <a:buFont typeface="Wingdings" panose="05000000000000000000" pitchFamily="2" charset="2"/>
              <a:buChar char="§"/>
            </a:pPr>
            <a:endParaRPr lang="de-DE" dirty="0"/>
          </a:p>
          <a:p>
            <a:pPr lvl="1">
              <a:buFont typeface="Wingdings" panose="05000000000000000000" pitchFamily="2" charset="2"/>
              <a:buChar char="§"/>
            </a:pPr>
            <a:endParaRPr lang="de-DE" dirty="0"/>
          </a:p>
          <a:p>
            <a:pPr>
              <a:buFont typeface="Wingdings" panose="05000000000000000000" pitchFamily="2" charset="2"/>
              <a:buChar char="§"/>
            </a:pPr>
            <a:endParaRPr lang="de-DE" dirty="0"/>
          </a:p>
          <a:p>
            <a:pPr>
              <a:buFont typeface="Wingdings" panose="05000000000000000000" pitchFamily="2" charset="2"/>
              <a:buChar char="§"/>
            </a:pPr>
            <a:endParaRPr lang="de-DE" dirty="0"/>
          </a:p>
          <a:p>
            <a:pPr marL="0" indent="0">
              <a:buNone/>
            </a:pPr>
            <a:endParaRPr lang="de-DE" dirty="0"/>
          </a:p>
        </p:txBody>
      </p:sp>
      <p:sp>
        <p:nvSpPr>
          <p:cNvPr id="4" name="Pfeil: nach rechts 3">
            <a:extLst>
              <a:ext uri="{FF2B5EF4-FFF2-40B4-BE49-F238E27FC236}">
                <a16:creationId xmlns:a16="http://schemas.microsoft.com/office/drawing/2014/main" id="{7D58B5CF-E9FA-DD8C-FBFA-B9CBB45CFC0E}"/>
              </a:ext>
            </a:extLst>
          </p:cNvPr>
          <p:cNvSpPr/>
          <p:nvPr/>
        </p:nvSpPr>
        <p:spPr>
          <a:xfrm>
            <a:off x="1119447" y="2817090"/>
            <a:ext cx="195811" cy="230909"/>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de-DE"/>
          </a:p>
        </p:txBody>
      </p:sp>
      <p:graphicFrame>
        <p:nvGraphicFramePr>
          <p:cNvPr id="5" name="Tabelle 4">
            <a:extLst>
              <a:ext uri="{FF2B5EF4-FFF2-40B4-BE49-F238E27FC236}">
                <a16:creationId xmlns:a16="http://schemas.microsoft.com/office/drawing/2014/main" id="{213285FD-2F6D-94BF-7D19-6CA1E2F70EE6}"/>
              </a:ext>
            </a:extLst>
          </p:cNvPr>
          <p:cNvGraphicFramePr>
            <a:graphicFrameLocks noGrp="1"/>
          </p:cNvGraphicFramePr>
          <p:nvPr>
            <p:extLst>
              <p:ext uri="{D42A27DB-BD31-4B8C-83A1-F6EECF244321}">
                <p14:modId xmlns:p14="http://schemas.microsoft.com/office/powerpoint/2010/main" val="2115225919"/>
              </p:ext>
            </p:extLst>
          </p:nvPr>
        </p:nvGraphicFramePr>
        <p:xfrm>
          <a:off x="8035636" y="3881631"/>
          <a:ext cx="1865745" cy="2164848"/>
        </p:xfrm>
        <a:graphic>
          <a:graphicData uri="http://schemas.openxmlformats.org/drawingml/2006/table">
            <a:tbl>
              <a:tblPr firstRow="1" firstCol="1" bandRow="1">
                <a:tableStyleId>{5C22544A-7EE6-4342-B048-85BDC9FD1C3A}</a:tableStyleId>
              </a:tblPr>
              <a:tblGrid>
                <a:gridCol w="1865745">
                  <a:extLst>
                    <a:ext uri="{9D8B030D-6E8A-4147-A177-3AD203B41FA5}">
                      <a16:colId xmlns:a16="http://schemas.microsoft.com/office/drawing/2014/main" val="1530583428"/>
                    </a:ext>
                  </a:extLst>
                </a:gridCol>
              </a:tblGrid>
              <a:tr h="0">
                <a:tc>
                  <a:txBody>
                    <a:bodyPr/>
                    <a:lstStyle/>
                    <a:p>
                      <a:pPr>
                        <a:lnSpc>
                          <a:spcPct val="115000"/>
                        </a:lnSpc>
                        <a:spcAft>
                          <a:spcPts val="1000"/>
                        </a:spcAft>
                        <a:buNone/>
                      </a:pPr>
                      <a:r>
                        <a:rPr lang="en-US" sz="1100" dirty="0">
                          <a:effectLst/>
                        </a:rPr>
                        <a:t>Ella</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32801297"/>
                  </a:ext>
                </a:extLst>
              </a:tr>
              <a:tr h="0">
                <a:tc>
                  <a:txBody>
                    <a:bodyPr/>
                    <a:lstStyle/>
                    <a:p>
                      <a:pPr>
                        <a:lnSpc>
                          <a:spcPct val="115000"/>
                        </a:lnSpc>
                        <a:spcAft>
                          <a:spcPts val="1000"/>
                        </a:spcAft>
                        <a:buNone/>
                      </a:pPr>
                      <a:r>
                        <a:rPr lang="en-US" sz="1100" dirty="0">
                          <a:effectLst/>
                        </a:rPr>
                        <a:t>Anas</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03737619"/>
                  </a:ext>
                </a:extLst>
              </a:tr>
              <a:tr h="0">
                <a:tc>
                  <a:txBody>
                    <a:bodyPr/>
                    <a:lstStyle/>
                    <a:p>
                      <a:pPr>
                        <a:lnSpc>
                          <a:spcPct val="115000"/>
                        </a:lnSpc>
                        <a:spcAft>
                          <a:spcPts val="1000"/>
                        </a:spcAft>
                        <a:buNone/>
                      </a:pPr>
                      <a:r>
                        <a:rPr lang="en-US" sz="1100" u="none" dirty="0">
                          <a:effectLst/>
                        </a:rPr>
                        <a:t>Rosine</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15197936"/>
                  </a:ext>
                </a:extLst>
              </a:tr>
              <a:tr h="0">
                <a:tc>
                  <a:txBody>
                    <a:bodyPr/>
                    <a:lstStyle/>
                    <a:p>
                      <a:pPr>
                        <a:lnSpc>
                          <a:spcPct val="115000"/>
                        </a:lnSpc>
                        <a:spcAft>
                          <a:spcPts val="1000"/>
                        </a:spcAft>
                        <a:buNone/>
                      </a:pPr>
                      <a:r>
                        <a:rPr lang="en-US" sz="1100" u="none" dirty="0">
                          <a:effectLst/>
                        </a:rPr>
                        <a:t>Liz</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62159135"/>
                  </a:ext>
                </a:extLst>
              </a:tr>
              <a:tr h="0">
                <a:tc>
                  <a:txBody>
                    <a:bodyPr/>
                    <a:lstStyle/>
                    <a:p>
                      <a:pPr>
                        <a:lnSpc>
                          <a:spcPct val="115000"/>
                        </a:lnSpc>
                        <a:spcAft>
                          <a:spcPts val="1000"/>
                        </a:spcAft>
                        <a:buNone/>
                      </a:pPr>
                      <a:r>
                        <a:rPr lang="en-US" sz="1100" u="none" dirty="0">
                          <a:effectLst/>
                        </a:rPr>
                        <a:t>Ronja</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71929144"/>
                  </a:ext>
                </a:extLst>
              </a:tr>
              <a:tr h="0">
                <a:tc>
                  <a:txBody>
                    <a:bodyPr/>
                    <a:lstStyle/>
                    <a:p>
                      <a:pPr>
                        <a:lnSpc>
                          <a:spcPct val="115000"/>
                        </a:lnSpc>
                        <a:spcAft>
                          <a:spcPts val="1000"/>
                        </a:spcAft>
                        <a:buNone/>
                      </a:pPr>
                      <a:r>
                        <a:rPr lang="en-US" sz="1100" u="none" dirty="0">
                          <a:effectLst/>
                        </a:rPr>
                        <a:t>Levi</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12133909"/>
                  </a:ext>
                </a:extLst>
              </a:tr>
              <a:tr h="0">
                <a:tc>
                  <a:txBody>
                    <a:bodyPr/>
                    <a:lstStyle/>
                    <a:p>
                      <a:pPr>
                        <a:lnSpc>
                          <a:spcPct val="115000"/>
                        </a:lnSpc>
                        <a:spcAft>
                          <a:spcPts val="1000"/>
                        </a:spcAft>
                        <a:buNone/>
                      </a:pPr>
                      <a:r>
                        <a:rPr lang="en-US" sz="1100" u="none" dirty="0">
                          <a:effectLst/>
                        </a:rPr>
                        <a:t>Laura</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13061992"/>
                  </a:ext>
                </a:extLst>
              </a:tr>
              <a:tr h="0">
                <a:tc>
                  <a:txBody>
                    <a:bodyPr/>
                    <a:lstStyle/>
                    <a:p>
                      <a:pPr>
                        <a:lnSpc>
                          <a:spcPct val="115000"/>
                        </a:lnSpc>
                        <a:spcAft>
                          <a:spcPts val="1000"/>
                        </a:spcAft>
                        <a:buNone/>
                      </a:pPr>
                      <a:r>
                        <a:rPr lang="en-US" sz="1100" u="none" dirty="0" err="1">
                          <a:effectLst/>
                        </a:rPr>
                        <a:t>Chrischi</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0690640"/>
                  </a:ext>
                </a:extLst>
              </a:tr>
              <a:tr h="0">
                <a:tc>
                  <a:txBody>
                    <a:bodyPr/>
                    <a:lstStyle/>
                    <a:p>
                      <a:pPr>
                        <a:lnSpc>
                          <a:spcPct val="115000"/>
                        </a:lnSpc>
                        <a:spcAft>
                          <a:spcPts val="1000"/>
                        </a:spcAft>
                        <a:buNone/>
                      </a:pPr>
                      <a:r>
                        <a:rPr lang="en-US" sz="1100" u="none" dirty="0">
                          <a:effectLst/>
                        </a:rPr>
                        <a:t>Malwina</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39493218"/>
                  </a:ext>
                </a:extLst>
              </a:tr>
              <a:tr h="0">
                <a:tc>
                  <a:txBody>
                    <a:bodyPr/>
                    <a:lstStyle/>
                    <a:p>
                      <a:pPr>
                        <a:lnSpc>
                          <a:spcPct val="115000"/>
                        </a:lnSpc>
                        <a:spcAft>
                          <a:spcPts val="1000"/>
                        </a:spcAft>
                        <a:buNone/>
                      </a:pPr>
                      <a:r>
                        <a:rPr lang="en-US" sz="1100" u="none" dirty="0">
                          <a:effectLst/>
                        </a:rPr>
                        <a:t>Dominique</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08451499"/>
                  </a:ext>
                </a:extLst>
              </a:tr>
              <a:tr h="0">
                <a:tc>
                  <a:txBody>
                    <a:bodyPr/>
                    <a:lstStyle/>
                    <a:p>
                      <a:pPr>
                        <a:lnSpc>
                          <a:spcPct val="115000"/>
                        </a:lnSpc>
                        <a:spcAft>
                          <a:spcPts val="1000"/>
                        </a:spcAft>
                        <a:buNone/>
                      </a:pPr>
                      <a:r>
                        <a:rPr lang="en-US" sz="1100" u="none" dirty="0" err="1">
                          <a:effectLst/>
                        </a:rPr>
                        <a:t>Sveya</a:t>
                      </a:r>
                      <a:endParaRPr lang="de-DE" sz="1100" u="none"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01902949"/>
                  </a:ext>
                </a:extLst>
              </a:tr>
              <a:tr h="0">
                <a:tc>
                  <a:txBody>
                    <a:bodyPr/>
                    <a:lstStyle/>
                    <a:p>
                      <a:pPr>
                        <a:lnSpc>
                          <a:spcPct val="115000"/>
                        </a:lnSpc>
                        <a:spcAft>
                          <a:spcPts val="1000"/>
                        </a:spcAft>
                        <a:buNone/>
                      </a:pPr>
                      <a:r>
                        <a:rPr lang="en-US" sz="1100" dirty="0">
                          <a:effectLst/>
                        </a:rPr>
                        <a:t>Aileen</a:t>
                      </a:r>
                      <a:endParaRPr lang="de-DE"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49029291"/>
                  </a:ext>
                </a:extLst>
              </a:tr>
            </a:tbl>
          </a:graphicData>
        </a:graphic>
      </p:graphicFrame>
    </p:spTree>
    <p:extLst>
      <p:ext uri="{BB962C8B-B14F-4D97-AF65-F5344CB8AC3E}">
        <p14:creationId xmlns:p14="http://schemas.microsoft.com/office/powerpoint/2010/main" val="2445368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CAC1DA-031C-3D7E-F9A5-D9E356B7F01B}"/>
              </a:ext>
            </a:extLst>
          </p:cNvPr>
          <p:cNvSpPr>
            <a:spLocks noGrp="1"/>
          </p:cNvSpPr>
          <p:nvPr>
            <p:ph type="title"/>
          </p:nvPr>
        </p:nvSpPr>
        <p:spPr>
          <a:xfrm>
            <a:off x="1097280" y="286604"/>
            <a:ext cx="10058400" cy="849470"/>
          </a:xfrm>
        </p:spPr>
        <p:txBody>
          <a:bodyPr>
            <a:normAutofit/>
          </a:bodyPr>
          <a:lstStyle/>
          <a:p>
            <a:r>
              <a:rPr lang="de-DE" sz="3200" b="1" dirty="0"/>
              <a:t>Arbeitsauftrag für heute (12.11.25)</a:t>
            </a:r>
          </a:p>
        </p:txBody>
      </p:sp>
      <p:sp>
        <p:nvSpPr>
          <p:cNvPr id="3" name="Inhaltsplatzhalter 2">
            <a:extLst>
              <a:ext uri="{FF2B5EF4-FFF2-40B4-BE49-F238E27FC236}">
                <a16:creationId xmlns:a16="http://schemas.microsoft.com/office/drawing/2014/main" id="{90D146BC-5801-B284-4C68-30850707671F}"/>
              </a:ext>
            </a:extLst>
          </p:cNvPr>
          <p:cNvSpPr>
            <a:spLocks noGrp="1"/>
          </p:cNvSpPr>
          <p:nvPr>
            <p:ph idx="1"/>
          </p:nvPr>
        </p:nvSpPr>
        <p:spPr/>
        <p:txBody>
          <a:bodyPr/>
          <a:lstStyle/>
          <a:p>
            <a:r>
              <a:rPr lang="de-DE" dirty="0"/>
              <a:t>Ihr findet euch mit jeweils 3 anderen </a:t>
            </a:r>
            <a:r>
              <a:rPr lang="de-DE" dirty="0" err="1"/>
              <a:t>Mitschüler:innen</a:t>
            </a:r>
            <a:r>
              <a:rPr lang="de-DE" dirty="0"/>
              <a:t> zusammen, die den </a:t>
            </a:r>
            <a:r>
              <a:rPr lang="de-DE" u="sng" dirty="0"/>
              <a:t>gleichen</a:t>
            </a:r>
            <a:r>
              <a:rPr lang="de-DE" dirty="0"/>
              <a:t> Text gelesen und bearbeitet haben letzte Woche wir ihr. Nun bildet ihr eine Expertengruppe!</a:t>
            </a:r>
          </a:p>
          <a:p>
            <a:r>
              <a:rPr lang="de-DE" dirty="0"/>
              <a:t>Besprecht eure Ergebnisse entsprechend des Arbeitsauftrages von letzter Woche (s.o. </a:t>
            </a:r>
            <a:r>
              <a:rPr lang="de-DE" dirty="0" err="1"/>
              <a:t>ToDo‘s</a:t>
            </a:r>
            <a:r>
              <a:rPr lang="de-DE" dirty="0"/>
              <a:t>, Tipps, Hinweise für päd. FK) und entwickelt ein gemeinsames Handout mit den wichtigsten Inhalten. </a:t>
            </a:r>
          </a:p>
          <a:p>
            <a:r>
              <a:rPr lang="de-DE" dirty="0"/>
              <a:t>Das Handout ladet ihr bitte in die Cloud in den Ordner mit dem heutigen Datum hoch, entweder als Datei oder als Foto vom Ergebnis. </a:t>
            </a:r>
          </a:p>
          <a:p>
            <a:endParaRPr lang="de-DE" dirty="0"/>
          </a:p>
          <a:p>
            <a:r>
              <a:rPr lang="de-DE" b="1" dirty="0"/>
              <a:t>Zeit: 30 Min. </a:t>
            </a:r>
          </a:p>
        </p:txBody>
      </p:sp>
      <p:pic>
        <p:nvPicPr>
          <p:cNvPr id="4" name="Picture 4" descr="Wecker - Kostenlose zeit und datum-Icons">
            <a:extLst>
              <a:ext uri="{FF2B5EF4-FFF2-40B4-BE49-F238E27FC236}">
                <a16:creationId xmlns:a16="http://schemas.microsoft.com/office/drawing/2014/main" id="{C3ECF679-7AFC-D2C8-C4DF-A26ADE0A5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517348"/>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65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627A-50F4-9778-6854-C1A6A1C795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5D47EF9-A839-63E1-15D3-723EEDCD9EE3}"/>
              </a:ext>
            </a:extLst>
          </p:cNvPr>
          <p:cNvSpPr>
            <a:spLocks noGrp="1"/>
          </p:cNvSpPr>
          <p:nvPr>
            <p:ph type="title"/>
          </p:nvPr>
        </p:nvSpPr>
        <p:spPr>
          <a:xfrm>
            <a:off x="1097280" y="286604"/>
            <a:ext cx="10058400" cy="849470"/>
          </a:xfrm>
        </p:spPr>
        <p:txBody>
          <a:bodyPr>
            <a:normAutofit/>
          </a:bodyPr>
          <a:lstStyle/>
          <a:p>
            <a:r>
              <a:rPr lang="de-DE" sz="3200" b="1" dirty="0"/>
              <a:t>Arbeitsauftrag für heute (12.11.25)</a:t>
            </a:r>
          </a:p>
        </p:txBody>
      </p:sp>
      <p:sp>
        <p:nvSpPr>
          <p:cNvPr id="3" name="Inhaltsplatzhalter 2">
            <a:extLst>
              <a:ext uri="{FF2B5EF4-FFF2-40B4-BE49-F238E27FC236}">
                <a16:creationId xmlns:a16="http://schemas.microsoft.com/office/drawing/2014/main" id="{17E6A62A-2CDB-E83E-969C-8A0DD0B660F7}"/>
              </a:ext>
            </a:extLst>
          </p:cNvPr>
          <p:cNvSpPr>
            <a:spLocks noGrp="1"/>
          </p:cNvSpPr>
          <p:nvPr>
            <p:ph idx="1"/>
          </p:nvPr>
        </p:nvSpPr>
        <p:spPr>
          <a:xfrm>
            <a:off x="1121354" y="1900472"/>
            <a:ext cx="10034325" cy="3862153"/>
          </a:xfrm>
        </p:spPr>
        <p:txBody>
          <a:bodyPr/>
          <a:lstStyle/>
          <a:p>
            <a:r>
              <a:rPr lang="de-DE" dirty="0"/>
              <a:t>Im Anschluss sucht ihr euch </a:t>
            </a:r>
            <a:r>
              <a:rPr lang="de-DE" u="sng" dirty="0"/>
              <a:t>eine</a:t>
            </a:r>
            <a:r>
              <a:rPr lang="de-DE" dirty="0"/>
              <a:t> weitere Person, die den </a:t>
            </a:r>
            <a:r>
              <a:rPr lang="de-DE" u="sng" dirty="0"/>
              <a:t>anderen</a:t>
            </a:r>
            <a:r>
              <a:rPr lang="de-DE" dirty="0"/>
              <a:t> Text gelesen hat. </a:t>
            </a:r>
          </a:p>
          <a:p>
            <a:endParaRPr lang="de-DE" dirty="0"/>
          </a:p>
          <a:p>
            <a:r>
              <a:rPr lang="de-DE" dirty="0"/>
              <a:t>Tauscht euch zu euren Ergebnissen aus und stellt Rückfragen. </a:t>
            </a:r>
          </a:p>
          <a:p>
            <a:r>
              <a:rPr lang="de-DE" b="1" dirty="0"/>
              <a:t>Zeit: 20 Min. </a:t>
            </a:r>
          </a:p>
          <a:p>
            <a:endParaRPr lang="de-DE" dirty="0"/>
          </a:p>
          <a:p>
            <a:pPr marL="201168" lvl="1" indent="0">
              <a:buNone/>
            </a:pPr>
            <a:endParaRPr lang="de-DE" dirty="0"/>
          </a:p>
          <a:p>
            <a:pPr marL="201168" lvl="1" indent="0">
              <a:buNone/>
            </a:pPr>
            <a:r>
              <a:rPr lang="de-DE" sz="2400" dirty="0"/>
              <a:t>                                        Nun wissen alle alles! </a:t>
            </a:r>
          </a:p>
        </p:txBody>
      </p:sp>
      <p:pic>
        <p:nvPicPr>
          <p:cNvPr id="1026" name="Picture 2" descr="Die besten Methoden zum Wissen vermitteln – simpleshow">
            <a:extLst>
              <a:ext uri="{FF2B5EF4-FFF2-40B4-BE49-F238E27FC236}">
                <a16:creationId xmlns:a16="http://schemas.microsoft.com/office/drawing/2014/main" id="{6111403A-D77B-8DAB-1750-460FB0118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1325" y="3831548"/>
            <a:ext cx="1343025" cy="13430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ecker - Kostenlose zeit und datum-Icons">
            <a:extLst>
              <a:ext uri="{FF2B5EF4-FFF2-40B4-BE49-F238E27FC236}">
                <a16:creationId xmlns:a16="http://schemas.microsoft.com/office/drawing/2014/main" id="{F31A3BBC-6AFD-7733-22D5-11D27FDDC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079073"/>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391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EB4A97-0D83-BAB7-8261-A7A761D51077}"/>
              </a:ext>
            </a:extLst>
          </p:cNvPr>
          <p:cNvSpPr>
            <a:spLocks noGrp="1"/>
          </p:cNvSpPr>
          <p:nvPr>
            <p:ph type="title"/>
          </p:nvPr>
        </p:nvSpPr>
        <p:spPr>
          <a:xfrm>
            <a:off x="477078" y="516836"/>
            <a:ext cx="3100136" cy="1598292"/>
          </a:xfrm>
        </p:spPr>
        <p:txBody>
          <a:bodyPr>
            <a:normAutofit/>
          </a:bodyPr>
          <a:lstStyle/>
          <a:p>
            <a:r>
              <a:rPr lang="de-DE" sz="3600" dirty="0"/>
              <a:t>3. Entscheiden und Planen</a:t>
            </a:r>
            <a:br>
              <a:rPr lang="de-DE" sz="3600" dirty="0"/>
            </a:br>
            <a:endParaRPr lang="de-DE" sz="3600" dirty="0"/>
          </a:p>
        </p:txBody>
      </p:sp>
      <p:sp>
        <p:nvSpPr>
          <p:cNvPr id="3" name="Inhaltsplatzhalter 2">
            <a:extLst>
              <a:ext uri="{FF2B5EF4-FFF2-40B4-BE49-F238E27FC236}">
                <a16:creationId xmlns:a16="http://schemas.microsoft.com/office/drawing/2014/main" id="{2F0B14F2-7416-E18D-D8BC-E56C37CC31F7}"/>
              </a:ext>
            </a:extLst>
          </p:cNvPr>
          <p:cNvSpPr>
            <a:spLocks noGrp="1"/>
          </p:cNvSpPr>
          <p:nvPr>
            <p:ph idx="1"/>
          </p:nvPr>
        </p:nvSpPr>
        <p:spPr>
          <a:xfrm>
            <a:off x="492371" y="2272146"/>
            <a:ext cx="3543920" cy="3830476"/>
          </a:xfrm>
        </p:spPr>
        <p:txBody>
          <a:bodyPr>
            <a:normAutofit/>
          </a:bodyPr>
          <a:lstStyle/>
          <a:p>
            <a:r>
              <a:rPr lang="de-DE" sz="1800" u="sng" dirty="0"/>
              <a:t>Phasenziele: </a:t>
            </a:r>
          </a:p>
          <a:p>
            <a:r>
              <a:rPr lang="de-DE" sz="1800" dirty="0"/>
              <a:t>Die </a:t>
            </a:r>
            <a:r>
              <a:rPr lang="de-DE" sz="1800" dirty="0" err="1"/>
              <a:t>SuS</a:t>
            </a:r>
            <a:r>
              <a:rPr lang="de-DE" sz="1800" dirty="0"/>
              <a:t> entwickeln Handlungsmöglichkeiten/planen ihr Vorgehen, um die Herausforderung zu lösen.</a:t>
            </a:r>
          </a:p>
          <a:p>
            <a:r>
              <a:rPr lang="de-DE" sz="1800" dirty="0"/>
              <a:t> Die </a:t>
            </a:r>
            <a:r>
              <a:rPr lang="de-DE" sz="1800" dirty="0" err="1"/>
              <a:t>SuS</a:t>
            </a:r>
            <a:r>
              <a:rPr lang="de-DE" sz="1800" dirty="0"/>
              <a:t> entwickeln ein Verständnis für die dialogische Grundhaltung in Gesprächen/ dialogische Gesprächsführung sowie die Partizipation von Kindern.</a:t>
            </a:r>
          </a:p>
        </p:txBody>
      </p:sp>
      <p:pic>
        <p:nvPicPr>
          <p:cNvPr id="6" name="Inhaltsplatzhalter 3" descr="Ein Bild, das Text, Screenshot, Diagramm, Schrift enthält.&#10;&#10;Automatisch generierte Beschreibung">
            <a:extLst>
              <a:ext uri="{FF2B5EF4-FFF2-40B4-BE49-F238E27FC236}">
                <a16:creationId xmlns:a16="http://schemas.microsoft.com/office/drawing/2014/main" id="{7AAFC86B-4EE3-5F00-16A2-6B4DCD46EFD5}"/>
              </a:ext>
            </a:extLst>
          </p:cNvPr>
          <p:cNvPicPr>
            <a:picLocks noChangeAspect="1"/>
          </p:cNvPicPr>
          <p:nvPr/>
        </p:nvPicPr>
        <p:blipFill rotWithShape="1">
          <a:blip r:embed="rId2"/>
          <a:srcRect l="12004" r="12005" b="1"/>
          <a:stretch/>
        </p:blipFill>
        <p:spPr>
          <a:xfrm>
            <a:off x="4142042" y="132941"/>
            <a:ext cx="7309515" cy="6180113"/>
          </a:xfrm>
          <a:prstGeom prst="rect">
            <a:avLst/>
          </a:prstGeom>
        </p:spPr>
      </p:pic>
      <p:sp>
        <p:nvSpPr>
          <p:cNvPr id="14" name="Pfeil: nach rechts 13">
            <a:extLst>
              <a:ext uri="{FF2B5EF4-FFF2-40B4-BE49-F238E27FC236}">
                <a16:creationId xmlns:a16="http://schemas.microsoft.com/office/drawing/2014/main" id="{80DF8521-2740-8AC4-BAD0-D71DB61EB5E3}"/>
              </a:ext>
            </a:extLst>
          </p:cNvPr>
          <p:cNvSpPr/>
          <p:nvPr/>
        </p:nvSpPr>
        <p:spPr>
          <a:xfrm flipH="1">
            <a:off x="9484213" y="5306942"/>
            <a:ext cx="1967344" cy="111258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1287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4C8C6A-874F-FA9F-7E31-CA2698E1E058}"/>
              </a:ext>
            </a:extLst>
          </p:cNvPr>
          <p:cNvSpPr>
            <a:spLocks noGrp="1"/>
          </p:cNvSpPr>
          <p:nvPr>
            <p:ph type="title"/>
          </p:nvPr>
        </p:nvSpPr>
        <p:spPr/>
        <p:txBody>
          <a:bodyPr/>
          <a:lstStyle/>
          <a:p>
            <a:r>
              <a:rPr lang="de-DE" dirty="0"/>
              <a:t>Zurück zur Ausgangssituation: </a:t>
            </a:r>
            <a:br>
              <a:rPr lang="de-DE" dirty="0"/>
            </a:br>
            <a:r>
              <a:rPr lang="de-DE" dirty="0"/>
              <a:t>Protokoll - Ergebnis</a:t>
            </a:r>
          </a:p>
        </p:txBody>
      </p:sp>
      <p:pic>
        <p:nvPicPr>
          <p:cNvPr id="5" name="Inhaltsplatzhalter 4">
            <a:extLst>
              <a:ext uri="{FF2B5EF4-FFF2-40B4-BE49-F238E27FC236}">
                <a16:creationId xmlns:a16="http://schemas.microsoft.com/office/drawing/2014/main" id="{00D82100-94F9-9747-6F7B-F730E8510682}"/>
              </a:ext>
            </a:extLst>
          </p:cNvPr>
          <p:cNvPicPr>
            <a:picLocks noGrp="1" noChangeAspect="1"/>
          </p:cNvPicPr>
          <p:nvPr>
            <p:ph idx="1"/>
          </p:nvPr>
        </p:nvPicPr>
        <p:blipFill>
          <a:blip r:embed="rId2"/>
          <a:stretch>
            <a:fillRect/>
          </a:stretch>
        </p:blipFill>
        <p:spPr>
          <a:xfrm>
            <a:off x="2697889" y="1846263"/>
            <a:ext cx="6856547" cy="4022725"/>
          </a:xfrm>
        </p:spPr>
      </p:pic>
      <p:sp>
        <p:nvSpPr>
          <p:cNvPr id="6" name="Pfeil: nach rechts 5">
            <a:extLst>
              <a:ext uri="{FF2B5EF4-FFF2-40B4-BE49-F238E27FC236}">
                <a16:creationId xmlns:a16="http://schemas.microsoft.com/office/drawing/2014/main" id="{FCD4B093-7AD1-AB93-8C8F-A99D4D9A2EA8}"/>
              </a:ext>
            </a:extLst>
          </p:cNvPr>
          <p:cNvSpPr/>
          <p:nvPr/>
        </p:nvSpPr>
        <p:spPr>
          <a:xfrm>
            <a:off x="2363592" y="2688374"/>
            <a:ext cx="668593" cy="34412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Tree>
    <p:extLst>
      <p:ext uri="{BB962C8B-B14F-4D97-AF65-F5344CB8AC3E}">
        <p14:creationId xmlns:p14="http://schemas.microsoft.com/office/powerpoint/2010/main" val="1064525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4C8C6A-874F-FA9F-7E31-CA2698E1E058}"/>
              </a:ext>
            </a:extLst>
          </p:cNvPr>
          <p:cNvSpPr>
            <a:spLocks noGrp="1"/>
          </p:cNvSpPr>
          <p:nvPr>
            <p:ph type="title"/>
          </p:nvPr>
        </p:nvSpPr>
        <p:spPr>
          <a:xfrm>
            <a:off x="1066800" y="665019"/>
            <a:ext cx="10058400" cy="859905"/>
          </a:xfrm>
        </p:spPr>
        <p:txBody>
          <a:bodyPr>
            <a:normAutofit/>
          </a:bodyPr>
          <a:lstStyle/>
          <a:p>
            <a:r>
              <a:rPr lang="de-DE" sz="2800" dirty="0"/>
              <a:t>Zurück zur Ausgangssituation: </a:t>
            </a:r>
            <a:br>
              <a:rPr lang="de-DE" sz="2800" dirty="0"/>
            </a:br>
            <a:r>
              <a:rPr lang="de-DE" sz="2800" dirty="0"/>
              <a:t>Protokoll – Ergebnis </a:t>
            </a:r>
            <a:r>
              <a:rPr lang="de-DE" sz="2800" dirty="0">
                <a:sym typeface="Wingdings" panose="05000000000000000000" pitchFamily="2" charset="2"/>
              </a:rPr>
              <a:t> Arbeitsauftrag</a:t>
            </a:r>
            <a:endParaRPr lang="de-DE" sz="2800" dirty="0"/>
          </a:p>
        </p:txBody>
      </p:sp>
      <p:sp>
        <p:nvSpPr>
          <p:cNvPr id="3" name="Inhaltsplatzhalter 2">
            <a:extLst>
              <a:ext uri="{FF2B5EF4-FFF2-40B4-BE49-F238E27FC236}">
                <a16:creationId xmlns:a16="http://schemas.microsoft.com/office/drawing/2014/main" id="{231CFD47-C7A1-7F67-36EA-ECE8E0B02F56}"/>
              </a:ext>
            </a:extLst>
          </p:cNvPr>
          <p:cNvSpPr>
            <a:spLocks noGrp="1"/>
          </p:cNvSpPr>
          <p:nvPr>
            <p:ph idx="1"/>
          </p:nvPr>
        </p:nvSpPr>
        <p:spPr>
          <a:xfrm>
            <a:off x="921789" y="1771842"/>
            <a:ext cx="10058400" cy="4535402"/>
          </a:xfrm>
        </p:spPr>
        <p:txBody>
          <a:bodyPr>
            <a:normAutofit/>
          </a:bodyPr>
          <a:lstStyle/>
          <a:p>
            <a:r>
              <a:rPr lang="de-DE" dirty="0"/>
              <a:t>„Weiter einarbeiten in das Thema“</a:t>
            </a:r>
          </a:p>
          <a:p>
            <a:r>
              <a:rPr lang="de-DE" b="1" dirty="0">
                <a:sym typeface="Wingdings" panose="05000000000000000000" pitchFamily="2" charset="2"/>
              </a:rPr>
              <a:t> Arbeitsauftrag: Vertiefungstexte durchdringen und wichtige Inhalte präsentieren</a:t>
            </a:r>
          </a:p>
          <a:p>
            <a:pPr marL="457200" indent="-457200">
              <a:buFont typeface="+mj-lt"/>
              <a:buAutoNum type="arabicPeriod"/>
            </a:pPr>
            <a:r>
              <a:rPr lang="de-DE" dirty="0">
                <a:sym typeface="Wingdings" panose="05000000000000000000" pitchFamily="2" charset="2"/>
              </a:rPr>
              <a:t>Bildet insgesamt sechs Gruppen (also pro Gruppe ca. 4 Personen)</a:t>
            </a:r>
          </a:p>
          <a:p>
            <a:pPr marL="457200" indent="-457200">
              <a:buFont typeface="+mj-lt"/>
              <a:buAutoNum type="arabicPeriod"/>
            </a:pPr>
            <a:r>
              <a:rPr lang="de-DE" dirty="0">
                <a:sym typeface="Wingdings" panose="05000000000000000000" pitchFamily="2" charset="2"/>
              </a:rPr>
              <a:t>Lest in Einzelarbeit den euch zugewiesenen Text* und markiert wichtige Aspekte (ggf. auch Randnotizen).</a:t>
            </a:r>
          </a:p>
          <a:p>
            <a:pPr marL="457200" indent="-457200">
              <a:buFont typeface="+mj-lt"/>
              <a:buAutoNum type="arabicPeriod"/>
            </a:pPr>
            <a:r>
              <a:rPr lang="de-DE" dirty="0">
                <a:sym typeface="Wingdings" panose="05000000000000000000" pitchFamily="2" charset="2"/>
              </a:rPr>
              <a:t>Besprecht in eurer Gruppe den Inhalt, Verständnisschwierigkeiten etc.</a:t>
            </a:r>
          </a:p>
          <a:p>
            <a:pPr marL="457200" indent="-457200">
              <a:buFont typeface="+mj-lt"/>
              <a:buAutoNum type="arabicPeriod"/>
            </a:pPr>
            <a:r>
              <a:rPr lang="de-DE" dirty="0">
                <a:sym typeface="Wingdings" panose="05000000000000000000" pitchFamily="2" charset="2"/>
              </a:rPr>
              <a:t>Haltet eure Ergebnisse fest: Überlegt, wie ihr eure Ergebnisse den anderen präsentieren wollt (Plakate/ Flipchart/ Erklärvideo/ Mitschrift auf dem Laptop/ Metaplankarten etc.)</a:t>
            </a:r>
          </a:p>
          <a:p>
            <a:pPr marL="457200" indent="-457200">
              <a:buFont typeface="+mj-lt"/>
              <a:buAutoNum type="arabicPeriod"/>
            </a:pPr>
            <a:r>
              <a:rPr lang="de-DE" dirty="0">
                <a:sym typeface="Wingdings" panose="05000000000000000000" pitchFamily="2" charset="2"/>
              </a:rPr>
              <a:t>Präsentiert eure Ergebnisse im Rahmen einer simulierten Dienstbesprechung (03.12.).</a:t>
            </a:r>
          </a:p>
          <a:p>
            <a:pPr marL="0" indent="0">
              <a:buNone/>
            </a:pPr>
            <a:endParaRPr lang="de-DE" dirty="0">
              <a:sym typeface="Wingdings" panose="05000000000000000000" pitchFamily="2" charset="2"/>
            </a:endParaRPr>
          </a:p>
          <a:p>
            <a:pPr marL="0" indent="0">
              <a:buNone/>
            </a:pPr>
            <a:r>
              <a:rPr lang="de-DE" dirty="0">
                <a:sym typeface="Wingdings" panose="05000000000000000000" pitchFamily="2" charset="2"/>
              </a:rPr>
              <a:t>*(gezogenes Los)</a:t>
            </a:r>
          </a:p>
        </p:txBody>
      </p:sp>
      <p:pic>
        <p:nvPicPr>
          <p:cNvPr id="5" name="Grafik 4" descr="Ein Bild, das Zeichnung, Clipart, Entwurf, Darstellung enthält.&#10;&#10;Automatisch generierte Beschreibung">
            <a:extLst>
              <a:ext uri="{FF2B5EF4-FFF2-40B4-BE49-F238E27FC236}">
                <a16:creationId xmlns:a16="http://schemas.microsoft.com/office/drawing/2014/main" id="{8841A49C-F0FD-AD40-DEB4-4261DE949CD2}"/>
              </a:ext>
            </a:extLst>
          </p:cNvPr>
          <p:cNvPicPr>
            <a:picLocks noChangeAspect="1"/>
          </p:cNvPicPr>
          <p:nvPr/>
        </p:nvPicPr>
        <p:blipFill>
          <a:blip r:embed="rId2"/>
          <a:stretch>
            <a:fillRect/>
          </a:stretch>
        </p:blipFill>
        <p:spPr>
          <a:xfrm>
            <a:off x="8722481" y="682871"/>
            <a:ext cx="2028314" cy="1349751"/>
          </a:xfrm>
          <a:prstGeom prst="rect">
            <a:avLst/>
          </a:prstGeom>
        </p:spPr>
      </p:pic>
      <p:pic>
        <p:nvPicPr>
          <p:cNvPr id="8" name="Grafik 7" descr="Ein Bild, das Uhr, Wanduhr, Wecker, Darstellung enthält.&#10;&#10;Automatisch generierte Beschreibung">
            <a:extLst>
              <a:ext uri="{FF2B5EF4-FFF2-40B4-BE49-F238E27FC236}">
                <a16:creationId xmlns:a16="http://schemas.microsoft.com/office/drawing/2014/main" id="{74643C78-A7D7-B674-B70D-1035700F2E0E}"/>
              </a:ext>
            </a:extLst>
          </p:cNvPr>
          <p:cNvPicPr>
            <a:picLocks noChangeAspect="1"/>
          </p:cNvPicPr>
          <p:nvPr/>
        </p:nvPicPr>
        <p:blipFill>
          <a:blip r:embed="rId3"/>
          <a:stretch>
            <a:fillRect/>
          </a:stretch>
        </p:blipFill>
        <p:spPr>
          <a:xfrm>
            <a:off x="10239519" y="4988977"/>
            <a:ext cx="511276" cy="511276"/>
          </a:xfrm>
          <a:prstGeom prst="rect">
            <a:avLst/>
          </a:prstGeom>
        </p:spPr>
      </p:pic>
    </p:spTree>
    <p:extLst>
      <p:ext uri="{BB962C8B-B14F-4D97-AF65-F5344CB8AC3E}">
        <p14:creationId xmlns:p14="http://schemas.microsoft.com/office/powerpoint/2010/main" val="1889807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EB4A97-0D83-BAB7-8261-A7A761D51077}"/>
              </a:ext>
            </a:extLst>
          </p:cNvPr>
          <p:cNvSpPr>
            <a:spLocks noGrp="1"/>
          </p:cNvSpPr>
          <p:nvPr>
            <p:ph type="title"/>
          </p:nvPr>
        </p:nvSpPr>
        <p:spPr>
          <a:xfrm>
            <a:off x="477078" y="516835"/>
            <a:ext cx="3100136" cy="2103875"/>
          </a:xfrm>
        </p:spPr>
        <p:txBody>
          <a:bodyPr>
            <a:normAutofit/>
          </a:bodyPr>
          <a:lstStyle/>
          <a:p>
            <a:r>
              <a:rPr lang="de-DE" sz="3600" dirty="0"/>
              <a:t>4. Umsetzen und Interagieren</a:t>
            </a:r>
          </a:p>
        </p:txBody>
      </p:sp>
      <p:sp>
        <p:nvSpPr>
          <p:cNvPr id="3" name="Inhaltsplatzhalter 2">
            <a:extLst>
              <a:ext uri="{FF2B5EF4-FFF2-40B4-BE49-F238E27FC236}">
                <a16:creationId xmlns:a16="http://schemas.microsoft.com/office/drawing/2014/main" id="{2F0B14F2-7416-E18D-D8BC-E56C37CC31F7}"/>
              </a:ext>
            </a:extLst>
          </p:cNvPr>
          <p:cNvSpPr>
            <a:spLocks noGrp="1"/>
          </p:cNvSpPr>
          <p:nvPr>
            <p:ph idx="1"/>
          </p:nvPr>
        </p:nvSpPr>
        <p:spPr>
          <a:xfrm>
            <a:off x="492371" y="2736574"/>
            <a:ext cx="3084844" cy="3366047"/>
          </a:xfrm>
        </p:spPr>
        <p:txBody>
          <a:bodyPr>
            <a:normAutofit/>
          </a:bodyPr>
          <a:lstStyle/>
          <a:p>
            <a:endParaRPr lang="de-DE" dirty="0"/>
          </a:p>
          <a:p>
            <a:endParaRPr lang="de-DE" dirty="0"/>
          </a:p>
          <a:p>
            <a:r>
              <a:rPr lang="de-DE" dirty="0"/>
              <a:t>Die </a:t>
            </a:r>
            <a:r>
              <a:rPr lang="de-DE" dirty="0" err="1"/>
              <a:t>SuS</a:t>
            </a:r>
            <a:r>
              <a:rPr lang="de-DE" dirty="0"/>
              <a:t> reflektieren ihre Rolle im Prozess der Gesprächsführung und leiten daraus Handlungsbedarfe ab.</a:t>
            </a:r>
          </a:p>
          <a:p>
            <a:endParaRPr lang="de-DE" sz="1500" dirty="0"/>
          </a:p>
        </p:txBody>
      </p:sp>
      <p:pic>
        <p:nvPicPr>
          <p:cNvPr id="6" name="Inhaltsplatzhalter 3" descr="Ein Bild, das Text, Screenshot, Diagramm, Schrift enthält.&#10;&#10;Automatisch generierte Beschreibung">
            <a:extLst>
              <a:ext uri="{FF2B5EF4-FFF2-40B4-BE49-F238E27FC236}">
                <a16:creationId xmlns:a16="http://schemas.microsoft.com/office/drawing/2014/main" id="{7AAFC86B-4EE3-5F00-16A2-6B4DCD46EFD5}"/>
              </a:ext>
            </a:extLst>
          </p:cNvPr>
          <p:cNvPicPr>
            <a:picLocks noChangeAspect="1"/>
          </p:cNvPicPr>
          <p:nvPr/>
        </p:nvPicPr>
        <p:blipFill rotWithShape="1">
          <a:blip r:embed="rId2"/>
          <a:srcRect l="12004" r="12005" b="1"/>
          <a:stretch/>
        </p:blipFill>
        <p:spPr>
          <a:xfrm>
            <a:off x="4075043" y="10"/>
            <a:ext cx="8111272" cy="6857990"/>
          </a:xfrm>
          <a:prstGeom prst="rect">
            <a:avLst/>
          </a:prstGeom>
        </p:spPr>
      </p:pic>
      <p:sp>
        <p:nvSpPr>
          <p:cNvPr id="14" name="Pfeil: nach rechts 13">
            <a:extLst>
              <a:ext uri="{FF2B5EF4-FFF2-40B4-BE49-F238E27FC236}">
                <a16:creationId xmlns:a16="http://schemas.microsoft.com/office/drawing/2014/main" id="{80DF8521-2740-8AC4-BAD0-D71DB61EB5E3}"/>
              </a:ext>
            </a:extLst>
          </p:cNvPr>
          <p:cNvSpPr/>
          <p:nvPr/>
        </p:nvSpPr>
        <p:spPr>
          <a:xfrm>
            <a:off x="3522942" y="5228585"/>
            <a:ext cx="1924129" cy="111258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8174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BC4867-D973-B38E-FFB5-E3504D468307}"/>
              </a:ext>
            </a:extLst>
          </p:cNvPr>
          <p:cNvSpPr>
            <a:spLocks noGrp="1"/>
          </p:cNvSpPr>
          <p:nvPr>
            <p:ph type="title"/>
          </p:nvPr>
        </p:nvSpPr>
        <p:spPr>
          <a:xfrm>
            <a:off x="1036320" y="609600"/>
            <a:ext cx="10058400" cy="1561869"/>
          </a:xfrm>
        </p:spPr>
        <p:txBody>
          <a:bodyPr>
            <a:noAutofit/>
          </a:bodyPr>
          <a:lstStyle/>
          <a:p>
            <a:br>
              <a:rPr lang="de-DE" sz="3200" b="1" u="sng" dirty="0"/>
            </a:br>
            <a:br>
              <a:rPr lang="de-DE" sz="3200" b="1" u="sng" dirty="0"/>
            </a:br>
            <a:r>
              <a:rPr lang="de-DE" sz="2800" b="1" u="sng" dirty="0"/>
              <a:t>Arbeitsauftrag</a:t>
            </a:r>
            <a:r>
              <a:rPr lang="de-DE" sz="2800" u="sng" dirty="0"/>
              <a:t>:</a:t>
            </a:r>
            <a:r>
              <a:rPr lang="de-DE" sz="2800" dirty="0"/>
              <a:t> </a:t>
            </a:r>
            <a:br>
              <a:rPr lang="de-DE" sz="2800" dirty="0"/>
            </a:br>
            <a:r>
              <a:rPr lang="de-DE" sz="2800" dirty="0"/>
              <a:t>Wir simulieren die Dienstbesprechung der Kita „Spiel-Raum“ aus der Ausgangssituation. </a:t>
            </a:r>
            <a:br>
              <a:rPr lang="de-DE" sz="3200" dirty="0"/>
            </a:br>
            <a:endParaRPr lang="de-DE" sz="3200" dirty="0"/>
          </a:p>
        </p:txBody>
      </p:sp>
      <p:sp>
        <p:nvSpPr>
          <p:cNvPr id="3" name="Inhaltsplatzhalter 2">
            <a:extLst>
              <a:ext uri="{FF2B5EF4-FFF2-40B4-BE49-F238E27FC236}">
                <a16:creationId xmlns:a16="http://schemas.microsoft.com/office/drawing/2014/main" id="{FD08EF72-B4E2-E1AE-5962-C6A41E76C594}"/>
              </a:ext>
            </a:extLst>
          </p:cNvPr>
          <p:cNvSpPr>
            <a:spLocks noGrp="1"/>
          </p:cNvSpPr>
          <p:nvPr>
            <p:ph idx="1"/>
          </p:nvPr>
        </p:nvSpPr>
        <p:spPr/>
        <p:txBody>
          <a:bodyPr>
            <a:normAutofit fontScale="25000" lnSpcReduction="20000"/>
          </a:bodyPr>
          <a:lstStyle/>
          <a:p>
            <a:r>
              <a:rPr lang="de-DE" sz="7200" u="sng" dirty="0"/>
              <a:t>Zur Erinnerung: </a:t>
            </a:r>
            <a:endParaRPr lang="de-DE" sz="7200" dirty="0"/>
          </a:p>
          <a:p>
            <a:pPr fontAlgn="base"/>
            <a:r>
              <a:rPr lang="de-DE" sz="7200" dirty="0"/>
              <a:t>Die neue Leitung Hava Ahmadi hat sich vor dem Start in der neuen Kita in ihrem bisherigen Arbeitsumfeld besonders mit Kinderrechten befasst. In diesem Zusammenhang hat sie das Konzept der Einrichtung gelesen. Ihr ist aufgefallen, dass zum Umgang mit Themen der Kinder wenig zu lesen ist. Gemeinsam mit dem Team will sie auf das Konzept blicken und dies ggf. bearbeiten. </a:t>
            </a:r>
          </a:p>
          <a:p>
            <a:pPr fontAlgn="base"/>
            <a:r>
              <a:rPr lang="de-DE" sz="7200" dirty="0"/>
              <a:t>Hier soll im Besonderen darauf geachtet werden, wann und wie mit den Kindern gesprochen wird und inwiefern deren Anliegen überhaupt ernstgenommen werden. </a:t>
            </a:r>
          </a:p>
          <a:p>
            <a:pPr fontAlgn="base"/>
            <a:r>
              <a:rPr lang="de-DE" sz="7200" dirty="0"/>
              <a:t>Dafür wurde eine ausführliche Dienstbesprechung eingeplant, bei der die Selbstreflexion des eigenen Verhaltes im Mittelpunkt stand. Das Team möchte über bestimmte Fragestellungen fachlich in den Austausch gehen. </a:t>
            </a:r>
          </a:p>
          <a:p>
            <a:r>
              <a:rPr lang="de-DE" sz="7200" dirty="0"/>
              <a:t>Das Team hat sich selbst die Aufgabe gegeben, sich weiter einzuarbeiten in das Thema, praktische Erfahrungen zu sammeln und zu reflektieren.</a:t>
            </a:r>
          </a:p>
          <a:p>
            <a:r>
              <a:rPr lang="de-DE" sz="7200" dirty="0"/>
              <a:t>Diese Erkenntnisse sollten zur dieser Dienstbesprechung mitgebracht werden. </a:t>
            </a:r>
          </a:p>
          <a:p>
            <a:r>
              <a:rPr lang="de-DE" sz="7200" dirty="0"/>
              <a:t>Danach sollen grundlegende Merkmale zu dem Aspekt "Gespräche mit Kindern und Umgang mit ihren Anliegen" im Einrichtungskonzept festgelegt werden. </a:t>
            </a:r>
          </a:p>
          <a:p>
            <a:endParaRPr lang="de-DE" dirty="0"/>
          </a:p>
        </p:txBody>
      </p:sp>
    </p:spTree>
    <p:extLst>
      <p:ext uri="{BB962C8B-B14F-4D97-AF65-F5344CB8AC3E}">
        <p14:creationId xmlns:p14="http://schemas.microsoft.com/office/powerpoint/2010/main" val="3402263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1EF0C4-951C-5F96-ECFD-DD1BA02D6C94}"/>
              </a:ext>
            </a:extLst>
          </p:cNvPr>
          <p:cNvSpPr>
            <a:spLocks noGrp="1"/>
          </p:cNvSpPr>
          <p:nvPr>
            <p:ph type="title"/>
          </p:nvPr>
        </p:nvSpPr>
        <p:spPr>
          <a:xfrm>
            <a:off x="1097280" y="890847"/>
            <a:ext cx="10058400" cy="564342"/>
          </a:xfrm>
        </p:spPr>
        <p:txBody>
          <a:bodyPr>
            <a:normAutofit/>
          </a:bodyPr>
          <a:lstStyle/>
          <a:p>
            <a:r>
              <a:rPr lang="de-DE" sz="3200" b="1" dirty="0"/>
              <a:t>Vorbereitung</a:t>
            </a:r>
          </a:p>
        </p:txBody>
      </p:sp>
      <p:sp>
        <p:nvSpPr>
          <p:cNvPr id="3" name="Inhaltsplatzhalter 2">
            <a:extLst>
              <a:ext uri="{FF2B5EF4-FFF2-40B4-BE49-F238E27FC236}">
                <a16:creationId xmlns:a16="http://schemas.microsoft.com/office/drawing/2014/main" id="{A2371103-E3E1-33D8-CC9E-5D4549B23121}"/>
              </a:ext>
            </a:extLst>
          </p:cNvPr>
          <p:cNvSpPr>
            <a:spLocks noGrp="1"/>
          </p:cNvSpPr>
          <p:nvPr>
            <p:ph idx="1"/>
          </p:nvPr>
        </p:nvSpPr>
        <p:spPr/>
        <p:txBody>
          <a:bodyPr/>
          <a:lstStyle/>
          <a:p>
            <a:r>
              <a:rPr lang="de-DE" dirty="0"/>
              <a:t>Rollenverteilung</a:t>
            </a:r>
          </a:p>
          <a:p>
            <a:pPr lvl="1"/>
            <a:r>
              <a:rPr lang="de-DE" dirty="0"/>
              <a:t>Je Themen-Gruppe 2 </a:t>
            </a:r>
            <a:r>
              <a:rPr lang="de-DE" dirty="0" err="1"/>
              <a:t>Vertreter:innen</a:t>
            </a:r>
            <a:r>
              <a:rPr lang="de-DE" dirty="0"/>
              <a:t> in der Rolle der </a:t>
            </a:r>
            <a:r>
              <a:rPr lang="de-DE" dirty="0" err="1"/>
              <a:t>Erzieher:innen</a:t>
            </a:r>
            <a:endParaRPr lang="de-DE" dirty="0"/>
          </a:p>
          <a:p>
            <a:pPr lvl="1"/>
            <a:r>
              <a:rPr lang="de-DE" dirty="0"/>
              <a:t>2 Rollen als </a:t>
            </a:r>
            <a:r>
              <a:rPr lang="de-DE" dirty="0" err="1"/>
              <a:t>Protokollant:in</a:t>
            </a:r>
            <a:endParaRPr lang="de-DE" dirty="0"/>
          </a:p>
          <a:p>
            <a:pPr lvl="1"/>
            <a:r>
              <a:rPr lang="de-DE" dirty="0"/>
              <a:t>2 Rollen als Leitung und Stellvertretende Leitung</a:t>
            </a:r>
          </a:p>
          <a:p>
            <a:pPr lvl="1"/>
            <a:r>
              <a:rPr lang="de-DE" dirty="0"/>
              <a:t>verbleibende Rollen: „Backup“ hinter den </a:t>
            </a:r>
            <a:r>
              <a:rPr lang="de-DE" dirty="0" err="1"/>
              <a:t>Erzieher:innen</a:t>
            </a:r>
            <a:r>
              <a:rPr lang="de-DE" dirty="0"/>
              <a:t> („</a:t>
            </a:r>
            <a:r>
              <a:rPr lang="de-DE" dirty="0" err="1"/>
              <a:t>Souffleur:in</a:t>
            </a:r>
            <a:r>
              <a:rPr lang="de-DE" dirty="0"/>
              <a:t>“)</a:t>
            </a:r>
          </a:p>
          <a:p>
            <a:pPr marL="201168" lvl="1" indent="0">
              <a:buNone/>
            </a:pPr>
            <a:endParaRPr lang="de-DE" dirty="0"/>
          </a:p>
          <a:p>
            <a:pPr marL="201168" lvl="1" indent="0">
              <a:buNone/>
            </a:pPr>
            <a:r>
              <a:rPr lang="de-DE" sz="2000"/>
              <a:t>Setting </a:t>
            </a:r>
            <a:r>
              <a:rPr lang="de-DE" sz="2000" dirty="0"/>
              <a:t>aufbauen</a:t>
            </a:r>
          </a:p>
          <a:p>
            <a:pPr lvl="1">
              <a:buFont typeface="Wingdings" panose="05000000000000000000" pitchFamily="2" charset="2"/>
              <a:buChar char="§"/>
            </a:pPr>
            <a:r>
              <a:rPr lang="de-DE" dirty="0"/>
              <a:t>Stuhlkreis, in den sich die Rollen Leitungskräfte und </a:t>
            </a:r>
            <a:r>
              <a:rPr lang="de-DE" dirty="0" err="1"/>
              <a:t>Erzieher:innen</a:t>
            </a:r>
            <a:r>
              <a:rPr lang="de-DE" dirty="0"/>
              <a:t> setzen</a:t>
            </a:r>
          </a:p>
          <a:p>
            <a:pPr lvl="1">
              <a:buFont typeface="Wingdings" panose="05000000000000000000" pitchFamily="2" charset="2"/>
              <a:buChar char="§"/>
            </a:pPr>
            <a:r>
              <a:rPr lang="de-DE" dirty="0" err="1"/>
              <a:t>Protokollant:innen</a:t>
            </a:r>
            <a:r>
              <a:rPr lang="de-DE" dirty="0"/>
              <a:t> nehmen mit Laptop Plätze außerhalb des Stuhlkreises ein (Ergebnisse werden auf folgenden Folien festgehalten)</a:t>
            </a:r>
          </a:p>
          <a:p>
            <a:pPr lvl="1">
              <a:buFont typeface="Wingdings" panose="05000000000000000000" pitchFamily="2" charset="2"/>
              <a:buChar char="§"/>
            </a:pPr>
            <a:r>
              <a:rPr lang="de-DE" dirty="0" err="1"/>
              <a:t>Backup-Schüler:innen</a:t>
            </a:r>
            <a:r>
              <a:rPr lang="de-DE" dirty="0"/>
              <a:t> setzen sich hinter ihre Teammitglieder</a:t>
            </a:r>
          </a:p>
          <a:p>
            <a:pPr lvl="1">
              <a:buFont typeface="Wingdings" panose="05000000000000000000" pitchFamily="2" charset="2"/>
              <a:buChar char="§"/>
            </a:pPr>
            <a:r>
              <a:rPr lang="de-DE" dirty="0"/>
              <a:t>Notizen und Ergebnisse aus den Gruppen dienen als Gedankenstütze</a:t>
            </a:r>
          </a:p>
        </p:txBody>
      </p:sp>
    </p:spTree>
    <p:extLst>
      <p:ext uri="{BB962C8B-B14F-4D97-AF65-F5344CB8AC3E}">
        <p14:creationId xmlns:p14="http://schemas.microsoft.com/office/powerpoint/2010/main" val="4128598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4C8C6A-874F-FA9F-7E31-CA2698E1E058}"/>
              </a:ext>
            </a:extLst>
          </p:cNvPr>
          <p:cNvSpPr>
            <a:spLocks noGrp="1"/>
          </p:cNvSpPr>
          <p:nvPr>
            <p:ph type="title"/>
          </p:nvPr>
        </p:nvSpPr>
        <p:spPr>
          <a:xfrm>
            <a:off x="1198880" y="746299"/>
            <a:ext cx="10058400" cy="932875"/>
          </a:xfrm>
        </p:spPr>
        <p:txBody>
          <a:bodyPr>
            <a:normAutofit/>
          </a:bodyPr>
          <a:lstStyle/>
          <a:p>
            <a:r>
              <a:rPr lang="de-DE" sz="2700" b="1" dirty="0"/>
              <a:t>DB 03.12.25: </a:t>
            </a:r>
            <a:r>
              <a:rPr lang="de-DE" sz="2700" dirty="0"/>
              <a:t>Welche Impulse wollen wir in unserer Kita aufgreifen? </a:t>
            </a:r>
            <a:r>
              <a:rPr lang="de-DE" sz="2700" dirty="0">
                <a:sym typeface="Wingdings" panose="05000000000000000000" pitchFamily="2" charset="2"/>
              </a:rPr>
              <a:t>* </a:t>
            </a:r>
            <a:r>
              <a:rPr lang="de-DE" sz="1800" dirty="0">
                <a:sym typeface="Wingdings" panose="05000000000000000000" pitchFamily="2" charset="2"/>
              </a:rPr>
              <a:t>(Theoretische Grundlagen der Sammlung finden sich im Cloud-Ordner „Ergebnisse für 03.12. DB“)</a:t>
            </a:r>
            <a:br>
              <a:rPr lang="de-DE" sz="1800" dirty="0">
                <a:sym typeface="Wingdings" panose="05000000000000000000" pitchFamily="2" charset="2"/>
              </a:rPr>
            </a:br>
            <a:endParaRPr lang="de-DE" sz="1800" dirty="0"/>
          </a:p>
        </p:txBody>
      </p:sp>
      <p:sp>
        <p:nvSpPr>
          <p:cNvPr id="3" name="Inhaltsplatzhalter 2">
            <a:extLst>
              <a:ext uri="{FF2B5EF4-FFF2-40B4-BE49-F238E27FC236}">
                <a16:creationId xmlns:a16="http://schemas.microsoft.com/office/drawing/2014/main" id="{231CFD47-C7A1-7F67-36EA-ECE8E0B02F56}"/>
              </a:ext>
            </a:extLst>
          </p:cNvPr>
          <p:cNvSpPr>
            <a:spLocks noGrp="1"/>
          </p:cNvSpPr>
          <p:nvPr>
            <p:ph idx="1"/>
          </p:nvPr>
        </p:nvSpPr>
        <p:spPr>
          <a:xfrm>
            <a:off x="1198880" y="1782619"/>
            <a:ext cx="10058400" cy="4375264"/>
          </a:xfrm>
        </p:spPr>
        <p:txBody>
          <a:bodyPr>
            <a:normAutofit/>
          </a:bodyPr>
          <a:lstStyle/>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a:buFont typeface="Wingdings" panose="05000000000000000000" pitchFamily="2" charset="2"/>
              <a:buChar char="§"/>
            </a:pPr>
            <a:endParaRPr lang="de-DE" dirty="0">
              <a:sym typeface="Wingdings" panose="05000000000000000000" pitchFamily="2" charset="2"/>
            </a:endParaRPr>
          </a:p>
          <a:p>
            <a:pPr>
              <a:buFont typeface="Wingdings" panose="05000000000000000000" pitchFamily="2" charset="2"/>
              <a:buChar char="§"/>
            </a:pPr>
            <a:endParaRPr lang="de-DE" dirty="0">
              <a:sym typeface="Wingdings" panose="05000000000000000000" pitchFamily="2" charset="2"/>
            </a:endParaRPr>
          </a:p>
          <a:p>
            <a:pPr>
              <a:buFont typeface="Wingdings" panose="05000000000000000000" pitchFamily="2" charset="2"/>
              <a:buChar char="§"/>
            </a:pPr>
            <a:endParaRPr lang="de-DE" dirty="0"/>
          </a:p>
          <a:p>
            <a:endParaRPr lang="de-DE" dirty="0"/>
          </a:p>
        </p:txBody>
      </p:sp>
    </p:spTree>
    <p:extLst>
      <p:ext uri="{BB962C8B-B14F-4D97-AF65-F5344CB8AC3E}">
        <p14:creationId xmlns:p14="http://schemas.microsoft.com/office/powerpoint/2010/main" val="10637835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755B8-6544-FC1F-448D-FE1FCA50E52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810F0A-D75F-1797-7A05-0AA84D5A1917}"/>
              </a:ext>
            </a:extLst>
          </p:cNvPr>
          <p:cNvSpPr>
            <a:spLocks noGrp="1"/>
          </p:cNvSpPr>
          <p:nvPr>
            <p:ph type="title"/>
          </p:nvPr>
        </p:nvSpPr>
        <p:spPr>
          <a:xfrm>
            <a:off x="1198880" y="746299"/>
            <a:ext cx="10058400" cy="932875"/>
          </a:xfrm>
        </p:spPr>
        <p:txBody>
          <a:bodyPr>
            <a:normAutofit/>
          </a:bodyPr>
          <a:lstStyle/>
          <a:p>
            <a:r>
              <a:rPr lang="de-DE" sz="2700" b="1" dirty="0"/>
              <a:t>DB 03.12.25: </a:t>
            </a:r>
            <a:r>
              <a:rPr lang="de-DE" sz="2700" dirty="0"/>
              <a:t>Welche Impulse wollen wir in unserer Kita aufgreifen? </a:t>
            </a:r>
            <a:r>
              <a:rPr lang="de-DE" sz="2700" dirty="0">
                <a:sym typeface="Wingdings" panose="05000000000000000000" pitchFamily="2" charset="2"/>
              </a:rPr>
              <a:t>* </a:t>
            </a:r>
            <a:r>
              <a:rPr lang="de-DE" sz="1800" dirty="0">
                <a:sym typeface="Wingdings" panose="05000000000000000000" pitchFamily="2" charset="2"/>
              </a:rPr>
              <a:t>(Theoretische Grundlagen der Sammlung finden sich im Cloud-Ordner „Ergebnisse für 03.12. DB“)</a:t>
            </a:r>
            <a:br>
              <a:rPr lang="de-DE" sz="1800" dirty="0">
                <a:sym typeface="Wingdings" panose="05000000000000000000" pitchFamily="2" charset="2"/>
              </a:rPr>
            </a:br>
            <a:endParaRPr lang="de-DE" sz="1800" dirty="0"/>
          </a:p>
        </p:txBody>
      </p:sp>
      <p:sp>
        <p:nvSpPr>
          <p:cNvPr id="3" name="Inhaltsplatzhalter 2">
            <a:extLst>
              <a:ext uri="{FF2B5EF4-FFF2-40B4-BE49-F238E27FC236}">
                <a16:creationId xmlns:a16="http://schemas.microsoft.com/office/drawing/2014/main" id="{985E0E45-9C85-FDF9-D244-9ED536B0B72E}"/>
              </a:ext>
            </a:extLst>
          </p:cNvPr>
          <p:cNvSpPr>
            <a:spLocks noGrp="1"/>
          </p:cNvSpPr>
          <p:nvPr>
            <p:ph idx="1"/>
          </p:nvPr>
        </p:nvSpPr>
        <p:spPr>
          <a:xfrm>
            <a:off x="1198880" y="1782619"/>
            <a:ext cx="10058400" cy="4375264"/>
          </a:xfrm>
        </p:spPr>
        <p:txBody>
          <a:bodyPr>
            <a:normAutofit/>
          </a:bodyPr>
          <a:lstStyle/>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marL="0" indent="0">
              <a:spcBef>
                <a:spcPts val="500"/>
              </a:spcBef>
              <a:buNone/>
            </a:pPr>
            <a:endParaRPr lang="de-DE" dirty="0">
              <a:sym typeface="Wingdings" panose="05000000000000000000" pitchFamily="2" charset="2"/>
            </a:endParaRPr>
          </a:p>
          <a:p>
            <a:pPr>
              <a:buFont typeface="Wingdings" panose="05000000000000000000" pitchFamily="2" charset="2"/>
              <a:buChar char="§"/>
            </a:pPr>
            <a:endParaRPr lang="de-DE" dirty="0">
              <a:sym typeface="Wingdings" panose="05000000000000000000" pitchFamily="2" charset="2"/>
            </a:endParaRPr>
          </a:p>
          <a:p>
            <a:pPr>
              <a:buFont typeface="Wingdings" panose="05000000000000000000" pitchFamily="2" charset="2"/>
              <a:buChar char="§"/>
            </a:pPr>
            <a:endParaRPr lang="de-DE" dirty="0">
              <a:sym typeface="Wingdings" panose="05000000000000000000" pitchFamily="2" charset="2"/>
            </a:endParaRPr>
          </a:p>
          <a:p>
            <a:pPr>
              <a:buFont typeface="Wingdings" panose="05000000000000000000" pitchFamily="2" charset="2"/>
              <a:buChar char="§"/>
            </a:pPr>
            <a:endParaRPr lang="de-DE" dirty="0"/>
          </a:p>
          <a:p>
            <a:endParaRPr lang="de-DE" dirty="0"/>
          </a:p>
        </p:txBody>
      </p:sp>
    </p:spTree>
    <p:extLst>
      <p:ext uri="{BB962C8B-B14F-4D97-AF65-F5344CB8AC3E}">
        <p14:creationId xmlns:p14="http://schemas.microsoft.com/office/powerpoint/2010/main" val="4146604579"/>
      </p:ext>
    </p:extLst>
  </p:cSld>
  <p:clrMapOvr>
    <a:masterClrMapping/>
  </p:clrMapOvr>
</p:sld>
</file>

<file path=ppt/theme/theme1.xml><?xml version="1.0" encoding="utf-8"?>
<a:theme xmlns:a="http://schemas.openxmlformats.org/drawingml/2006/main" name="Rückblick">
  <a:themeElements>
    <a:clrScheme name="Rückblick">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ückblick">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ückblick">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2850</Words>
  <Application>Microsoft Office PowerPoint</Application>
  <PresentationFormat>Breitbild</PresentationFormat>
  <Paragraphs>341</Paragraphs>
  <Slides>39</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39</vt:i4>
      </vt:variant>
    </vt:vector>
  </HeadingPairs>
  <TitlesOfParts>
    <vt:vector size="47" baseType="lpstr">
      <vt:lpstr>Arial</vt:lpstr>
      <vt:lpstr>Calibri</vt:lpstr>
      <vt:lpstr>Calibri Light</vt:lpstr>
      <vt:lpstr>Cambria</vt:lpstr>
      <vt:lpstr>Franklin Gothic Heavy</vt:lpstr>
      <vt:lpstr>Symbol</vt:lpstr>
      <vt:lpstr>Wingdings</vt:lpstr>
      <vt:lpstr>Rückblick</vt:lpstr>
      <vt:lpstr>PowerPoint-Präsentation</vt:lpstr>
      <vt:lpstr>Reminder: Kreislauf der vollständigen Handlung</vt:lpstr>
      <vt:lpstr>Agenda</vt:lpstr>
      <vt:lpstr>1. Wahrnehmen und Erleben</vt:lpstr>
      <vt:lpstr>1. Wahrnehmen und Erleben</vt:lpstr>
      <vt:lpstr>1. Wahrnehmen und Erleben</vt:lpstr>
      <vt:lpstr>1. Wahrnehmen und Erleben</vt:lpstr>
      <vt:lpstr>2. Verstehen und Analysieren </vt:lpstr>
      <vt:lpstr>2. Verstehen und Analysieren</vt:lpstr>
      <vt:lpstr>2. Verstehen und Analysieren</vt:lpstr>
      <vt:lpstr>2. Verstehen und Analysieren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2. Verstehen und Analysieren: Grundlagen Partizipation</vt:lpstr>
      <vt:lpstr>Exkurs und fachliche Einordnung -  Partizipation: Stufen der Beteiligung</vt:lpstr>
      <vt:lpstr>PowerPoint-Präsentation</vt:lpstr>
      <vt:lpstr>PowerPoint-Präsentation</vt:lpstr>
      <vt:lpstr>2. Verstehen und Analysieren:  Grundlagen Partizipation: MEMO</vt:lpstr>
      <vt:lpstr>2. Verstehen und Analysieren:  Grundlagen Partizipation</vt:lpstr>
      <vt:lpstr>2. Verstehen und Analysieren:  Grundlagen Partizipation</vt:lpstr>
      <vt:lpstr>Arbeitsauftrag für heute (12.11.25)</vt:lpstr>
      <vt:lpstr>Arbeitsauftrag für heute (12.11.25)</vt:lpstr>
      <vt:lpstr>3. Entscheiden und Planen </vt:lpstr>
      <vt:lpstr>Zurück zur Ausgangssituation:  Protokoll - Ergebnis</vt:lpstr>
      <vt:lpstr>Zurück zur Ausgangssituation:  Protokoll – Ergebnis  Arbeitsauftrag</vt:lpstr>
      <vt:lpstr>4. Umsetzen und Interagieren</vt:lpstr>
      <vt:lpstr>  Arbeitsauftrag:  Wir simulieren die Dienstbesprechung der Kita „Spiel-Raum“ aus der Ausgangssituation.  </vt:lpstr>
      <vt:lpstr>Vorbereitung</vt:lpstr>
      <vt:lpstr>DB 03.12.25: Welche Impulse wollen wir in unserer Kita aufgreifen? * (Theoretische Grundlagen der Sammlung finden sich im Cloud-Ordner „Ergebnisse für 03.12. DB“) </vt:lpstr>
      <vt:lpstr>DB 03.12.25: Welche Impulse wollen wir in unserer Kita aufgreifen? * (Theoretische Grundlagen der Sammlung finden sich im Cloud-Ordner „Ergebnisse für 03.12. DB“)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WPU FS - VBE</dc:title>
  <dc:creator>Joerg Futter</dc:creator>
  <cp:lastModifiedBy>Nicole von der Aa</cp:lastModifiedBy>
  <cp:revision>86</cp:revision>
  <cp:lastPrinted>2025-09-29T11:42:26Z</cp:lastPrinted>
  <dcterms:created xsi:type="dcterms:W3CDTF">2021-02-05T06:59:04Z</dcterms:created>
  <dcterms:modified xsi:type="dcterms:W3CDTF">2025-12-03T09:32:04Z</dcterms:modified>
</cp:coreProperties>
</file>