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63" r:id="rId6"/>
    <p:sldId id="269" r:id="rId7"/>
    <p:sldId id="259" r:id="rId8"/>
    <p:sldId id="270" r:id="rId9"/>
    <p:sldId id="264" r:id="rId10"/>
    <p:sldId id="265" r:id="rId11"/>
    <p:sldId id="266" r:id="rId12"/>
    <p:sldId id="267" r:id="rId13"/>
    <p:sldId id="262" r:id="rId14"/>
    <p:sldId id="268"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94" autoAdjust="0"/>
    <p:restoredTop sz="94660"/>
  </p:normalViewPr>
  <p:slideViewPr>
    <p:cSldViewPr snapToGrid="0">
      <p:cViewPr varScale="1">
        <p:scale>
          <a:sx n="113" d="100"/>
          <a:sy n="113" d="100"/>
        </p:scale>
        <p:origin x="126"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F11985-272D-4246-BDC3-1B9C099392C6}"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de-DE"/>
        </a:p>
      </dgm:t>
    </dgm:pt>
    <dgm:pt modelId="{0B370DF2-5FED-45A9-9E49-D882C5D4C8BA}">
      <dgm:prSet phldrT="[Text]" custT="1"/>
      <dgm:spPr/>
      <dgm:t>
        <a:bodyPr/>
        <a:lstStyle/>
        <a:p>
          <a:r>
            <a:rPr lang="de-DE" sz="2000" b="1" dirty="0"/>
            <a:t>Kohärenzsinn (SOC)</a:t>
          </a:r>
        </a:p>
      </dgm:t>
    </dgm:pt>
    <dgm:pt modelId="{CCB99A86-B8C2-4BDE-B813-56F5DF643F0C}" type="parTrans" cxnId="{F1D7A657-25A9-410A-B581-4EC6CF3B409C}">
      <dgm:prSet/>
      <dgm:spPr/>
      <dgm:t>
        <a:bodyPr/>
        <a:lstStyle/>
        <a:p>
          <a:endParaRPr lang="de-DE"/>
        </a:p>
      </dgm:t>
    </dgm:pt>
    <dgm:pt modelId="{F67B5037-537A-4884-99FD-B64438F5F7EE}" type="sibTrans" cxnId="{F1D7A657-25A9-410A-B581-4EC6CF3B409C}">
      <dgm:prSet/>
      <dgm:spPr/>
      <dgm:t>
        <a:bodyPr/>
        <a:lstStyle/>
        <a:p>
          <a:endParaRPr lang="de-DE"/>
        </a:p>
      </dgm:t>
    </dgm:pt>
    <dgm:pt modelId="{AD09849A-A5B3-4DF0-8518-B3A86A5F3D51}">
      <dgm:prSet phldrT="[Text]" custT="1"/>
      <dgm:spPr/>
      <dgm:t>
        <a:bodyPr/>
        <a:lstStyle/>
        <a:p>
          <a:r>
            <a:rPr lang="de-DE" sz="2000" b="0" dirty="0"/>
            <a:t>Einschätzung von Anforderungen und Belastungen</a:t>
          </a:r>
        </a:p>
      </dgm:t>
    </dgm:pt>
    <dgm:pt modelId="{6A45F4CA-4419-4715-B62E-1134101700F7}" type="parTrans" cxnId="{1BEEAA65-C36C-4EE5-AF02-990A60F3004B}">
      <dgm:prSet/>
      <dgm:spPr/>
      <dgm:t>
        <a:bodyPr/>
        <a:lstStyle/>
        <a:p>
          <a:endParaRPr lang="de-DE"/>
        </a:p>
      </dgm:t>
    </dgm:pt>
    <dgm:pt modelId="{A38909BB-46E5-46AF-9F0A-E61F5EBEB84D}" type="sibTrans" cxnId="{1BEEAA65-C36C-4EE5-AF02-990A60F3004B}">
      <dgm:prSet/>
      <dgm:spPr/>
      <dgm:t>
        <a:bodyPr/>
        <a:lstStyle/>
        <a:p>
          <a:endParaRPr lang="de-DE"/>
        </a:p>
      </dgm:t>
    </dgm:pt>
    <dgm:pt modelId="{0D3CC08F-08FA-4A0A-94AD-408A0CF652EC}">
      <dgm:prSet phldrT="[Text]" custT="1"/>
      <dgm:spPr/>
      <dgm:t>
        <a:bodyPr/>
        <a:lstStyle/>
        <a:p>
          <a:r>
            <a:rPr lang="de-DE" sz="2000" b="1" dirty="0"/>
            <a:t>Spannungs-zustand</a:t>
          </a:r>
        </a:p>
      </dgm:t>
    </dgm:pt>
    <dgm:pt modelId="{6DCDA0EE-C626-417D-9A36-BCF0C4745ECA}" type="parTrans" cxnId="{82EB0650-1707-4E7D-AD57-17F7EF95B7F9}">
      <dgm:prSet/>
      <dgm:spPr/>
      <dgm:t>
        <a:bodyPr/>
        <a:lstStyle/>
        <a:p>
          <a:endParaRPr lang="de-DE"/>
        </a:p>
      </dgm:t>
    </dgm:pt>
    <dgm:pt modelId="{B6C4AD13-4EC5-465D-855E-98B028CBC07E}" type="sibTrans" cxnId="{82EB0650-1707-4E7D-AD57-17F7EF95B7F9}">
      <dgm:prSet/>
      <dgm:spPr/>
      <dgm:t>
        <a:bodyPr/>
        <a:lstStyle/>
        <a:p>
          <a:endParaRPr lang="de-DE"/>
        </a:p>
      </dgm:t>
    </dgm:pt>
    <dgm:pt modelId="{84132C1F-1DD1-4223-B163-B02EC07F23C7}">
      <dgm:prSet custT="1"/>
      <dgm:spPr/>
      <dgm:t>
        <a:bodyPr/>
        <a:lstStyle/>
        <a:p>
          <a:r>
            <a:rPr lang="de-DE" sz="2000" b="0" dirty="0"/>
            <a:t>Einschätzung von Bewältigungs-möglichkeiten</a:t>
          </a:r>
        </a:p>
      </dgm:t>
    </dgm:pt>
    <dgm:pt modelId="{C98EADA9-1DEF-463A-A58E-E6F50FEBDEC1}" type="parTrans" cxnId="{1D806178-4869-4108-A79B-3B5C3F30F3C0}">
      <dgm:prSet/>
      <dgm:spPr/>
      <dgm:t>
        <a:bodyPr/>
        <a:lstStyle/>
        <a:p>
          <a:endParaRPr lang="de-DE"/>
        </a:p>
      </dgm:t>
    </dgm:pt>
    <dgm:pt modelId="{25AD5F67-E949-4601-A6F7-9F1BD8CFA604}" type="sibTrans" cxnId="{1D806178-4869-4108-A79B-3B5C3F30F3C0}">
      <dgm:prSet/>
      <dgm:spPr/>
      <dgm:t>
        <a:bodyPr/>
        <a:lstStyle/>
        <a:p>
          <a:endParaRPr lang="de-DE"/>
        </a:p>
      </dgm:t>
    </dgm:pt>
    <dgm:pt modelId="{B84A6EF2-2211-40BE-B03D-8B4DC48F8E3B}" type="pres">
      <dgm:prSet presAssocID="{8DF11985-272D-4246-BDC3-1B9C099392C6}" presName="cycle" presStyleCnt="0">
        <dgm:presLayoutVars>
          <dgm:dir/>
          <dgm:resizeHandles val="exact"/>
        </dgm:presLayoutVars>
      </dgm:prSet>
      <dgm:spPr/>
    </dgm:pt>
    <dgm:pt modelId="{F63E9ED2-0CEB-495A-80B3-7F93D5911F25}" type="pres">
      <dgm:prSet presAssocID="{0B370DF2-5FED-45A9-9E49-D882C5D4C8BA}" presName="node" presStyleLbl="node1" presStyleIdx="0" presStyleCnt="4" custScaleX="107737" custScaleY="107737">
        <dgm:presLayoutVars>
          <dgm:bulletEnabled val="1"/>
        </dgm:presLayoutVars>
      </dgm:prSet>
      <dgm:spPr/>
    </dgm:pt>
    <dgm:pt modelId="{92540815-F907-4992-B3E6-63D18CDC726C}" type="pres">
      <dgm:prSet presAssocID="{F67B5037-537A-4884-99FD-B64438F5F7EE}" presName="sibTrans" presStyleLbl="sibTrans2D1" presStyleIdx="0" presStyleCnt="4"/>
      <dgm:spPr/>
    </dgm:pt>
    <dgm:pt modelId="{7C8F027C-2B80-450C-B545-D3C27B78B2CC}" type="pres">
      <dgm:prSet presAssocID="{F67B5037-537A-4884-99FD-B64438F5F7EE}" presName="connectorText" presStyleLbl="sibTrans2D1" presStyleIdx="0" presStyleCnt="4"/>
      <dgm:spPr/>
    </dgm:pt>
    <dgm:pt modelId="{3C356F48-C02E-437F-BDD3-4ACD4E7A4650}" type="pres">
      <dgm:prSet presAssocID="{AD09849A-A5B3-4DF0-8518-B3A86A5F3D51}" presName="node" presStyleLbl="node1" presStyleIdx="1" presStyleCnt="4" custScaleX="107737" custScaleY="107737">
        <dgm:presLayoutVars>
          <dgm:bulletEnabled val="1"/>
        </dgm:presLayoutVars>
      </dgm:prSet>
      <dgm:spPr/>
    </dgm:pt>
    <dgm:pt modelId="{A6292270-07DA-4D33-B166-373CDB65F2C1}" type="pres">
      <dgm:prSet presAssocID="{A38909BB-46E5-46AF-9F0A-E61F5EBEB84D}" presName="sibTrans" presStyleLbl="sibTrans2D1" presStyleIdx="1" presStyleCnt="4"/>
      <dgm:spPr/>
    </dgm:pt>
    <dgm:pt modelId="{61B0789B-CE33-4639-8246-C953EE16BCEE}" type="pres">
      <dgm:prSet presAssocID="{A38909BB-46E5-46AF-9F0A-E61F5EBEB84D}" presName="connectorText" presStyleLbl="sibTrans2D1" presStyleIdx="1" presStyleCnt="4"/>
      <dgm:spPr/>
    </dgm:pt>
    <dgm:pt modelId="{23CDF094-4C72-4417-9251-C8C19D1A1539}" type="pres">
      <dgm:prSet presAssocID="{0D3CC08F-08FA-4A0A-94AD-408A0CF652EC}" presName="node" presStyleLbl="node1" presStyleIdx="2" presStyleCnt="4" custScaleX="107737" custScaleY="107737" custRadScaleRad="100822" custRadScaleInc="0">
        <dgm:presLayoutVars>
          <dgm:bulletEnabled val="1"/>
        </dgm:presLayoutVars>
      </dgm:prSet>
      <dgm:spPr/>
    </dgm:pt>
    <dgm:pt modelId="{0B2A8027-1D2B-4EC7-9647-E549393D19E9}" type="pres">
      <dgm:prSet presAssocID="{B6C4AD13-4EC5-465D-855E-98B028CBC07E}" presName="sibTrans" presStyleLbl="sibTrans2D1" presStyleIdx="2" presStyleCnt="4"/>
      <dgm:spPr/>
    </dgm:pt>
    <dgm:pt modelId="{E54098EE-219F-48EF-8C86-37DDB9904E50}" type="pres">
      <dgm:prSet presAssocID="{B6C4AD13-4EC5-465D-855E-98B028CBC07E}" presName="connectorText" presStyleLbl="sibTrans2D1" presStyleIdx="2" presStyleCnt="4"/>
      <dgm:spPr/>
    </dgm:pt>
    <dgm:pt modelId="{51AF6F38-A0D3-45F7-AC32-7F4A918695B6}" type="pres">
      <dgm:prSet presAssocID="{84132C1F-1DD1-4223-B163-B02EC07F23C7}" presName="node" presStyleLbl="node1" presStyleIdx="3" presStyleCnt="4" custScaleX="107737" custScaleY="107737">
        <dgm:presLayoutVars>
          <dgm:bulletEnabled val="1"/>
        </dgm:presLayoutVars>
      </dgm:prSet>
      <dgm:spPr/>
    </dgm:pt>
    <dgm:pt modelId="{49840F3C-3E47-4807-8FD8-73307BE19AE2}" type="pres">
      <dgm:prSet presAssocID="{25AD5F67-E949-4601-A6F7-9F1BD8CFA604}" presName="sibTrans" presStyleLbl="sibTrans2D1" presStyleIdx="3" presStyleCnt="4"/>
      <dgm:spPr/>
    </dgm:pt>
    <dgm:pt modelId="{8C76B662-25DC-4BD6-941A-6C921AF040AA}" type="pres">
      <dgm:prSet presAssocID="{25AD5F67-E949-4601-A6F7-9F1BD8CFA604}" presName="connectorText" presStyleLbl="sibTrans2D1" presStyleIdx="3" presStyleCnt="4"/>
      <dgm:spPr/>
    </dgm:pt>
  </dgm:ptLst>
  <dgm:cxnLst>
    <dgm:cxn modelId="{D8E6AF35-0644-4BFE-A561-DF15759D7FA0}" type="presOf" srcId="{25AD5F67-E949-4601-A6F7-9F1BD8CFA604}" destId="{8C76B662-25DC-4BD6-941A-6C921AF040AA}" srcOrd="1" destOrd="0" presId="urn:microsoft.com/office/officeart/2005/8/layout/cycle2"/>
    <dgm:cxn modelId="{22BD3D37-A86C-41E2-B278-866D8D675CDE}" type="presOf" srcId="{25AD5F67-E949-4601-A6F7-9F1BD8CFA604}" destId="{49840F3C-3E47-4807-8FD8-73307BE19AE2}" srcOrd="0" destOrd="0" presId="urn:microsoft.com/office/officeart/2005/8/layout/cycle2"/>
    <dgm:cxn modelId="{1E18C93B-0D59-4B62-BEBC-226CA9A4909F}" type="presOf" srcId="{F67B5037-537A-4884-99FD-B64438F5F7EE}" destId="{92540815-F907-4992-B3E6-63D18CDC726C}" srcOrd="0" destOrd="0" presId="urn:microsoft.com/office/officeart/2005/8/layout/cycle2"/>
    <dgm:cxn modelId="{547E2B44-C20E-4B37-92C4-3F5C07590D3D}" type="presOf" srcId="{F67B5037-537A-4884-99FD-B64438F5F7EE}" destId="{7C8F027C-2B80-450C-B545-D3C27B78B2CC}" srcOrd="1" destOrd="0" presId="urn:microsoft.com/office/officeart/2005/8/layout/cycle2"/>
    <dgm:cxn modelId="{82EB0650-1707-4E7D-AD57-17F7EF95B7F9}" srcId="{8DF11985-272D-4246-BDC3-1B9C099392C6}" destId="{0D3CC08F-08FA-4A0A-94AD-408A0CF652EC}" srcOrd="2" destOrd="0" parTransId="{6DCDA0EE-C626-417D-9A36-BCF0C4745ECA}" sibTransId="{B6C4AD13-4EC5-465D-855E-98B028CBC07E}"/>
    <dgm:cxn modelId="{EA7E3756-837A-44B7-AF17-6FBEF1A14CDB}" type="presOf" srcId="{A38909BB-46E5-46AF-9F0A-E61F5EBEB84D}" destId="{61B0789B-CE33-4639-8246-C953EE16BCEE}" srcOrd="1" destOrd="0" presId="urn:microsoft.com/office/officeart/2005/8/layout/cycle2"/>
    <dgm:cxn modelId="{F1D7A657-25A9-410A-B581-4EC6CF3B409C}" srcId="{8DF11985-272D-4246-BDC3-1B9C099392C6}" destId="{0B370DF2-5FED-45A9-9E49-D882C5D4C8BA}" srcOrd="0" destOrd="0" parTransId="{CCB99A86-B8C2-4BDE-B813-56F5DF643F0C}" sibTransId="{F67B5037-537A-4884-99FD-B64438F5F7EE}"/>
    <dgm:cxn modelId="{0DF17D59-6C89-456D-8AAD-A3F7A0F04219}" type="presOf" srcId="{AD09849A-A5B3-4DF0-8518-B3A86A5F3D51}" destId="{3C356F48-C02E-437F-BDD3-4ACD4E7A4650}" srcOrd="0" destOrd="0" presId="urn:microsoft.com/office/officeart/2005/8/layout/cycle2"/>
    <dgm:cxn modelId="{1BEEAA65-C36C-4EE5-AF02-990A60F3004B}" srcId="{8DF11985-272D-4246-BDC3-1B9C099392C6}" destId="{AD09849A-A5B3-4DF0-8518-B3A86A5F3D51}" srcOrd="1" destOrd="0" parTransId="{6A45F4CA-4419-4715-B62E-1134101700F7}" sibTransId="{A38909BB-46E5-46AF-9F0A-E61F5EBEB84D}"/>
    <dgm:cxn modelId="{E5489167-3437-4F89-8A0D-5D428A898DA2}" type="presOf" srcId="{B6C4AD13-4EC5-465D-855E-98B028CBC07E}" destId="{0B2A8027-1D2B-4EC7-9647-E549393D19E9}" srcOrd="0" destOrd="0" presId="urn:microsoft.com/office/officeart/2005/8/layout/cycle2"/>
    <dgm:cxn modelId="{A8DFA776-0554-4F0D-BAE9-ECDA0604CE44}" type="presOf" srcId="{8DF11985-272D-4246-BDC3-1B9C099392C6}" destId="{B84A6EF2-2211-40BE-B03D-8B4DC48F8E3B}" srcOrd="0" destOrd="0" presId="urn:microsoft.com/office/officeart/2005/8/layout/cycle2"/>
    <dgm:cxn modelId="{1D806178-4869-4108-A79B-3B5C3F30F3C0}" srcId="{8DF11985-272D-4246-BDC3-1B9C099392C6}" destId="{84132C1F-1DD1-4223-B163-B02EC07F23C7}" srcOrd="3" destOrd="0" parTransId="{C98EADA9-1DEF-463A-A58E-E6F50FEBDEC1}" sibTransId="{25AD5F67-E949-4601-A6F7-9F1BD8CFA604}"/>
    <dgm:cxn modelId="{AE837587-11A0-4387-B3F0-87AC64038BB7}" type="presOf" srcId="{B6C4AD13-4EC5-465D-855E-98B028CBC07E}" destId="{E54098EE-219F-48EF-8C86-37DDB9904E50}" srcOrd="1" destOrd="0" presId="urn:microsoft.com/office/officeart/2005/8/layout/cycle2"/>
    <dgm:cxn modelId="{4A69BD93-0B18-4F78-BC4B-F77588964F48}" type="presOf" srcId="{A38909BB-46E5-46AF-9F0A-E61F5EBEB84D}" destId="{A6292270-07DA-4D33-B166-373CDB65F2C1}" srcOrd="0" destOrd="0" presId="urn:microsoft.com/office/officeart/2005/8/layout/cycle2"/>
    <dgm:cxn modelId="{A9CB4FBC-239A-4CC0-B7DD-A72397D4B88B}" type="presOf" srcId="{0B370DF2-5FED-45A9-9E49-D882C5D4C8BA}" destId="{F63E9ED2-0CEB-495A-80B3-7F93D5911F25}" srcOrd="0" destOrd="0" presId="urn:microsoft.com/office/officeart/2005/8/layout/cycle2"/>
    <dgm:cxn modelId="{794D26C4-9860-4211-A3CC-2488AC3B21E1}" type="presOf" srcId="{0D3CC08F-08FA-4A0A-94AD-408A0CF652EC}" destId="{23CDF094-4C72-4417-9251-C8C19D1A1539}" srcOrd="0" destOrd="0" presId="urn:microsoft.com/office/officeart/2005/8/layout/cycle2"/>
    <dgm:cxn modelId="{2F70D9F3-66E5-4F00-8EBE-20F5C91CE09B}" type="presOf" srcId="{84132C1F-1DD1-4223-B163-B02EC07F23C7}" destId="{51AF6F38-A0D3-45F7-AC32-7F4A918695B6}" srcOrd="0" destOrd="0" presId="urn:microsoft.com/office/officeart/2005/8/layout/cycle2"/>
    <dgm:cxn modelId="{A4F5194A-44B7-4B9D-9530-1D2B436F7226}" type="presParOf" srcId="{B84A6EF2-2211-40BE-B03D-8B4DC48F8E3B}" destId="{F63E9ED2-0CEB-495A-80B3-7F93D5911F25}" srcOrd="0" destOrd="0" presId="urn:microsoft.com/office/officeart/2005/8/layout/cycle2"/>
    <dgm:cxn modelId="{18A49A01-4180-40AC-8507-FC2A138E9519}" type="presParOf" srcId="{B84A6EF2-2211-40BE-B03D-8B4DC48F8E3B}" destId="{92540815-F907-4992-B3E6-63D18CDC726C}" srcOrd="1" destOrd="0" presId="urn:microsoft.com/office/officeart/2005/8/layout/cycle2"/>
    <dgm:cxn modelId="{7D74E27B-3DD6-4627-8976-965B2BD3F9EE}" type="presParOf" srcId="{92540815-F907-4992-B3E6-63D18CDC726C}" destId="{7C8F027C-2B80-450C-B545-D3C27B78B2CC}" srcOrd="0" destOrd="0" presId="urn:microsoft.com/office/officeart/2005/8/layout/cycle2"/>
    <dgm:cxn modelId="{8681E992-CFF4-471A-9D96-704F10C0514A}" type="presParOf" srcId="{B84A6EF2-2211-40BE-B03D-8B4DC48F8E3B}" destId="{3C356F48-C02E-437F-BDD3-4ACD4E7A4650}" srcOrd="2" destOrd="0" presId="urn:microsoft.com/office/officeart/2005/8/layout/cycle2"/>
    <dgm:cxn modelId="{8596FCFA-471A-42DB-A22B-84A9CABC6CED}" type="presParOf" srcId="{B84A6EF2-2211-40BE-B03D-8B4DC48F8E3B}" destId="{A6292270-07DA-4D33-B166-373CDB65F2C1}" srcOrd="3" destOrd="0" presId="urn:microsoft.com/office/officeart/2005/8/layout/cycle2"/>
    <dgm:cxn modelId="{117595D3-233F-4581-A718-51B0DAD821CE}" type="presParOf" srcId="{A6292270-07DA-4D33-B166-373CDB65F2C1}" destId="{61B0789B-CE33-4639-8246-C953EE16BCEE}" srcOrd="0" destOrd="0" presId="urn:microsoft.com/office/officeart/2005/8/layout/cycle2"/>
    <dgm:cxn modelId="{6A795CC3-4FC8-403F-B88C-9EDE91FCCF8C}" type="presParOf" srcId="{B84A6EF2-2211-40BE-B03D-8B4DC48F8E3B}" destId="{23CDF094-4C72-4417-9251-C8C19D1A1539}" srcOrd="4" destOrd="0" presId="urn:microsoft.com/office/officeart/2005/8/layout/cycle2"/>
    <dgm:cxn modelId="{B2EC4ACA-BECC-4F99-BD67-6666C773D936}" type="presParOf" srcId="{B84A6EF2-2211-40BE-B03D-8B4DC48F8E3B}" destId="{0B2A8027-1D2B-4EC7-9647-E549393D19E9}" srcOrd="5" destOrd="0" presId="urn:microsoft.com/office/officeart/2005/8/layout/cycle2"/>
    <dgm:cxn modelId="{62F6894D-8BF4-4792-B346-9D6A27209C97}" type="presParOf" srcId="{0B2A8027-1D2B-4EC7-9647-E549393D19E9}" destId="{E54098EE-219F-48EF-8C86-37DDB9904E50}" srcOrd="0" destOrd="0" presId="urn:microsoft.com/office/officeart/2005/8/layout/cycle2"/>
    <dgm:cxn modelId="{7ED54731-3756-41D1-B751-4BD36010CE81}" type="presParOf" srcId="{B84A6EF2-2211-40BE-B03D-8B4DC48F8E3B}" destId="{51AF6F38-A0D3-45F7-AC32-7F4A918695B6}" srcOrd="6" destOrd="0" presId="urn:microsoft.com/office/officeart/2005/8/layout/cycle2"/>
    <dgm:cxn modelId="{04415A6B-3C07-4FC0-BF89-567376674A3E}" type="presParOf" srcId="{B84A6EF2-2211-40BE-B03D-8B4DC48F8E3B}" destId="{49840F3C-3E47-4807-8FD8-73307BE19AE2}" srcOrd="7" destOrd="0" presId="urn:microsoft.com/office/officeart/2005/8/layout/cycle2"/>
    <dgm:cxn modelId="{BE70D0A7-EB1E-485C-8FB0-AF3A3DCB330B}" type="presParOf" srcId="{49840F3C-3E47-4807-8FD8-73307BE19AE2}" destId="{8C76B662-25DC-4BD6-941A-6C921AF040AA}"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3E9ED2-0CEB-495A-80B3-7F93D5911F25}">
      <dsp:nvSpPr>
        <dsp:cNvPr id="0" name=""/>
        <dsp:cNvSpPr/>
      </dsp:nvSpPr>
      <dsp:spPr>
        <a:xfrm>
          <a:off x="4105795" y="-80764"/>
          <a:ext cx="2304008" cy="230400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de-DE" sz="2000" b="1" kern="1200" dirty="0"/>
            <a:t>Kohärenzsinn (SOC)</a:t>
          </a:r>
        </a:p>
      </dsp:txBody>
      <dsp:txXfrm>
        <a:off x="4443209" y="256650"/>
        <a:ext cx="1629180" cy="1629180"/>
      </dsp:txXfrm>
    </dsp:sp>
    <dsp:sp modelId="{92540815-F907-4992-B3E6-63D18CDC726C}">
      <dsp:nvSpPr>
        <dsp:cNvPr id="0" name=""/>
        <dsp:cNvSpPr/>
      </dsp:nvSpPr>
      <dsp:spPr>
        <a:xfrm rot="2700000">
          <a:off x="6142932" y="1835319"/>
          <a:ext cx="479656" cy="7217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6164005" y="1928796"/>
        <a:ext cx="335759" cy="433056"/>
      </dsp:txXfrm>
    </dsp:sp>
    <dsp:sp modelId="{3C356F48-C02E-437F-BDD3-4ACD4E7A4650}">
      <dsp:nvSpPr>
        <dsp:cNvPr id="0" name=""/>
        <dsp:cNvSpPr/>
      </dsp:nvSpPr>
      <dsp:spPr>
        <a:xfrm>
          <a:off x="6374915" y="2188354"/>
          <a:ext cx="2304008" cy="230400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de-DE" sz="2000" b="0" kern="1200" dirty="0"/>
            <a:t>Einschätzung von Anforderungen und Belastungen</a:t>
          </a:r>
        </a:p>
      </dsp:txBody>
      <dsp:txXfrm>
        <a:off x="6712329" y="2525768"/>
        <a:ext cx="1629180" cy="1629180"/>
      </dsp:txXfrm>
    </dsp:sp>
    <dsp:sp modelId="{A6292270-07DA-4D33-B166-373CDB65F2C1}">
      <dsp:nvSpPr>
        <dsp:cNvPr id="0" name=""/>
        <dsp:cNvSpPr/>
      </dsp:nvSpPr>
      <dsp:spPr>
        <a:xfrm rot="8100000">
          <a:off x="6162130" y="4104439"/>
          <a:ext cx="479656" cy="7217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rot="10800000">
        <a:off x="6284954" y="4197916"/>
        <a:ext cx="335759" cy="433056"/>
      </dsp:txXfrm>
    </dsp:sp>
    <dsp:sp modelId="{23CDF094-4C72-4417-9251-C8C19D1A1539}">
      <dsp:nvSpPr>
        <dsp:cNvPr id="0" name=""/>
        <dsp:cNvSpPr/>
      </dsp:nvSpPr>
      <dsp:spPr>
        <a:xfrm>
          <a:off x="4105795" y="4457474"/>
          <a:ext cx="2304008" cy="230400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de-DE" sz="2000" b="1" kern="1200" dirty="0"/>
            <a:t>Spannungs-zustand</a:t>
          </a:r>
        </a:p>
      </dsp:txBody>
      <dsp:txXfrm>
        <a:off x="4443209" y="4794888"/>
        <a:ext cx="1629180" cy="1629180"/>
      </dsp:txXfrm>
    </dsp:sp>
    <dsp:sp modelId="{0B2A8027-1D2B-4EC7-9647-E549393D19E9}">
      <dsp:nvSpPr>
        <dsp:cNvPr id="0" name=""/>
        <dsp:cNvSpPr/>
      </dsp:nvSpPr>
      <dsp:spPr>
        <a:xfrm rot="13500000">
          <a:off x="3893011" y="4123637"/>
          <a:ext cx="479656" cy="7217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rot="10800000">
        <a:off x="4015835" y="4318864"/>
        <a:ext cx="335759" cy="433056"/>
      </dsp:txXfrm>
    </dsp:sp>
    <dsp:sp modelId="{51AF6F38-A0D3-45F7-AC32-7F4A918695B6}">
      <dsp:nvSpPr>
        <dsp:cNvPr id="0" name=""/>
        <dsp:cNvSpPr/>
      </dsp:nvSpPr>
      <dsp:spPr>
        <a:xfrm>
          <a:off x="1836676" y="2188354"/>
          <a:ext cx="2304008" cy="230400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de-DE" sz="2000" b="0" kern="1200" dirty="0"/>
            <a:t>Einschätzung von Bewältigungs-möglichkeiten</a:t>
          </a:r>
        </a:p>
      </dsp:txBody>
      <dsp:txXfrm>
        <a:off x="2174090" y="2525768"/>
        <a:ext cx="1629180" cy="1629180"/>
      </dsp:txXfrm>
    </dsp:sp>
    <dsp:sp modelId="{49840F3C-3E47-4807-8FD8-73307BE19AE2}">
      <dsp:nvSpPr>
        <dsp:cNvPr id="0" name=""/>
        <dsp:cNvSpPr/>
      </dsp:nvSpPr>
      <dsp:spPr>
        <a:xfrm rot="18900000">
          <a:off x="3873812" y="1854518"/>
          <a:ext cx="479656" cy="7217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de-DE" sz="3100" kern="1200"/>
        </a:p>
      </dsp:txBody>
      <dsp:txXfrm>
        <a:off x="3894885" y="2049745"/>
        <a:ext cx="335759" cy="433056"/>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792A6C37-76B4-4071-AB87-30B0E36E1A5A}" type="datetimeFigureOut">
              <a:rPr lang="de-DE" smtClean="0"/>
              <a:t>17.09.25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2805231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792A6C37-76B4-4071-AB87-30B0E36E1A5A}" type="datetimeFigureOut">
              <a:rPr lang="de-DE" smtClean="0"/>
              <a:t>17.09.25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1657862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p>
            <a:fld id="{792A6C37-76B4-4071-AB87-30B0E36E1A5A}" type="datetimeFigureOut">
              <a:rPr lang="de-DE" smtClean="0"/>
              <a:t>17.09.25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1760522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792A6C37-76B4-4071-AB87-30B0E36E1A5A}" type="datetimeFigureOut">
              <a:rPr lang="de-DE" smtClean="0"/>
              <a:t>17.09.25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123484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792A6C37-76B4-4071-AB87-30B0E36E1A5A}" type="datetimeFigureOut">
              <a:rPr lang="de-DE" smtClean="0"/>
              <a:t>17.09.25</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1246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792A6C37-76B4-4071-AB87-30B0E36E1A5A}" type="datetimeFigureOut">
              <a:rPr lang="de-DE" smtClean="0"/>
              <a:t>17.09.25</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2079223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792A6C37-76B4-4071-AB87-30B0E36E1A5A}" type="datetimeFigureOut">
              <a:rPr lang="de-DE" smtClean="0"/>
              <a:t>17.09.25</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3741291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792A6C37-76B4-4071-AB87-30B0E36E1A5A}" type="datetimeFigureOut">
              <a:rPr lang="de-DE" smtClean="0"/>
              <a:t>17.09.25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2089779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792A6C37-76B4-4071-AB87-30B0E36E1A5A}" type="datetimeFigureOut">
              <a:rPr lang="de-DE" smtClean="0"/>
              <a:t>17.09.25</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3872831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792A6C37-76B4-4071-AB87-30B0E36E1A5A}" type="datetimeFigureOut">
              <a:rPr lang="de-DE" smtClean="0"/>
              <a:t>17.09.25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2747682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792A6C37-76B4-4071-AB87-30B0E36E1A5A}" type="datetimeFigureOut">
              <a:rPr lang="de-DE" smtClean="0"/>
              <a:t>17.09.25</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92B649E-793C-4E17-B8C2-7F73B0AFD0C8}" type="slidenum">
              <a:rPr lang="de-DE" smtClean="0"/>
              <a:t>‹Nr.›</a:t>
            </a:fld>
            <a:endParaRPr lang="de-DE"/>
          </a:p>
        </p:txBody>
      </p:sp>
    </p:spTree>
    <p:extLst>
      <p:ext uri="{BB962C8B-B14F-4D97-AF65-F5344CB8AC3E}">
        <p14:creationId xmlns:p14="http://schemas.microsoft.com/office/powerpoint/2010/main" val="2504714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2A6C37-76B4-4071-AB87-30B0E36E1A5A}" type="datetimeFigureOut">
              <a:rPr lang="de-DE" smtClean="0"/>
              <a:t>17.09.25</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2B649E-793C-4E17-B8C2-7F73B0AFD0C8}" type="slidenum">
              <a:rPr lang="de-DE" smtClean="0"/>
              <a:t>‹Nr.›</a:t>
            </a:fld>
            <a:endParaRPr lang="de-DE"/>
          </a:p>
        </p:txBody>
      </p:sp>
    </p:spTree>
    <p:extLst>
      <p:ext uri="{BB962C8B-B14F-4D97-AF65-F5344CB8AC3E}">
        <p14:creationId xmlns:p14="http://schemas.microsoft.com/office/powerpoint/2010/main" val="3427176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11.png"/><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4.png"/><Relationship Id="rId5" Type="http://schemas.microsoft.com/office/2007/relationships/hdphoto" Target="../media/hdphoto7.wdp"/><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dirty="0"/>
              <a:t>Salutogenese</a:t>
            </a:r>
          </a:p>
        </p:txBody>
      </p:sp>
      <p:sp>
        <p:nvSpPr>
          <p:cNvPr id="3" name="Untertitel 2"/>
          <p:cNvSpPr>
            <a:spLocks noGrp="1"/>
          </p:cNvSpPr>
          <p:nvPr>
            <p:ph type="subTitle" idx="1"/>
          </p:nvPr>
        </p:nvSpPr>
        <p:spPr/>
        <p:txBody>
          <a:bodyPr/>
          <a:lstStyle/>
          <a:p>
            <a:r>
              <a:rPr lang="de-DE" dirty="0"/>
              <a:t> Gesundheit</a:t>
            </a:r>
          </a:p>
        </p:txBody>
      </p:sp>
      <p:pic>
        <p:nvPicPr>
          <p:cNvPr id="4" name="Grafik 3" descr="Herz Kurve &lt;strong&gt;Gesundheit&lt;/strong&gt; - Kostenloses Bild auf Pixabay"/>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92000" y="0"/>
            <a:ext cx="3600000" cy="2160000"/>
          </a:xfrm>
          <a:prstGeom prst="rect">
            <a:avLst/>
          </a:prstGeom>
        </p:spPr>
      </p:pic>
      <p:pic>
        <p:nvPicPr>
          <p:cNvPr id="5" name="Grafik 4" descr="&lt;strong&gt;Gesundheit&lt;/strong&gt; Krankheit Ende · Kostenloses Bild auf Pixaba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6000" y="4179875"/>
            <a:ext cx="3600000" cy="2340000"/>
          </a:xfrm>
          <a:prstGeom prst="rect">
            <a:avLst/>
          </a:prstGeom>
        </p:spPr>
      </p:pic>
    </p:spTree>
    <p:extLst>
      <p:ext uri="{BB962C8B-B14F-4D97-AF65-F5344CB8AC3E}">
        <p14:creationId xmlns:p14="http://schemas.microsoft.com/office/powerpoint/2010/main" val="4135478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de-DE"/>
          </a:p>
        </p:txBody>
      </p:sp>
      <p:sp>
        <p:nvSpPr>
          <p:cNvPr id="3" name="Inhaltsplatzhalter 2"/>
          <p:cNvSpPr>
            <a:spLocks noGrp="1"/>
          </p:cNvSpPr>
          <p:nvPr>
            <p:ph idx="1"/>
          </p:nvPr>
        </p:nvSpPr>
        <p:spPr/>
        <p:txBody>
          <a:bodyPr/>
          <a:lstStyle/>
          <a:p>
            <a:endParaRPr lang="de-DE"/>
          </a:p>
        </p:txBody>
      </p:sp>
      <p:pic>
        <p:nvPicPr>
          <p:cNvPr id="4" name="Grafik 3"/>
          <p:cNvPicPr>
            <a:picLocks noChangeAspect="1"/>
          </p:cNvPicPr>
          <p:nvPr/>
        </p:nvPicPr>
        <p:blipFill rotWithShape="1">
          <a:blip r:embed="rId2"/>
          <a:srcRect l="15083" t="12222" r="15250" b="5852"/>
          <a:stretch/>
        </p:blipFill>
        <p:spPr>
          <a:xfrm>
            <a:off x="1288332" y="93646"/>
            <a:ext cx="10226040" cy="6764354"/>
          </a:xfrm>
          <a:prstGeom prst="rect">
            <a:avLst/>
          </a:prstGeom>
        </p:spPr>
      </p:pic>
      <p:sp>
        <p:nvSpPr>
          <p:cNvPr id="5" name="Rechteck 4"/>
          <p:cNvSpPr/>
          <p:nvPr/>
        </p:nvSpPr>
        <p:spPr>
          <a:xfrm>
            <a:off x="1539240" y="3475823"/>
            <a:ext cx="1874520" cy="5475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4983480" y="3507907"/>
            <a:ext cx="2209800" cy="5475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9335703" y="981769"/>
            <a:ext cx="1950720" cy="37545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8443762" y="2556587"/>
            <a:ext cx="2438400" cy="7013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Rechteck 9"/>
          <p:cNvSpPr/>
          <p:nvPr/>
        </p:nvSpPr>
        <p:spPr>
          <a:xfrm>
            <a:off x="8427720" y="4023359"/>
            <a:ext cx="2438400" cy="7034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9076623" y="6064898"/>
            <a:ext cx="2209800" cy="5804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feld 11">
            <a:extLst>
              <a:ext uri="{FF2B5EF4-FFF2-40B4-BE49-F238E27FC236}">
                <a16:creationId xmlns:a16="http://schemas.microsoft.com/office/drawing/2014/main" id="{E7381BC7-9594-4A4A-B23C-E38B64ECDB73}"/>
              </a:ext>
            </a:extLst>
          </p:cNvPr>
          <p:cNvSpPr txBox="1"/>
          <p:nvPr/>
        </p:nvSpPr>
        <p:spPr>
          <a:xfrm>
            <a:off x="2098815" y="5458270"/>
            <a:ext cx="5622758" cy="923330"/>
          </a:xfrm>
          <a:prstGeom prst="rect">
            <a:avLst/>
          </a:prstGeom>
          <a:noFill/>
        </p:spPr>
        <p:txBody>
          <a:bodyPr wrap="square" rtlCol="0">
            <a:spAutoFit/>
          </a:bodyPr>
          <a:lstStyle/>
          <a:p>
            <a:r>
              <a:rPr lang="de-DE" dirty="0">
                <a:sym typeface="Wingdings" panose="05000000000000000000" pitchFamily="2" charset="2"/>
              </a:rPr>
              <a:t> </a:t>
            </a:r>
            <a:r>
              <a:rPr lang="de-DE" dirty="0"/>
              <a:t>Die generalisierten Widerstandsressourcen haben Einfluss auf die Bewältigung der Situation als auch das Kohärenzgefühl, welche u.a. durch Erfahrung geprägt sind.</a:t>
            </a:r>
          </a:p>
        </p:txBody>
      </p:sp>
      <p:sp>
        <p:nvSpPr>
          <p:cNvPr id="13" name="Textfeld 12"/>
          <p:cNvSpPr txBox="1"/>
          <p:nvPr/>
        </p:nvSpPr>
        <p:spPr>
          <a:xfrm>
            <a:off x="5865029" y="1894551"/>
            <a:ext cx="2264818" cy="338554"/>
          </a:xfrm>
          <a:prstGeom prst="rect">
            <a:avLst/>
          </a:prstGeom>
          <a:solidFill>
            <a:schemeClr val="bg1"/>
          </a:solidFill>
        </p:spPr>
        <p:txBody>
          <a:bodyPr wrap="square" rtlCol="0">
            <a:spAutoFit/>
          </a:bodyPr>
          <a:lstStyle/>
          <a:p>
            <a:r>
              <a:rPr lang="de-DE" sz="1600" dirty="0"/>
              <a:t>-Selma als Unterstützung</a:t>
            </a:r>
          </a:p>
        </p:txBody>
      </p:sp>
      <p:sp>
        <p:nvSpPr>
          <p:cNvPr id="14" name="Rechteck 13"/>
          <p:cNvSpPr/>
          <p:nvPr/>
        </p:nvSpPr>
        <p:spPr>
          <a:xfrm>
            <a:off x="5836920" y="1418423"/>
            <a:ext cx="2286000" cy="8146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64FCF09B-969A-4503-90D0-252F03C0B72C}"/>
              </a:ext>
            </a:extLst>
          </p:cNvPr>
          <p:cNvSpPr txBox="1"/>
          <p:nvPr/>
        </p:nvSpPr>
        <p:spPr>
          <a:xfrm>
            <a:off x="50179" y="8021"/>
            <a:ext cx="5814850" cy="369332"/>
          </a:xfrm>
          <a:prstGeom prst="rect">
            <a:avLst/>
          </a:prstGeom>
          <a:noFill/>
        </p:spPr>
        <p:txBody>
          <a:bodyPr wrap="square" rtlCol="0">
            <a:spAutoFit/>
          </a:bodyPr>
          <a:lstStyle/>
          <a:p>
            <a:r>
              <a:rPr lang="de-DE" dirty="0"/>
              <a:t>GRR= </a:t>
            </a:r>
            <a:r>
              <a:rPr lang="de-DE" dirty="0" err="1"/>
              <a:t>Generalized</a:t>
            </a:r>
            <a:r>
              <a:rPr lang="de-DE" dirty="0"/>
              <a:t> Resistance Resources</a:t>
            </a:r>
          </a:p>
        </p:txBody>
      </p:sp>
    </p:spTree>
    <p:extLst>
      <p:ext uri="{BB962C8B-B14F-4D97-AF65-F5344CB8AC3E}">
        <p14:creationId xmlns:p14="http://schemas.microsoft.com/office/powerpoint/2010/main" val="3735168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9"/>
                                        </p:tgtEl>
                                        <p:attrNameLst>
                                          <p:attrName>ppt_x</p:attrName>
                                        </p:attrNameLst>
                                      </p:cBhvr>
                                      <p:tavLst>
                                        <p:tav tm="0">
                                          <p:val>
                                            <p:strVal val="ppt_x"/>
                                          </p:val>
                                        </p:tav>
                                        <p:tav tm="100000">
                                          <p:val>
                                            <p:strVal val="ppt_x"/>
                                          </p:val>
                                        </p:tav>
                                      </p:tavLst>
                                    </p:anim>
                                    <p:anim calcmode="lin" valueType="num">
                                      <p:cBhvr additive="base">
                                        <p:cTn id="19" dur="500"/>
                                        <p:tgtEl>
                                          <p:spTgt spid="9"/>
                                        </p:tgtEl>
                                        <p:attrNameLst>
                                          <p:attrName>ppt_y</p:attrName>
                                        </p:attrNameLst>
                                      </p:cBhvr>
                                      <p:tavLst>
                                        <p:tav tm="0">
                                          <p:val>
                                            <p:strVal val="ppt_y"/>
                                          </p:val>
                                        </p:tav>
                                        <p:tav tm="100000">
                                          <p:val>
                                            <p:strVal val="1+ppt_h/2"/>
                                          </p:val>
                                        </p:tav>
                                      </p:tavLst>
                                    </p:anim>
                                    <p:set>
                                      <p:cBhvr>
                                        <p:cTn id="20" dur="1" fill="hold">
                                          <p:stCondLst>
                                            <p:cond delay="499"/>
                                          </p:stCondLst>
                                        </p:cTn>
                                        <p:tgtEl>
                                          <p:spTgt spid="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8"/>
                                        </p:tgtEl>
                                        <p:attrNameLst>
                                          <p:attrName>ppt_x</p:attrName>
                                        </p:attrNameLst>
                                      </p:cBhvr>
                                      <p:tavLst>
                                        <p:tav tm="0">
                                          <p:val>
                                            <p:strVal val="ppt_x"/>
                                          </p:val>
                                        </p:tav>
                                        <p:tav tm="100000">
                                          <p:val>
                                            <p:strVal val="ppt_x"/>
                                          </p:val>
                                        </p:tav>
                                      </p:tavLst>
                                    </p:anim>
                                    <p:anim calcmode="lin" valueType="num">
                                      <p:cBhvr additive="base">
                                        <p:cTn id="25" dur="500"/>
                                        <p:tgtEl>
                                          <p:spTgt spid="8"/>
                                        </p:tgtEl>
                                        <p:attrNameLst>
                                          <p:attrName>ppt_y</p:attrName>
                                        </p:attrNameLst>
                                      </p:cBhvr>
                                      <p:tavLst>
                                        <p:tav tm="0">
                                          <p:val>
                                            <p:strVal val="ppt_y"/>
                                          </p:val>
                                        </p:tav>
                                        <p:tav tm="100000">
                                          <p:val>
                                            <p:strVal val="1+ppt_h/2"/>
                                          </p:val>
                                        </p:tav>
                                      </p:tavLst>
                                    </p:anim>
                                    <p:set>
                                      <p:cBhvr>
                                        <p:cTn id="26" dur="1" fill="hold">
                                          <p:stCondLst>
                                            <p:cond delay="499"/>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10"/>
                                        </p:tgtEl>
                                        <p:attrNameLst>
                                          <p:attrName>ppt_x</p:attrName>
                                        </p:attrNameLst>
                                      </p:cBhvr>
                                      <p:tavLst>
                                        <p:tav tm="0">
                                          <p:val>
                                            <p:strVal val="ppt_x"/>
                                          </p:val>
                                        </p:tav>
                                        <p:tav tm="100000">
                                          <p:val>
                                            <p:strVal val="ppt_x"/>
                                          </p:val>
                                        </p:tav>
                                      </p:tavLst>
                                    </p:anim>
                                    <p:anim calcmode="lin" valueType="num">
                                      <p:cBhvr additive="base">
                                        <p:cTn id="31" dur="500"/>
                                        <p:tgtEl>
                                          <p:spTgt spid="10"/>
                                        </p:tgtEl>
                                        <p:attrNameLst>
                                          <p:attrName>ppt_y</p:attrName>
                                        </p:attrNameLst>
                                      </p:cBhvr>
                                      <p:tavLst>
                                        <p:tav tm="0">
                                          <p:val>
                                            <p:strVal val="ppt_y"/>
                                          </p:val>
                                        </p:tav>
                                        <p:tav tm="100000">
                                          <p:val>
                                            <p:strVal val="1+ppt_h/2"/>
                                          </p:val>
                                        </p:tav>
                                      </p:tavLst>
                                    </p:anim>
                                    <p:set>
                                      <p:cBhvr>
                                        <p:cTn id="32" dur="1" fill="hold">
                                          <p:stCondLst>
                                            <p:cond delay="499"/>
                                          </p:stCondLst>
                                        </p:cTn>
                                        <p:tgtEl>
                                          <p:spTgt spid="1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additive="base">
                                        <p:cTn id="36" dur="500"/>
                                        <p:tgtEl>
                                          <p:spTgt spid="11"/>
                                        </p:tgtEl>
                                        <p:attrNameLst>
                                          <p:attrName>ppt_x</p:attrName>
                                        </p:attrNameLst>
                                      </p:cBhvr>
                                      <p:tavLst>
                                        <p:tav tm="0">
                                          <p:val>
                                            <p:strVal val="ppt_x"/>
                                          </p:val>
                                        </p:tav>
                                        <p:tav tm="100000">
                                          <p:val>
                                            <p:strVal val="ppt_x"/>
                                          </p:val>
                                        </p:tav>
                                      </p:tavLst>
                                    </p:anim>
                                    <p:anim calcmode="lin" valueType="num">
                                      <p:cBhvr additive="base">
                                        <p:cTn id="37" dur="500"/>
                                        <p:tgtEl>
                                          <p:spTgt spid="11"/>
                                        </p:tgtEl>
                                        <p:attrNameLst>
                                          <p:attrName>ppt_y</p:attrName>
                                        </p:attrNameLst>
                                      </p:cBhvr>
                                      <p:tavLst>
                                        <p:tav tm="0">
                                          <p:val>
                                            <p:strVal val="ppt_y"/>
                                          </p:val>
                                        </p:tav>
                                        <p:tav tm="100000">
                                          <p:val>
                                            <p:strVal val="1+ppt_h/2"/>
                                          </p:val>
                                        </p:tav>
                                      </p:tavLst>
                                    </p:anim>
                                    <p:set>
                                      <p:cBhvr>
                                        <p:cTn id="38" dur="1" fill="hold">
                                          <p:stCondLst>
                                            <p:cond delay="499"/>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xit" presetSubtype="4" fill="hold" grpId="0" nodeType="clickEffect">
                                  <p:stCondLst>
                                    <p:cond delay="0"/>
                                  </p:stCondLst>
                                  <p:childTnLst>
                                    <p:anim calcmode="lin" valueType="num">
                                      <p:cBhvr additive="base">
                                        <p:cTn id="46" dur="500"/>
                                        <p:tgtEl>
                                          <p:spTgt spid="14"/>
                                        </p:tgtEl>
                                        <p:attrNameLst>
                                          <p:attrName>ppt_x</p:attrName>
                                        </p:attrNameLst>
                                      </p:cBhvr>
                                      <p:tavLst>
                                        <p:tav tm="0">
                                          <p:val>
                                            <p:strVal val="ppt_x"/>
                                          </p:val>
                                        </p:tav>
                                        <p:tav tm="100000">
                                          <p:val>
                                            <p:strVal val="ppt_x"/>
                                          </p:val>
                                        </p:tav>
                                      </p:tavLst>
                                    </p:anim>
                                    <p:anim calcmode="lin" valueType="num">
                                      <p:cBhvr additive="base">
                                        <p:cTn id="47" dur="500"/>
                                        <p:tgtEl>
                                          <p:spTgt spid="14"/>
                                        </p:tgtEl>
                                        <p:attrNameLst>
                                          <p:attrName>ppt_y</p:attrName>
                                        </p:attrNameLst>
                                      </p:cBhvr>
                                      <p:tavLst>
                                        <p:tav tm="0">
                                          <p:val>
                                            <p:strVal val="ppt_y"/>
                                          </p:val>
                                        </p:tav>
                                        <p:tav tm="100000">
                                          <p:val>
                                            <p:strVal val="1+ppt_h/2"/>
                                          </p:val>
                                        </p:tav>
                                      </p:tavLst>
                                    </p:anim>
                                    <p:set>
                                      <p:cBhvr>
                                        <p:cTn id="48"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de-DE"/>
          </a:p>
        </p:txBody>
      </p:sp>
      <p:sp>
        <p:nvSpPr>
          <p:cNvPr id="3" name="Inhaltsplatzhalter 2"/>
          <p:cNvSpPr>
            <a:spLocks noGrp="1"/>
          </p:cNvSpPr>
          <p:nvPr>
            <p:ph idx="1"/>
          </p:nvPr>
        </p:nvSpPr>
        <p:spPr/>
        <p:txBody>
          <a:bodyPr/>
          <a:lstStyle/>
          <a:p>
            <a:endParaRPr lang="de-DE"/>
          </a:p>
        </p:txBody>
      </p:sp>
      <p:pic>
        <p:nvPicPr>
          <p:cNvPr id="5" name="Grafik 4"/>
          <p:cNvPicPr>
            <a:picLocks noChangeAspect="1"/>
          </p:cNvPicPr>
          <p:nvPr/>
        </p:nvPicPr>
        <p:blipFill rotWithShape="1">
          <a:blip r:embed="rId2"/>
          <a:srcRect l="2916" t="12074" r="12416" b="28223"/>
          <a:stretch/>
        </p:blipFill>
        <p:spPr>
          <a:xfrm>
            <a:off x="-1" y="853440"/>
            <a:ext cx="12218017" cy="4846320"/>
          </a:xfrm>
          <a:prstGeom prst="rect">
            <a:avLst/>
          </a:prstGeom>
        </p:spPr>
      </p:pic>
      <p:sp>
        <p:nvSpPr>
          <p:cNvPr id="6" name="Rechteck 5"/>
          <p:cNvSpPr/>
          <p:nvPr/>
        </p:nvSpPr>
        <p:spPr>
          <a:xfrm>
            <a:off x="274320" y="4328160"/>
            <a:ext cx="3276600" cy="1021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4330854" y="4001294"/>
            <a:ext cx="3477414" cy="15613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8509308" y="3880962"/>
            <a:ext cx="3545532" cy="16816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82733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6"/>
                                        </p:tgtEl>
                                      </p:cBhvr>
                                    </p:animEffect>
                                    <p:anim calcmode="lin" valueType="num">
                                      <p:cBhvr>
                                        <p:cTn id="7" dur="1000"/>
                                        <p:tgtEl>
                                          <p:spTgt spid="6"/>
                                        </p:tgtEl>
                                        <p:attrNameLst>
                                          <p:attrName>ppt_x</p:attrName>
                                        </p:attrNameLst>
                                      </p:cBhvr>
                                      <p:tavLst>
                                        <p:tav tm="0">
                                          <p:val>
                                            <p:strVal val="ppt_x"/>
                                          </p:val>
                                        </p:tav>
                                        <p:tav tm="100000">
                                          <p:val>
                                            <p:strVal val="ppt_x"/>
                                          </p:val>
                                        </p:tav>
                                      </p:tavLst>
                                    </p:anim>
                                    <p:anim calcmode="lin" valueType="num">
                                      <p:cBhvr>
                                        <p:cTn id="8" dur="1000"/>
                                        <p:tgtEl>
                                          <p:spTgt spid="6"/>
                                        </p:tgtEl>
                                        <p:attrNameLst>
                                          <p:attrName>ppt_y</p:attrName>
                                        </p:attrNameLst>
                                      </p:cBhvr>
                                      <p:tavLst>
                                        <p:tav tm="0">
                                          <p:val>
                                            <p:strVal val="ppt_y"/>
                                          </p:val>
                                        </p:tav>
                                        <p:tav tm="100000">
                                          <p:val>
                                            <p:strVal val="ppt_y+.1"/>
                                          </p:val>
                                        </p:tav>
                                      </p:tavLst>
                                    </p:anim>
                                    <p:set>
                                      <p:cBhvr>
                                        <p:cTn id="9" dur="1" fill="hold">
                                          <p:stCondLst>
                                            <p:cond delay="999"/>
                                          </p:stCondLst>
                                        </p:cTn>
                                        <p:tgtEl>
                                          <p:spTgt spid="6"/>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2" presetClass="exit" presetSubtype="4" fill="hold" grpId="0" nodeType="clickEffect">
                                  <p:stCondLst>
                                    <p:cond delay="0"/>
                                  </p:stCondLst>
                                  <p:childTnLst>
                                    <p:anim calcmode="lin" valueType="num">
                                      <p:cBhvr additive="base">
                                        <p:cTn id="13" dur="500"/>
                                        <p:tgtEl>
                                          <p:spTgt spid="7"/>
                                        </p:tgtEl>
                                        <p:attrNameLst>
                                          <p:attrName>ppt_x</p:attrName>
                                        </p:attrNameLst>
                                      </p:cBhvr>
                                      <p:tavLst>
                                        <p:tav tm="0">
                                          <p:val>
                                            <p:strVal val="ppt_x"/>
                                          </p:val>
                                        </p:tav>
                                        <p:tav tm="100000">
                                          <p:val>
                                            <p:strVal val="ppt_x"/>
                                          </p:val>
                                        </p:tav>
                                      </p:tavLst>
                                    </p:anim>
                                    <p:anim calcmode="lin" valueType="num">
                                      <p:cBhvr additive="base">
                                        <p:cTn id="14" dur="500"/>
                                        <p:tgtEl>
                                          <p:spTgt spid="7"/>
                                        </p:tgtEl>
                                        <p:attrNameLst>
                                          <p:attrName>ppt_y</p:attrName>
                                        </p:attrNameLst>
                                      </p:cBhvr>
                                      <p:tavLst>
                                        <p:tav tm="0">
                                          <p:val>
                                            <p:strVal val="ppt_y"/>
                                          </p:val>
                                        </p:tav>
                                        <p:tav tm="100000">
                                          <p:val>
                                            <p:strVal val="1+ppt_h/2"/>
                                          </p:val>
                                        </p:tav>
                                      </p:tavLst>
                                    </p:anim>
                                    <p:set>
                                      <p:cBhvr>
                                        <p:cTn id="15" dur="1" fill="hold">
                                          <p:stCondLst>
                                            <p:cond delay="499"/>
                                          </p:stCondLst>
                                        </p:cTn>
                                        <p:tgtEl>
                                          <p:spTgt spid="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 presetClass="exit" presetSubtype="4" fill="hold" grpId="0" nodeType="clickEffect">
                                  <p:stCondLst>
                                    <p:cond delay="0"/>
                                  </p:stCondLst>
                                  <p:childTnLst>
                                    <p:anim calcmode="lin" valueType="num">
                                      <p:cBhvr additive="base">
                                        <p:cTn id="19" dur="500"/>
                                        <p:tgtEl>
                                          <p:spTgt spid="8"/>
                                        </p:tgtEl>
                                        <p:attrNameLst>
                                          <p:attrName>ppt_x</p:attrName>
                                        </p:attrNameLst>
                                      </p:cBhvr>
                                      <p:tavLst>
                                        <p:tav tm="0">
                                          <p:val>
                                            <p:strVal val="ppt_x"/>
                                          </p:val>
                                        </p:tav>
                                        <p:tav tm="100000">
                                          <p:val>
                                            <p:strVal val="ppt_x"/>
                                          </p:val>
                                        </p:tav>
                                      </p:tavLst>
                                    </p:anim>
                                    <p:anim calcmode="lin" valueType="num">
                                      <p:cBhvr additive="base">
                                        <p:cTn id="20" dur="500"/>
                                        <p:tgtEl>
                                          <p:spTgt spid="8"/>
                                        </p:tgtEl>
                                        <p:attrNameLst>
                                          <p:attrName>ppt_y</p:attrName>
                                        </p:attrNameLst>
                                      </p:cBhvr>
                                      <p:tavLst>
                                        <p:tav tm="0">
                                          <p:val>
                                            <p:strVal val="ppt_y"/>
                                          </p:val>
                                        </p:tav>
                                        <p:tav tm="100000">
                                          <p:val>
                                            <p:strVal val="1+ppt_h/2"/>
                                          </p:val>
                                        </p:tav>
                                      </p:tavLst>
                                    </p:anim>
                                    <p:set>
                                      <p:cBhvr>
                                        <p:cTn id="21"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3B324E-6977-4CF2-90D0-D05FE1170F75}"/>
              </a:ext>
            </a:extLst>
          </p:cNvPr>
          <p:cNvSpPr>
            <a:spLocks noGrp="1"/>
          </p:cNvSpPr>
          <p:nvPr>
            <p:ph type="title"/>
          </p:nvPr>
        </p:nvSpPr>
        <p:spPr>
          <a:xfrm>
            <a:off x="124018" y="6160696"/>
            <a:ext cx="4200331" cy="684554"/>
          </a:xfrm>
        </p:spPr>
        <p:txBody>
          <a:bodyPr>
            <a:normAutofit/>
          </a:bodyPr>
          <a:lstStyle/>
          <a:p>
            <a:r>
              <a:rPr lang="de-DE" sz="2000" dirty="0"/>
              <a:t>Schematische Darstellung der Funktion von SOC im salutogenetischen Prozess</a:t>
            </a:r>
          </a:p>
        </p:txBody>
      </p:sp>
      <p:graphicFrame>
        <p:nvGraphicFramePr>
          <p:cNvPr id="4" name="Inhaltsplatzhalter 3">
            <a:extLst>
              <a:ext uri="{FF2B5EF4-FFF2-40B4-BE49-F238E27FC236}">
                <a16:creationId xmlns:a16="http://schemas.microsoft.com/office/drawing/2014/main" id="{7A350C43-EB88-4F47-A635-55FA75361DEC}"/>
              </a:ext>
            </a:extLst>
          </p:cNvPr>
          <p:cNvGraphicFramePr>
            <a:graphicFrameLocks noGrp="1"/>
          </p:cNvGraphicFramePr>
          <p:nvPr>
            <p:ph idx="1"/>
            <p:extLst>
              <p:ext uri="{D42A27DB-BD31-4B8C-83A1-F6EECF244321}">
                <p14:modId xmlns:p14="http://schemas.microsoft.com/office/powerpoint/2010/main" val="249056954"/>
              </p:ext>
            </p:extLst>
          </p:nvPr>
        </p:nvGraphicFramePr>
        <p:xfrm>
          <a:off x="838200" y="83976"/>
          <a:ext cx="10515600" cy="66807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feld 5">
            <a:extLst>
              <a:ext uri="{FF2B5EF4-FFF2-40B4-BE49-F238E27FC236}">
                <a16:creationId xmlns:a16="http://schemas.microsoft.com/office/drawing/2014/main" id="{3F76DCE0-0228-492A-9E14-F97F1F5A3F19}"/>
              </a:ext>
            </a:extLst>
          </p:cNvPr>
          <p:cNvSpPr txBox="1"/>
          <p:nvPr/>
        </p:nvSpPr>
        <p:spPr>
          <a:xfrm>
            <a:off x="7465267" y="4788451"/>
            <a:ext cx="1495230" cy="369332"/>
          </a:xfrm>
          <a:prstGeom prst="rect">
            <a:avLst/>
          </a:prstGeom>
          <a:noFill/>
        </p:spPr>
        <p:txBody>
          <a:bodyPr wrap="square">
            <a:spAutoFit/>
          </a:bodyPr>
          <a:lstStyle/>
          <a:p>
            <a:pPr lvl="0"/>
            <a:r>
              <a:rPr lang="de-DE" dirty="0"/>
              <a:t>daraus folgt</a:t>
            </a:r>
          </a:p>
        </p:txBody>
      </p:sp>
      <p:sp>
        <p:nvSpPr>
          <p:cNvPr id="8" name="Textfeld 7">
            <a:extLst>
              <a:ext uri="{FF2B5EF4-FFF2-40B4-BE49-F238E27FC236}">
                <a16:creationId xmlns:a16="http://schemas.microsoft.com/office/drawing/2014/main" id="{A8144278-FF01-4290-B166-43CD40496D06}"/>
              </a:ext>
            </a:extLst>
          </p:cNvPr>
          <p:cNvSpPr txBox="1"/>
          <p:nvPr/>
        </p:nvSpPr>
        <p:spPr>
          <a:xfrm>
            <a:off x="3576734" y="4788451"/>
            <a:ext cx="1495230" cy="646331"/>
          </a:xfrm>
          <a:prstGeom prst="rect">
            <a:avLst/>
          </a:prstGeom>
          <a:noFill/>
        </p:spPr>
        <p:txBody>
          <a:bodyPr wrap="square">
            <a:spAutoFit/>
          </a:bodyPr>
          <a:lstStyle/>
          <a:p>
            <a:pPr lvl="0"/>
            <a:r>
              <a:rPr lang="de-DE" dirty="0"/>
              <a:t>fördert bzw. behindert</a:t>
            </a:r>
          </a:p>
        </p:txBody>
      </p:sp>
      <p:sp>
        <p:nvSpPr>
          <p:cNvPr id="10" name="Textfeld 9">
            <a:extLst>
              <a:ext uri="{FF2B5EF4-FFF2-40B4-BE49-F238E27FC236}">
                <a16:creationId xmlns:a16="http://schemas.microsoft.com/office/drawing/2014/main" id="{8CD55C94-9777-49C0-9855-954D15943037}"/>
              </a:ext>
            </a:extLst>
          </p:cNvPr>
          <p:cNvSpPr txBox="1"/>
          <p:nvPr/>
        </p:nvSpPr>
        <p:spPr>
          <a:xfrm>
            <a:off x="7312867" y="1690688"/>
            <a:ext cx="1495230" cy="369332"/>
          </a:xfrm>
          <a:prstGeom prst="rect">
            <a:avLst/>
          </a:prstGeom>
          <a:noFill/>
        </p:spPr>
        <p:txBody>
          <a:bodyPr wrap="square">
            <a:spAutoFit/>
          </a:bodyPr>
          <a:lstStyle/>
          <a:p>
            <a:pPr lvl="0"/>
            <a:r>
              <a:rPr lang="de-DE" dirty="0"/>
              <a:t>beeinflusst</a:t>
            </a:r>
          </a:p>
        </p:txBody>
      </p:sp>
      <p:sp>
        <p:nvSpPr>
          <p:cNvPr id="12" name="Textfeld 11">
            <a:extLst>
              <a:ext uri="{FF2B5EF4-FFF2-40B4-BE49-F238E27FC236}">
                <a16:creationId xmlns:a16="http://schemas.microsoft.com/office/drawing/2014/main" id="{6DC8BA96-7465-41B7-9DBE-FB02182C9E88}"/>
              </a:ext>
            </a:extLst>
          </p:cNvPr>
          <p:cNvSpPr txBox="1"/>
          <p:nvPr/>
        </p:nvSpPr>
        <p:spPr>
          <a:xfrm>
            <a:off x="2295328" y="684554"/>
            <a:ext cx="2471836" cy="1477328"/>
          </a:xfrm>
          <a:prstGeom prst="rect">
            <a:avLst/>
          </a:prstGeom>
          <a:noFill/>
        </p:spPr>
        <p:txBody>
          <a:bodyPr wrap="square">
            <a:spAutoFit/>
          </a:bodyPr>
          <a:lstStyle/>
          <a:p>
            <a:pPr lvl="0" algn="r"/>
            <a:r>
              <a:rPr lang="de-DE" dirty="0"/>
              <a:t>führt zu Bewältigungsverhalten und stärkt bzw. schwächt den SOC, </a:t>
            </a:r>
            <a:br>
              <a:rPr lang="de-DE" dirty="0"/>
            </a:br>
            <a:r>
              <a:rPr lang="de-DE" dirty="0"/>
              <a:t>je nach Erfolg</a:t>
            </a:r>
          </a:p>
        </p:txBody>
      </p:sp>
      <p:sp>
        <p:nvSpPr>
          <p:cNvPr id="3" name="Rechteck 2"/>
          <p:cNvSpPr/>
          <p:nvPr/>
        </p:nvSpPr>
        <p:spPr>
          <a:xfrm>
            <a:off x="7845938" y="83777"/>
            <a:ext cx="4346062" cy="369332"/>
          </a:xfrm>
          <a:prstGeom prst="rect">
            <a:avLst/>
          </a:prstGeom>
        </p:spPr>
        <p:txBody>
          <a:bodyPr wrap="none">
            <a:spAutoFit/>
          </a:bodyPr>
          <a:lstStyle/>
          <a:p>
            <a:pPr algn="ctr"/>
            <a:r>
              <a:rPr lang="de-DE" dirty="0">
                <a:sym typeface="Wingdings" panose="05000000000000000000" pitchFamily="2" charset="2"/>
              </a:rPr>
              <a:t> </a:t>
            </a:r>
            <a:r>
              <a:rPr lang="de-DE" dirty="0"/>
              <a:t>SOC und GRR stehen in Bezug zueinander</a:t>
            </a:r>
          </a:p>
        </p:txBody>
      </p:sp>
    </p:spTree>
    <p:extLst>
      <p:ext uri="{BB962C8B-B14F-4D97-AF65-F5344CB8AC3E}">
        <p14:creationId xmlns:p14="http://schemas.microsoft.com/office/powerpoint/2010/main" val="1778556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el 4">
            <a:extLst>
              <a:ext uri="{FF2B5EF4-FFF2-40B4-BE49-F238E27FC236}">
                <a16:creationId xmlns:a16="http://schemas.microsoft.com/office/drawing/2014/main" id="{CACBBE93-26C9-4A70-B617-0F6A2F713389}"/>
              </a:ext>
            </a:extLst>
          </p:cNvPr>
          <p:cNvSpPr>
            <a:spLocks noGrp="1"/>
          </p:cNvSpPr>
          <p:nvPr>
            <p:ph type="title"/>
          </p:nvPr>
        </p:nvSpPr>
        <p:spPr>
          <a:xfrm>
            <a:off x="643467" y="321734"/>
            <a:ext cx="10905066" cy="1135737"/>
          </a:xfrm>
        </p:spPr>
        <p:txBody>
          <a:bodyPr>
            <a:normAutofit/>
          </a:bodyPr>
          <a:lstStyle/>
          <a:p>
            <a:r>
              <a:rPr lang="de-DE" sz="3600"/>
              <a:t>Vertiefung Salutogenese-Modell</a:t>
            </a:r>
          </a:p>
        </p:txBody>
      </p:sp>
      <p:sp>
        <p:nvSpPr>
          <p:cNvPr id="6" name="Inhaltsplatzhalter 5">
            <a:extLst>
              <a:ext uri="{FF2B5EF4-FFF2-40B4-BE49-F238E27FC236}">
                <a16:creationId xmlns:a16="http://schemas.microsoft.com/office/drawing/2014/main" id="{550F28D9-0718-4FFC-B4F7-C8DED762B7AE}"/>
              </a:ext>
            </a:extLst>
          </p:cNvPr>
          <p:cNvSpPr>
            <a:spLocks noGrp="1"/>
          </p:cNvSpPr>
          <p:nvPr>
            <p:ph idx="1"/>
          </p:nvPr>
        </p:nvSpPr>
        <p:spPr>
          <a:xfrm>
            <a:off x="643469" y="1782981"/>
            <a:ext cx="4008384" cy="4393982"/>
          </a:xfrm>
        </p:spPr>
        <p:txBody>
          <a:bodyPr>
            <a:normAutofit/>
          </a:bodyPr>
          <a:lstStyle/>
          <a:p>
            <a:pPr marL="342900" indent="-342900">
              <a:buFont typeface="+mj-lt"/>
              <a:buAutoNum type="arabicPeriod"/>
            </a:pPr>
            <a:r>
              <a:rPr lang="de-DE" sz="2000" b="1" dirty="0">
                <a:latin typeface="Arial" panose="020B0604020202020204" pitchFamily="34" charset="0"/>
                <a:ea typeface="Times New Roman" panose="02020603050405020304" pitchFamily="18" charset="0"/>
              </a:rPr>
              <a:t>Was </a:t>
            </a:r>
            <a:r>
              <a:rPr lang="de-DE" sz="2000" dirty="0">
                <a:latin typeface="Arial" panose="020B0604020202020204" pitchFamily="34" charset="0"/>
                <a:ea typeface="Times New Roman" panose="02020603050405020304" pitchFamily="18" charset="0"/>
              </a:rPr>
              <a:t>stresst Sie?</a:t>
            </a:r>
            <a:r>
              <a:rPr lang="de-DE" sz="2000" dirty="0">
                <a:effectLst/>
                <a:latin typeface="Arial" panose="020B0604020202020204" pitchFamily="34" charset="0"/>
                <a:ea typeface="Times New Roman" panose="02020603050405020304" pitchFamily="18" charset="0"/>
              </a:rPr>
              <a:t> </a:t>
            </a:r>
          </a:p>
          <a:p>
            <a:pPr marL="342900" indent="-342900">
              <a:buFont typeface="+mj-lt"/>
              <a:buAutoNum type="arabicPeriod"/>
            </a:pPr>
            <a:r>
              <a:rPr lang="de-DE" sz="2000" b="1" dirty="0">
                <a:effectLst/>
                <a:latin typeface="Arial" panose="020B0604020202020204" pitchFamily="34" charset="0"/>
                <a:ea typeface="Times New Roman" panose="02020603050405020304" pitchFamily="18" charset="0"/>
              </a:rPr>
              <a:t>Beurteilen Sie</a:t>
            </a:r>
            <a:r>
              <a:rPr lang="de-DE" sz="2000" dirty="0">
                <a:effectLst/>
                <a:latin typeface="Arial" panose="020B0604020202020204" pitchFamily="34" charset="0"/>
                <a:ea typeface="Times New Roman" panose="02020603050405020304" pitchFamily="18" charset="0"/>
              </a:rPr>
              <a:t> dies im Zusammenhang mit dem Kohärenzgefühl.</a:t>
            </a:r>
          </a:p>
          <a:p>
            <a:pPr marL="342900" indent="-342900">
              <a:buFont typeface="+mj-lt"/>
              <a:buAutoNum type="arabicPeriod"/>
            </a:pPr>
            <a:r>
              <a:rPr lang="de-DE" sz="2000" b="1" dirty="0">
                <a:latin typeface="Arial" panose="020B0604020202020204" pitchFamily="34" charset="0"/>
                <a:ea typeface="Times New Roman" panose="02020603050405020304" pitchFamily="18" charset="0"/>
              </a:rPr>
              <a:t>Erklären Sie 3</a:t>
            </a:r>
            <a:r>
              <a:rPr lang="de-DE" sz="2000" dirty="0">
                <a:latin typeface="Arial" panose="020B0604020202020204" pitchFamily="34" charset="0"/>
                <a:ea typeface="Times New Roman" panose="02020603050405020304" pitchFamily="18" charset="0"/>
              </a:rPr>
              <a:t> geeignete generalisierte Widerstandsressourcen, die zu einer erfolgreichen Bewältigung dieses Stressors beitragen. </a:t>
            </a:r>
          </a:p>
          <a:p>
            <a:pPr marL="0" indent="0">
              <a:buNone/>
            </a:pPr>
            <a:endParaRPr lang="de-DE" sz="2000" dirty="0"/>
          </a:p>
        </p:txBody>
      </p:sp>
      <p:grpSp>
        <p:nvGrpSpPr>
          <p:cNvPr id="15" name="Group 14">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6" name="Isosceles Triangle 1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0" name="Rectangle 19">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extfeld 8">
            <a:extLst>
              <a:ext uri="{FF2B5EF4-FFF2-40B4-BE49-F238E27FC236}">
                <a16:creationId xmlns:a16="http://schemas.microsoft.com/office/drawing/2014/main" id="{67582521-CD38-4900-9D70-0FE5B461793A}"/>
              </a:ext>
            </a:extLst>
          </p:cNvPr>
          <p:cNvSpPr txBox="1"/>
          <p:nvPr/>
        </p:nvSpPr>
        <p:spPr>
          <a:xfrm>
            <a:off x="1096901" y="5408422"/>
            <a:ext cx="2170082" cy="400110"/>
          </a:xfrm>
          <a:prstGeom prst="rect">
            <a:avLst/>
          </a:prstGeom>
          <a:noFill/>
        </p:spPr>
        <p:txBody>
          <a:bodyPr wrap="square" rtlCol="0">
            <a:spAutoFit/>
          </a:bodyPr>
          <a:lstStyle/>
          <a:p>
            <a:r>
              <a:rPr lang="de-DE" sz="2000" b="1" dirty="0">
                <a:latin typeface="Arial" panose="020B0604020202020204" pitchFamily="34" charset="0"/>
                <a:cs typeface="Arial" panose="020B0604020202020204" pitchFamily="34" charset="0"/>
              </a:rPr>
              <a:t>Zeit: 20 Minuten</a:t>
            </a:r>
          </a:p>
        </p:txBody>
      </p:sp>
      <p:pic>
        <p:nvPicPr>
          <p:cNvPr id="14" name="Grafik 13">
            <a:extLst>
              <a:ext uri="{FF2B5EF4-FFF2-40B4-BE49-F238E27FC236}">
                <a16:creationId xmlns:a16="http://schemas.microsoft.com/office/drawing/2014/main" id="{D7E39939-585E-4995-A4D6-D5B06EC4355C}"/>
              </a:ext>
            </a:extLst>
          </p:cNvPr>
          <p:cNvPicPr>
            <a:picLocks noChangeAspect="1"/>
          </p:cNvPicPr>
          <p:nvPr/>
        </p:nvPicPr>
        <p:blipFill rotWithShape="1">
          <a:blip r:embed="rId2"/>
          <a:srcRect l="2916" t="12074" r="12416" b="28223"/>
          <a:stretch/>
        </p:blipFill>
        <p:spPr>
          <a:xfrm>
            <a:off x="4490494" y="1935307"/>
            <a:ext cx="7531471" cy="2987385"/>
          </a:xfrm>
          <a:prstGeom prst="rect">
            <a:avLst/>
          </a:prstGeom>
        </p:spPr>
      </p:pic>
      <p:sp>
        <p:nvSpPr>
          <p:cNvPr id="2" name="Rechteck 1">
            <a:extLst>
              <a:ext uri="{FF2B5EF4-FFF2-40B4-BE49-F238E27FC236}">
                <a16:creationId xmlns:a16="http://schemas.microsoft.com/office/drawing/2014/main" id="{B2E19B4E-40A1-412E-B60B-92F00B1F4EBC}"/>
              </a:ext>
            </a:extLst>
          </p:cNvPr>
          <p:cNvSpPr/>
          <p:nvPr/>
        </p:nvSpPr>
        <p:spPr>
          <a:xfrm>
            <a:off x="7608164" y="2461038"/>
            <a:ext cx="1393794" cy="3531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26BB95DD-EC54-4ED8-90FC-B84C8B99FEF6}"/>
              </a:ext>
            </a:extLst>
          </p:cNvPr>
          <p:cNvSpPr/>
          <p:nvPr/>
        </p:nvSpPr>
        <p:spPr>
          <a:xfrm>
            <a:off x="4651853" y="4063756"/>
            <a:ext cx="2077421" cy="6081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21">
            <a:extLst>
              <a:ext uri="{FF2B5EF4-FFF2-40B4-BE49-F238E27FC236}">
                <a16:creationId xmlns:a16="http://schemas.microsoft.com/office/drawing/2014/main" id="{14CD1500-6F22-4CB7-B2DD-F29907BCA6AC}"/>
              </a:ext>
            </a:extLst>
          </p:cNvPr>
          <p:cNvSpPr/>
          <p:nvPr/>
        </p:nvSpPr>
        <p:spPr>
          <a:xfrm>
            <a:off x="7155399" y="3857352"/>
            <a:ext cx="2201663" cy="8766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a:extLst>
              <a:ext uri="{FF2B5EF4-FFF2-40B4-BE49-F238E27FC236}">
                <a16:creationId xmlns:a16="http://schemas.microsoft.com/office/drawing/2014/main" id="{2A3A5640-869E-408C-B575-E9F750562A7B}"/>
              </a:ext>
            </a:extLst>
          </p:cNvPr>
          <p:cNvSpPr/>
          <p:nvPr/>
        </p:nvSpPr>
        <p:spPr>
          <a:xfrm>
            <a:off x="9732759" y="3784132"/>
            <a:ext cx="2201663" cy="9920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 Verbindung mit Pfeil 3">
            <a:extLst>
              <a:ext uri="{FF2B5EF4-FFF2-40B4-BE49-F238E27FC236}">
                <a16:creationId xmlns:a16="http://schemas.microsoft.com/office/drawing/2014/main" id="{DC1C6A5B-03A2-411A-AEB9-CCC44F28971D}"/>
              </a:ext>
            </a:extLst>
          </p:cNvPr>
          <p:cNvCxnSpPr/>
          <p:nvPr/>
        </p:nvCxnSpPr>
        <p:spPr>
          <a:xfrm>
            <a:off x="8345010" y="5024758"/>
            <a:ext cx="0" cy="4172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feld 23">
            <a:extLst>
              <a:ext uri="{FF2B5EF4-FFF2-40B4-BE49-F238E27FC236}">
                <a16:creationId xmlns:a16="http://schemas.microsoft.com/office/drawing/2014/main" id="{12AE04C9-79B8-4C27-83EF-FA4406E6B4F3}"/>
              </a:ext>
            </a:extLst>
          </p:cNvPr>
          <p:cNvSpPr txBox="1"/>
          <p:nvPr/>
        </p:nvSpPr>
        <p:spPr>
          <a:xfrm>
            <a:off x="7511987" y="5556502"/>
            <a:ext cx="1676397" cy="276999"/>
          </a:xfrm>
          <a:prstGeom prst="rect">
            <a:avLst/>
          </a:prstGeom>
          <a:noFill/>
          <a:ln w="12700">
            <a:solidFill>
              <a:schemeClr val="tx1"/>
            </a:solidFill>
          </a:ln>
        </p:spPr>
        <p:txBody>
          <a:bodyPr wrap="square" rtlCol="0">
            <a:spAutoFit/>
          </a:bodyPr>
          <a:lstStyle/>
          <a:p>
            <a:pPr algn="ctr"/>
            <a:r>
              <a:rPr lang="de-DE" sz="1200" dirty="0">
                <a:latin typeface="Arial" panose="020B0604020202020204" pitchFamily="34" charset="0"/>
                <a:cs typeface="Arial" panose="020B0604020202020204" pitchFamily="34" charset="0"/>
              </a:rPr>
              <a:t>GRR</a:t>
            </a:r>
          </a:p>
        </p:txBody>
      </p:sp>
    </p:spTree>
    <p:extLst>
      <p:ext uri="{BB962C8B-B14F-4D97-AF65-F5344CB8AC3E}">
        <p14:creationId xmlns:p14="http://schemas.microsoft.com/office/powerpoint/2010/main" val="2211903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de-DE"/>
          </a:p>
        </p:txBody>
      </p:sp>
      <p:pic>
        <p:nvPicPr>
          <p:cNvPr id="5" name="Inhaltsplatzhalter 4"/>
          <p:cNvPicPr>
            <a:picLocks noGrp="1" noChangeAspect="1"/>
          </p:cNvPicPr>
          <p:nvPr>
            <p:ph sz="half" idx="1"/>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516173" y="-38100"/>
            <a:ext cx="11163208" cy="6916227"/>
          </a:xfrm>
        </p:spPr>
      </p:pic>
      <p:sp>
        <p:nvSpPr>
          <p:cNvPr id="4" name="Inhaltsplatzhalter 3"/>
          <p:cNvSpPr>
            <a:spLocks noGrp="1"/>
          </p:cNvSpPr>
          <p:nvPr>
            <p:ph sz="half" idx="2"/>
          </p:nvPr>
        </p:nvSpPr>
        <p:spPr/>
        <p:txBody>
          <a:bodyPr/>
          <a:lstStyle/>
          <a:p>
            <a:endParaRPr lang="de-DE"/>
          </a:p>
        </p:txBody>
      </p:sp>
    </p:spTree>
    <p:extLst>
      <p:ext uri="{BB962C8B-B14F-4D97-AF65-F5344CB8AC3E}">
        <p14:creationId xmlns:p14="http://schemas.microsoft.com/office/powerpoint/2010/main" val="2375083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D5E9BC-9BF2-4BEC-BD66-8C31DED276FC}"/>
              </a:ext>
            </a:extLst>
          </p:cNvPr>
          <p:cNvSpPr>
            <a:spLocks noGrp="1"/>
          </p:cNvSpPr>
          <p:nvPr>
            <p:ph type="title"/>
          </p:nvPr>
        </p:nvSpPr>
        <p:spPr/>
        <p:txBody>
          <a:bodyPr/>
          <a:lstStyle/>
          <a:p>
            <a:r>
              <a:rPr lang="de-DE" dirty="0"/>
              <a:t>Welche Ressourcen habt ihr? Z.B.</a:t>
            </a:r>
          </a:p>
        </p:txBody>
      </p:sp>
      <p:sp>
        <p:nvSpPr>
          <p:cNvPr id="3" name="Inhaltsplatzhalter 2">
            <a:extLst>
              <a:ext uri="{FF2B5EF4-FFF2-40B4-BE49-F238E27FC236}">
                <a16:creationId xmlns:a16="http://schemas.microsoft.com/office/drawing/2014/main" id="{CF388C5E-B387-4455-A39A-11797359254A}"/>
              </a:ext>
            </a:extLst>
          </p:cNvPr>
          <p:cNvSpPr>
            <a:spLocks noGrp="1"/>
          </p:cNvSpPr>
          <p:nvPr>
            <p:ph sz="half" idx="1"/>
          </p:nvPr>
        </p:nvSpPr>
        <p:spPr/>
        <p:txBody>
          <a:bodyPr>
            <a:normAutofit fontScale="92500" lnSpcReduction="20000"/>
          </a:bodyPr>
          <a:lstStyle/>
          <a:p>
            <a:r>
              <a:rPr lang="de-DE" dirty="0"/>
              <a:t>Starker Selbstwert</a:t>
            </a:r>
          </a:p>
          <a:p>
            <a:r>
              <a:rPr lang="de-DE" dirty="0"/>
              <a:t>Aktive Teilhabe an Entscheidungsprozessen</a:t>
            </a:r>
          </a:p>
          <a:p>
            <a:r>
              <a:rPr lang="de-DE" dirty="0"/>
              <a:t>Gesunde Ernährung</a:t>
            </a:r>
          </a:p>
          <a:p>
            <a:r>
              <a:rPr lang="de-DE" dirty="0"/>
              <a:t>Ruhe / Stille</a:t>
            </a:r>
          </a:p>
          <a:p>
            <a:r>
              <a:rPr lang="de-DE" dirty="0"/>
              <a:t>Kulturelle Stabilität</a:t>
            </a:r>
          </a:p>
          <a:p>
            <a:r>
              <a:rPr lang="de-DE" dirty="0"/>
              <a:t>Intelligenz</a:t>
            </a:r>
          </a:p>
          <a:p>
            <a:r>
              <a:rPr lang="de-DE" dirty="0"/>
              <a:t>Bewegung</a:t>
            </a:r>
          </a:p>
          <a:p>
            <a:r>
              <a:rPr lang="de-DE" dirty="0"/>
              <a:t>Unterstützung in der Familie</a:t>
            </a:r>
          </a:p>
          <a:p>
            <a:r>
              <a:rPr lang="de-DE" dirty="0"/>
              <a:t>Yoga, Meditation</a:t>
            </a:r>
          </a:p>
          <a:p>
            <a:r>
              <a:rPr lang="de-DE" dirty="0"/>
              <a:t>Religion, Spiritualität</a:t>
            </a:r>
          </a:p>
        </p:txBody>
      </p:sp>
      <p:sp>
        <p:nvSpPr>
          <p:cNvPr id="4" name="Inhaltsplatzhalter 3">
            <a:extLst>
              <a:ext uri="{FF2B5EF4-FFF2-40B4-BE49-F238E27FC236}">
                <a16:creationId xmlns:a16="http://schemas.microsoft.com/office/drawing/2014/main" id="{EBE8AFE8-8928-4588-9342-8FB47FEF9817}"/>
              </a:ext>
            </a:extLst>
          </p:cNvPr>
          <p:cNvSpPr>
            <a:spLocks noGrp="1"/>
          </p:cNvSpPr>
          <p:nvPr>
            <p:ph sz="half" idx="2"/>
          </p:nvPr>
        </p:nvSpPr>
        <p:spPr>
          <a:xfrm>
            <a:off x="6172200" y="1825625"/>
            <a:ext cx="5181600" cy="4752156"/>
          </a:xfrm>
        </p:spPr>
        <p:txBody>
          <a:bodyPr>
            <a:normAutofit fontScale="92500" lnSpcReduction="20000"/>
          </a:bodyPr>
          <a:lstStyle/>
          <a:p>
            <a:r>
              <a:rPr lang="de-DE" dirty="0"/>
              <a:t>Unterstützung im Team (Job)</a:t>
            </a:r>
          </a:p>
          <a:p>
            <a:r>
              <a:rPr lang="de-DE" dirty="0"/>
              <a:t>Klare gesellschaftliche Strukturen</a:t>
            </a:r>
          </a:p>
          <a:p>
            <a:r>
              <a:rPr lang="de-DE" dirty="0"/>
              <a:t>Finanzielle Absicherung</a:t>
            </a:r>
          </a:p>
          <a:p>
            <a:r>
              <a:rPr lang="de-DE" dirty="0"/>
              <a:t>Gutes Immunsystem</a:t>
            </a:r>
          </a:p>
          <a:p>
            <a:r>
              <a:rPr lang="de-DE" dirty="0"/>
              <a:t>Soziale Integration</a:t>
            </a:r>
          </a:p>
          <a:p>
            <a:r>
              <a:rPr lang="de-DE" dirty="0"/>
              <a:t>Günstige familiäre Bedingungen</a:t>
            </a:r>
          </a:p>
          <a:p>
            <a:r>
              <a:rPr lang="de-DE" dirty="0"/>
              <a:t>Effiziente Angst- und Stressbewältigung</a:t>
            </a:r>
          </a:p>
          <a:p>
            <a:r>
              <a:rPr lang="de-DE" dirty="0"/>
              <a:t>Materielle Unterstützung durch andere Menschen</a:t>
            </a:r>
          </a:p>
          <a:p>
            <a:r>
              <a:rPr lang="de-DE" dirty="0"/>
              <a:t>Klare Ziele</a:t>
            </a:r>
          </a:p>
          <a:p>
            <a:r>
              <a:rPr lang="de-DE" dirty="0"/>
              <a:t>Sonstiges ....</a:t>
            </a:r>
          </a:p>
        </p:txBody>
      </p:sp>
    </p:spTree>
    <p:extLst>
      <p:ext uri="{BB962C8B-B14F-4D97-AF65-F5344CB8AC3E}">
        <p14:creationId xmlns:p14="http://schemas.microsoft.com/office/powerpoint/2010/main" val="3417131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dirty="0"/>
              <a:t>Was ist das Kohärenzgefühl?</a:t>
            </a:r>
          </a:p>
        </p:txBody>
      </p:sp>
      <p:sp>
        <p:nvSpPr>
          <p:cNvPr id="6" name="Inhaltsplatzhalter 5"/>
          <p:cNvSpPr>
            <a:spLocks noGrp="1"/>
          </p:cNvSpPr>
          <p:nvPr>
            <p:ph idx="1"/>
          </p:nvPr>
        </p:nvSpPr>
        <p:spPr/>
        <p:txBody>
          <a:bodyPr/>
          <a:lstStyle/>
          <a:p>
            <a:r>
              <a:rPr lang="de-DE" dirty="0"/>
              <a:t>Eine globale Orientierung, die ausdrückt, in welchem Ausmaß man ein durchdringendes, andauerndes und dennoch dynamisches Gefühl des Vertrauens hat (</a:t>
            </a:r>
            <a:r>
              <a:rPr lang="de-DE" dirty="0" err="1"/>
              <a:t>Antonovsky</a:t>
            </a:r>
            <a:r>
              <a:rPr lang="de-DE" dirty="0"/>
              <a:t> 1997)</a:t>
            </a:r>
          </a:p>
          <a:p>
            <a:r>
              <a:rPr lang="de-DE" dirty="0"/>
              <a:t>Ein Vertrauen darauf, dass die Welt verstehbar ist, die Anforderungen handhabbar sind und deren Bewältigung bedeutsam ist</a:t>
            </a:r>
          </a:p>
        </p:txBody>
      </p:sp>
    </p:spTree>
    <p:extLst>
      <p:ext uri="{BB962C8B-B14F-4D97-AF65-F5344CB8AC3E}">
        <p14:creationId xmlns:p14="http://schemas.microsoft.com/office/powerpoint/2010/main" val="4228444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Herz Kurve &lt;strong&gt;Gesundheit&lt;/strong&gt; - Kostenloses Bild auf Pixabay"/>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92000" y="0"/>
            <a:ext cx="3600000" cy="2160000"/>
          </a:xfrm>
          <a:prstGeom prst="rect">
            <a:avLst/>
          </a:prstGeom>
        </p:spPr>
      </p:pic>
      <p:sp>
        <p:nvSpPr>
          <p:cNvPr id="2" name="Titel 1"/>
          <p:cNvSpPr>
            <a:spLocks noGrp="1"/>
          </p:cNvSpPr>
          <p:nvPr>
            <p:ph type="ctrTitle"/>
          </p:nvPr>
        </p:nvSpPr>
        <p:spPr/>
        <p:txBody>
          <a:bodyPr/>
          <a:lstStyle/>
          <a:p>
            <a:r>
              <a:rPr lang="de-DE" dirty="0"/>
              <a:t>Zur Entstehung des Kohärenzgefühls</a:t>
            </a:r>
          </a:p>
        </p:txBody>
      </p:sp>
      <p:sp>
        <p:nvSpPr>
          <p:cNvPr id="3" name="Untertitel 2"/>
          <p:cNvSpPr>
            <a:spLocks noGrp="1"/>
          </p:cNvSpPr>
          <p:nvPr>
            <p:ph type="subTitle" idx="1"/>
          </p:nvPr>
        </p:nvSpPr>
        <p:spPr/>
        <p:txBody>
          <a:bodyPr/>
          <a:lstStyle/>
          <a:p>
            <a:r>
              <a:rPr lang="de-DE" dirty="0"/>
              <a:t>Salutogenese</a:t>
            </a:r>
          </a:p>
        </p:txBody>
      </p:sp>
      <p:pic>
        <p:nvPicPr>
          <p:cNvPr id="4" name="Grafik 3" descr="&lt;strong&gt;Gesundheit&lt;/strong&gt; Krankheit Ende · Kostenloses Bild auf Pixabay"/>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6000" y="4179875"/>
            <a:ext cx="3600000" cy="2340000"/>
          </a:xfrm>
          <a:prstGeom prst="rect">
            <a:avLst/>
          </a:prstGeom>
        </p:spPr>
      </p:pic>
    </p:spTree>
    <p:extLst>
      <p:ext uri="{BB962C8B-B14F-4D97-AF65-F5344CB8AC3E}">
        <p14:creationId xmlns:p14="http://schemas.microsoft.com/office/powerpoint/2010/main" val="3076382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Entwicklung von Verstehbarkeit </a:t>
            </a:r>
          </a:p>
        </p:txBody>
      </p:sp>
      <p:sp>
        <p:nvSpPr>
          <p:cNvPr id="3" name="Inhaltsplatzhalter 2"/>
          <p:cNvSpPr>
            <a:spLocks noGrp="1"/>
          </p:cNvSpPr>
          <p:nvPr>
            <p:ph idx="1"/>
          </p:nvPr>
        </p:nvSpPr>
        <p:spPr>
          <a:xfrm>
            <a:off x="838200" y="1825624"/>
            <a:ext cx="10515600" cy="4334107"/>
          </a:xfrm>
        </p:spPr>
        <p:txBody>
          <a:bodyPr>
            <a:normAutofit fontScale="92500"/>
          </a:bodyPr>
          <a:lstStyle/>
          <a:p>
            <a:r>
              <a:rPr lang="de-DE" dirty="0"/>
              <a:t>Lebenserfahrungen der Konsistenz – das sind die wichtigsten Erfahrungen, die für die Entstehung von Verstehbarkeit notwendig sind.</a:t>
            </a:r>
          </a:p>
          <a:p>
            <a:endParaRPr lang="de-DE" dirty="0"/>
          </a:p>
          <a:p>
            <a:endParaRPr lang="de-DE" dirty="0"/>
          </a:p>
          <a:p>
            <a:endParaRPr lang="de-DE" dirty="0"/>
          </a:p>
          <a:p>
            <a:r>
              <a:rPr lang="de-DE" dirty="0"/>
              <a:t>Konsistenz – das sind Erfahrungen von Beständigkeit und Verlässlichkeit. </a:t>
            </a:r>
            <a:br>
              <a:rPr lang="de-DE" dirty="0"/>
            </a:br>
            <a:r>
              <a:rPr lang="de-DE" dirty="0"/>
              <a:t>Sie sind notwendig für den Aufbau von Regeln und Mustern, für Bindung und Vertrauen. Im positiven Fall geben sie dem Kind Sicherheit und stärken das Selbstvertrauen. </a:t>
            </a:r>
          </a:p>
          <a:p>
            <a:endParaRPr lang="de-DE" dirty="0"/>
          </a:p>
        </p:txBody>
      </p:sp>
      <p:pic>
        <p:nvPicPr>
          <p:cNvPr id="4" name="Grafik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113385" y="2787621"/>
            <a:ext cx="8934450" cy="1000125"/>
          </a:xfrm>
          <a:prstGeom prst="rect">
            <a:avLst/>
          </a:prstGeom>
        </p:spPr>
      </p:pic>
      <p:pic>
        <p:nvPicPr>
          <p:cNvPr id="5" name="Grafik 4" descr="Technik &lt;strong&gt;verstehen&lt;/strong&gt; lernen – Methodenkoffe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27077" y="250688"/>
            <a:ext cx="2068107" cy="1440000"/>
          </a:xfrm>
          <a:prstGeom prst="rect">
            <a:avLst/>
          </a:prstGeom>
        </p:spPr>
      </p:pic>
      <p:pic>
        <p:nvPicPr>
          <p:cNvPr id="6" name="Grafik 5"/>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10047835" y="699293"/>
            <a:ext cx="1647825" cy="657225"/>
          </a:xfrm>
          <a:prstGeom prst="rect">
            <a:avLst/>
          </a:prstGeom>
        </p:spPr>
      </p:pic>
    </p:spTree>
    <p:extLst>
      <p:ext uri="{BB962C8B-B14F-4D97-AF65-F5344CB8AC3E}">
        <p14:creationId xmlns:p14="http://schemas.microsoft.com/office/powerpoint/2010/main" val="28358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Entwicklung von Handhabbarkeit</a:t>
            </a:r>
          </a:p>
        </p:txBody>
      </p:sp>
      <p:sp>
        <p:nvSpPr>
          <p:cNvPr id="3" name="Inhaltsplatzhalter 2"/>
          <p:cNvSpPr>
            <a:spLocks noGrp="1"/>
          </p:cNvSpPr>
          <p:nvPr>
            <p:ph idx="1"/>
          </p:nvPr>
        </p:nvSpPr>
        <p:spPr>
          <a:xfrm>
            <a:off x="838200" y="1825624"/>
            <a:ext cx="10515600" cy="4891060"/>
          </a:xfrm>
        </p:spPr>
        <p:txBody>
          <a:bodyPr>
            <a:normAutofit lnSpcReduction="10000"/>
          </a:bodyPr>
          <a:lstStyle/>
          <a:p>
            <a:r>
              <a:rPr lang="de-DE" sz="2600" dirty="0"/>
              <a:t>Lebenserfahrungen von Belastungsbalance – das sind die wichtigsten Erfahrungen, die für die Entstehung von Handhabbarkeit notwendig sind. </a:t>
            </a:r>
          </a:p>
          <a:p>
            <a:endParaRPr lang="de-DE" sz="2600" dirty="0"/>
          </a:p>
          <a:p>
            <a:endParaRPr lang="de-DE" sz="2600" dirty="0"/>
          </a:p>
          <a:p>
            <a:endParaRPr lang="de-DE" sz="2600" dirty="0"/>
          </a:p>
          <a:p>
            <a:endParaRPr lang="de-DE" sz="2600" dirty="0"/>
          </a:p>
          <a:p>
            <a:r>
              <a:rPr lang="de-DE" sz="2600" dirty="0"/>
              <a:t>Belastungsbalance – das heißt, dass die Heranwachsenden weder unter- noch überfordert werden. Das setzt voraus, dass die Anforderungen dem Alter und dem individuellen Entwicklungsniveau angepasst sein müssen. Außerdem brauchen die Heranwachsenden genügend Zeit und Raum für das Erproben ihres Könnens sowie Entscheidungsfreiheit, um die eigenen Ressourcen kreativ zu nutzen.</a:t>
            </a:r>
            <a:endParaRPr lang="de-DE" sz="2600" dirty="0">
              <a:solidFill>
                <a:schemeClr val="bg1"/>
              </a:solidFill>
            </a:endParaRPr>
          </a:p>
          <a:p>
            <a:endParaRPr lang="de-DE" dirty="0"/>
          </a:p>
        </p:txBody>
      </p:sp>
      <p:pic>
        <p:nvPicPr>
          <p:cNvPr id="4" name="Grafik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151226" y="2693236"/>
            <a:ext cx="9058275" cy="1438275"/>
          </a:xfrm>
          <a:prstGeom prst="rect">
            <a:avLst/>
          </a:prstGeom>
        </p:spPr>
      </p:pic>
      <p:pic>
        <p:nvPicPr>
          <p:cNvPr id="5" name="Grafik 4" descr="Osteoporose - &lt;strong&gt;Handeln&lt;/strong&gt; bevor der Knochen bricht ..."/>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42959" y="250688"/>
            <a:ext cx="1920000" cy="1440000"/>
          </a:xfrm>
          <a:prstGeom prst="rect">
            <a:avLst/>
          </a:prstGeom>
        </p:spPr>
      </p:pic>
      <p:pic>
        <p:nvPicPr>
          <p:cNvPr id="6" name="Grafik 5"/>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10412837" y="594518"/>
            <a:ext cx="1743075" cy="866775"/>
          </a:xfrm>
          <a:prstGeom prst="rect">
            <a:avLst/>
          </a:prstGeom>
        </p:spPr>
      </p:pic>
    </p:spTree>
    <p:extLst>
      <p:ext uri="{BB962C8B-B14F-4D97-AF65-F5344CB8AC3E}">
        <p14:creationId xmlns:p14="http://schemas.microsoft.com/office/powerpoint/2010/main" val="42236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Entwicklung von Bedeutsamkeit</a:t>
            </a:r>
          </a:p>
        </p:txBody>
      </p:sp>
      <p:sp>
        <p:nvSpPr>
          <p:cNvPr id="3" name="Inhaltsplatzhalter 2"/>
          <p:cNvSpPr>
            <a:spLocks noGrp="1"/>
          </p:cNvSpPr>
          <p:nvPr>
            <p:ph idx="1"/>
          </p:nvPr>
        </p:nvSpPr>
        <p:spPr>
          <a:xfrm>
            <a:off x="838200" y="1877219"/>
            <a:ext cx="10515600" cy="4351338"/>
          </a:xfrm>
        </p:spPr>
        <p:txBody>
          <a:bodyPr/>
          <a:lstStyle/>
          <a:p>
            <a:r>
              <a:rPr lang="de-DE" sz="2600" dirty="0"/>
              <a:t>Lebenserfahrungen der Teilhabe – das sind die wichtigsten Erfahrungen, die für die Entstehung von Bedeutsamkeit notwendig sind.</a:t>
            </a:r>
          </a:p>
          <a:p>
            <a:endParaRPr lang="de-DE" sz="2600" dirty="0"/>
          </a:p>
          <a:p>
            <a:endParaRPr lang="de-DE" sz="2600" dirty="0"/>
          </a:p>
          <a:p>
            <a:endParaRPr lang="de-DE" sz="2600" dirty="0"/>
          </a:p>
          <a:p>
            <a:r>
              <a:rPr lang="de-DE" sz="2600" dirty="0"/>
              <a:t>Diese motivationale und emotionale Komponente des Kohärenzgefühls entsteht, wenn die Heranwachsenden beim Handeln Resonanz erfahren, wenn sie mit ihren Stärken und Schwächen akzeptiert und geachtet werden und die nötige Aufmerksamkeit für ihre individuellen Entwicklungsfortschritte erfahren.</a:t>
            </a:r>
          </a:p>
          <a:p>
            <a:endParaRPr lang="de-DE" dirty="0"/>
          </a:p>
        </p:txBody>
      </p:sp>
      <p:pic>
        <p:nvPicPr>
          <p:cNvPr id="4" name="Grafik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143347" y="2821998"/>
            <a:ext cx="8724900" cy="1047750"/>
          </a:xfrm>
          <a:prstGeom prst="rect">
            <a:avLst/>
          </a:prstGeom>
        </p:spPr>
      </p:pic>
      <p:pic>
        <p:nvPicPr>
          <p:cNvPr id="6" name="Grafik 5"/>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10283622" y="551656"/>
            <a:ext cx="1381125" cy="952500"/>
          </a:xfrm>
          <a:prstGeom prst="rect">
            <a:avLst/>
          </a:prstGeom>
        </p:spPr>
      </p:pic>
      <p:pic>
        <p:nvPicPr>
          <p:cNvPr id="5" name="Grafik 4"/>
          <p:cNvPicPr>
            <a:picLocks noChangeAspect="1"/>
          </p:cNvPicPr>
          <p:nvPr/>
        </p:nvPicPr>
        <p:blipFill>
          <a:blip r:embed="rId6"/>
          <a:stretch>
            <a:fillRect/>
          </a:stretch>
        </p:blipFill>
        <p:spPr>
          <a:xfrm>
            <a:off x="8139112" y="250688"/>
            <a:ext cx="2025560" cy="1440000"/>
          </a:xfrm>
          <a:prstGeom prst="rect">
            <a:avLst/>
          </a:prstGeom>
        </p:spPr>
      </p:pic>
    </p:spTree>
    <p:extLst>
      <p:ext uri="{BB962C8B-B14F-4D97-AF65-F5344CB8AC3E}">
        <p14:creationId xmlns:p14="http://schemas.microsoft.com/office/powerpoint/2010/main" val="94722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1059628-8A58-49C9-8AEA-ED0262E57CFF}"/>
              </a:ext>
            </a:extLst>
          </p:cNvPr>
          <p:cNvSpPr>
            <a:spLocks noGrp="1"/>
          </p:cNvSpPr>
          <p:nvPr>
            <p:ph type="title"/>
          </p:nvPr>
        </p:nvSpPr>
        <p:spPr/>
        <p:txBody>
          <a:bodyPr/>
          <a:lstStyle/>
          <a:p>
            <a:r>
              <a:rPr lang="de-DE" dirty="0"/>
              <a:t>Aufgabe: Wie kann das Kohärenzgefühl gefördert werden?</a:t>
            </a:r>
          </a:p>
        </p:txBody>
      </p:sp>
      <p:sp>
        <p:nvSpPr>
          <p:cNvPr id="6" name="Inhaltsplatzhalter 5">
            <a:extLst>
              <a:ext uri="{FF2B5EF4-FFF2-40B4-BE49-F238E27FC236}">
                <a16:creationId xmlns:a16="http://schemas.microsoft.com/office/drawing/2014/main" id="{5BDAC6C7-C00C-454D-9B94-7D473FE66A47}"/>
              </a:ext>
            </a:extLst>
          </p:cNvPr>
          <p:cNvSpPr>
            <a:spLocks noGrp="1"/>
          </p:cNvSpPr>
          <p:nvPr>
            <p:ph idx="1"/>
          </p:nvPr>
        </p:nvSpPr>
        <p:spPr>
          <a:xfrm>
            <a:off x="838200" y="1825625"/>
            <a:ext cx="10515600" cy="4836432"/>
          </a:xfrm>
        </p:spPr>
        <p:txBody>
          <a:bodyPr>
            <a:normAutofit fontScale="77500" lnSpcReduction="20000"/>
          </a:bodyPr>
          <a:lstStyle/>
          <a:p>
            <a:pPr marL="514350" indent="-514350">
              <a:buFont typeface="+mj-lt"/>
              <a:buAutoNum type="arabicPeriod"/>
            </a:pPr>
            <a:r>
              <a:rPr lang="de-DE" dirty="0"/>
              <a:t>Überlegt gemeinsam, wie die Entwicklung von Verstehbarkeit, Handhabbarkeit und Bedeutsamkeit in der Kita gefördert werden kann. </a:t>
            </a:r>
            <a:br>
              <a:rPr lang="de-DE" dirty="0"/>
            </a:br>
            <a:r>
              <a:rPr lang="de-DE" dirty="0">
                <a:sym typeface="Wingdings" panose="05000000000000000000" pitchFamily="2" charset="2"/>
              </a:rPr>
              <a:t> Infotext aus Salutogenese in der Kita (siehe Cloud, in Vorlagen)</a:t>
            </a:r>
            <a:br>
              <a:rPr lang="de-DE" dirty="0">
                <a:sym typeface="Wingdings" panose="05000000000000000000" pitchFamily="2" charset="2"/>
              </a:rPr>
            </a:br>
            <a:r>
              <a:rPr lang="de-DE" dirty="0">
                <a:sym typeface="Wingdings" panose="05000000000000000000" pitchFamily="2" charset="2"/>
              </a:rPr>
              <a:t> jede Gruppe ein Thema: </a:t>
            </a:r>
            <a:br>
              <a:rPr lang="de-DE" dirty="0">
                <a:sym typeface="Wingdings" panose="05000000000000000000" pitchFamily="2" charset="2"/>
              </a:rPr>
            </a:br>
            <a:r>
              <a:rPr lang="de-DE" dirty="0">
                <a:sym typeface="Wingdings" panose="05000000000000000000" pitchFamily="2" charset="2"/>
              </a:rPr>
              <a:t>	1. Verstehbarkeit (S. 74-78), </a:t>
            </a:r>
            <a:br>
              <a:rPr lang="de-DE" dirty="0">
                <a:sym typeface="Wingdings" panose="05000000000000000000" pitchFamily="2" charset="2"/>
              </a:rPr>
            </a:br>
            <a:r>
              <a:rPr lang="de-DE" dirty="0">
                <a:sym typeface="Wingdings" panose="05000000000000000000" pitchFamily="2" charset="2"/>
              </a:rPr>
              <a:t>	2. Handhabbarkeit (S. 78-83), </a:t>
            </a:r>
            <a:br>
              <a:rPr lang="de-DE" dirty="0">
                <a:sym typeface="Wingdings" panose="05000000000000000000" pitchFamily="2" charset="2"/>
              </a:rPr>
            </a:br>
            <a:r>
              <a:rPr lang="de-DE" dirty="0">
                <a:sym typeface="Wingdings" panose="05000000000000000000" pitchFamily="2" charset="2"/>
              </a:rPr>
              <a:t>	3. Bedeutsamkeit (S. 83-86)</a:t>
            </a:r>
            <a:endParaRPr lang="de-DE" dirty="0"/>
          </a:p>
          <a:p>
            <a:pPr marL="514350" indent="-514350">
              <a:buFont typeface="+mj-lt"/>
              <a:buAutoNum type="arabicPeriod"/>
            </a:pPr>
            <a:r>
              <a:rPr lang="de-DE" dirty="0"/>
              <a:t>Diskutiert in der Gruppe, welche Möglichkeiten ihr in euren Einrichtungen bereits nutzt oder nutzen könntet.</a:t>
            </a:r>
            <a:br>
              <a:rPr lang="de-DE" dirty="0"/>
            </a:br>
            <a:r>
              <a:rPr lang="de-DE" dirty="0">
                <a:sym typeface="Wingdings" panose="05000000000000000000" pitchFamily="2" charset="2"/>
              </a:rPr>
              <a:t> ganz konkrete Vorschläge für die Umsetzung!</a:t>
            </a:r>
          </a:p>
          <a:p>
            <a:pPr marL="514350" indent="-514350">
              <a:buFont typeface="+mj-lt"/>
              <a:buAutoNum type="arabicPeriod"/>
            </a:pPr>
            <a:r>
              <a:rPr lang="de-DE" dirty="0">
                <a:sym typeface="Wingdings" panose="05000000000000000000" pitchFamily="2" charset="2"/>
              </a:rPr>
              <a:t>Teilt das Whiteboard in „Was wir schon tun“ und „Was wir verbessern könnten“ ein</a:t>
            </a:r>
          </a:p>
          <a:p>
            <a:pPr marL="514350" indent="-514350">
              <a:buFont typeface="+mj-lt"/>
              <a:buAutoNum type="arabicPeriod"/>
            </a:pPr>
            <a:r>
              <a:rPr lang="de-DE" dirty="0">
                <a:sym typeface="Wingdings" panose="05000000000000000000" pitchFamily="2" charset="2"/>
              </a:rPr>
              <a:t>Notiert die diskutierten und gesammelten Ideen in der jeweiligen Spalte.</a:t>
            </a:r>
          </a:p>
          <a:p>
            <a:pPr marL="514350" indent="-514350">
              <a:buFont typeface="+mj-lt"/>
              <a:buAutoNum type="arabicPeriod"/>
            </a:pPr>
            <a:r>
              <a:rPr lang="de-DE" dirty="0">
                <a:sym typeface="Wingdings" panose="05000000000000000000" pitchFamily="2" charset="2"/>
              </a:rPr>
              <a:t>Entscheidet, wer was den anderen präsentiert.</a:t>
            </a:r>
          </a:p>
          <a:p>
            <a:pPr marL="0" indent="0">
              <a:spcAft>
                <a:spcPts val="600"/>
              </a:spcAft>
              <a:buNone/>
            </a:pPr>
            <a:r>
              <a:rPr lang="de-DE" b="1" dirty="0">
                <a:sym typeface="Wingdings" panose="05000000000000000000" pitchFamily="2" charset="2"/>
              </a:rPr>
              <a:t>Zeit: 25-30 Minuten </a:t>
            </a:r>
          </a:p>
          <a:p>
            <a:pPr marL="0" indent="0">
              <a:spcAft>
                <a:spcPts val="600"/>
              </a:spcAft>
              <a:buNone/>
            </a:pPr>
            <a:r>
              <a:rPr lang="de-DE" dirty="0">
                <a:sym typeface="Wingdings" panose="05000000000000000000" pitchFamily="2" charset="2"/>
              </a:rPr>
              <a:t>Tipp: Unterpunkte des Textes in der Gruppe aufteilen bei der Erarbeitung</a:t>
            </a:r>
            <a:endParaRPr lang="de-DE" b="1" dirty="0">
              <a:sym typeface="Wingdings" panose="05000000000000000000" pitchFamily="2" charset="2"/>
            </a:endParaRPr>
          </a:p>
          <a:p>
            <a:pPr marL="0" indent="0">
              <a:buNone/>
            </a:pPr>
            <a:endParaRPr lang="de-DE" dirty="0"/>
          </a:p>
        </p:txBody>
      </p:sp>
    </p:spTree>
    <p:extLst>
      <p:ext uri="{BB962C8B-B14F-4D97-AF65-F5344CB8AC3E}">
        <p14:creationId xmlns:p14="http://schemas.microsoft.com/office/powerpoint/2010/main" val="427642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A60E3D-D63C-4363-A1FA-C69192980844}"/>
              </a:ext>
            </a:extLst>
          </p:cNvPr>
          <p:cNvSpPr>
            <a:spLocks noGrp="1"/>
          </p:cNvSpPr>
          <p:nvPr>
            <p:ph type="title"/>
          </p:nvPr>
        </p:nvSpPr>
        <p:spPr/>
        <p:txBody>
          <a:bodyPr/>
          <a:lstStyle/>
          <a:p>
            <a:r>
              <a:rPr lang="de-DE" dirty="0"/>
              <a:t>Wann entsteht Kohärenzgefühl?</a:t>
            </a:r>
          </a:p>
        </p:txBody>
      </p:sp>
      <p:sp>
        <p:nvSpPr>
          <p:cNvPr id="3" name="Inhaltsplatzhalter 2">
            <a:extLst>
              <a:ext uri="{FF2B5EF4-FFF2-40B4-BE49-F238E27FC236}">
                <a16:creationId xmlns:a16="http://schemas.microsoft.com/office/drawing/2014/main" id="{38F2EB2A-A3CA-4B8C-90BF-F12B6CF08A4B}"/>
              </a:ext>
            </a:extLst>
          </p:cNvPr>
          <p:cNvSpPr>
            <a:spLocks noGrp="1"/>
          </p:cNvSpPr>
          <p:nvPr>
            <p:ph idx="1"/>
          </p:nvPr>
        </p:nvSpPr>
        <p:spPr/>
        <p:txBody>
          <a:bodyPr>
            <a:normAutofit/>
          </a:bodyPr>
          <a:lstStyle/>
          <a:p>
            <a:pPr marL="342900" lvl="0" indent="-342900">
              <a:lnSpc>
                <a:spcPct val="107000"/>
              </a:lnSpc>
              <a:buFont typeface="Wingdings" panose="05000000000000000000" pitchFamily="2" charset="2"/>
              <a:buChar char=""/>
            </a:pPr>
            <a:r>
              <a:rPr lang="de-DE" sz="2000" dirty="0">
                <a:effectLst/>
                <a:latin typeface="Arial" panose="020B0604020202020204" pitchFamily="34" charset="0"/>
                <a:ea typeface="Calibri" panose="020F0502020204030204" pitchFamily="34" charset="0"/>
                <a:cs typeface="Arial" panose="020B0604020202020204" pitchFamily="34" charset="0"/>
              </a:rPr>
              <a:t>Das Kohärenzgefühl entsteht, wenn die Erfahrungen des Kindes</a:t>
            </a:r>
            <a:endParaRPr lang="de-DE" sz="2000" dirty="0">
              <a:effectLst/>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07000"/>
              </a:lnSpc>
              <a:buFont typeface="Courier New" panose="02070309020205020404" pitchFamily="49" charset="0"/>
              <a:buChar char="o"/>
            </a:pPr>
            <a:r>
              <a:rPr lang="de-DE" sz="2000" dirty="0">
                <a:effectLst/>
                <a:latin typeface="Arial" panose="020B0604020202020204" pitchFamily="34" charset="0"/>
                <a:ea typeface="Calibri" panose="020F0502020204030204" pitchFamily="34" charset="0"/>
                <a:cs typeface="Times New Roman" panose="02020603050405020304" pitchFamily="18" charset="0"/>
              </a:rPr>
              <a:t>Dem Bedürfnis nach Sicherheit und Liebe gerecht werden,</a:t>
            </a:r>
            <a:endParaRPr lang="de-DE"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buFont typeface="Courier New" panose="02070309020205020404" pitchFamily="49" charset="0"/>
              <a:buChar char="o"/>
            </a:pPr>
            <a:r>
              <a:rPr lang="de-DE" sz="2000" dirty="0">
                <a:effectLst/>
                <a:latin typeface="Arial" panose="020B0604020202020204" pitchFamily="34" charset="0"/>
                <a:ea typeface="Calibri" panose="020F0502020204030204" pitchFamily="34" charset="0"/>
                <a:cs typeface="Times New Roman" panose="02020603050405020304" pitchFamily="18" charset="0"/>
              </a:rPr>
              <a:t>Das Lernbedürfnis erfüllen und den Wissenshunger stillen,</a:t>
            </a:r>
            <a:endParaRPr lang="de-DE"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buFont typeface="Courier New" panose="02070309020205020404" pitchFamily="49" charset="0"/>
              <a:buChar char="o"/>
            </a:pPr>
            <a:r>
              <a:rPr lang="de-DE" sz="2000" dirty="0">
                <a:effectLst/>
                <a:latin typeface="Arial" panose="020B0604020202020204" pitchFamily="34" charset="0"/>
                <a:ea typeface="Calibri" panose="020F0502020204030204" pitchFamily="34" charset="0"/>
                <a:cs typeface="Times New Roman" panose="02020603050405020304" pitchFamily="18" charset="0"/>
              </a:rPr>
              <a:t>Die Akzeptanz und Anerkennung seiner Entwicklungsschritte vermitteln,</a:t>
            </a:r>
            <a:endParaRPr lang="de-DE"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buFont typeface="Courier New" panose="02070309020205020404" pitchFamily="49" charset="0"/>
              <a:buChar char="o"/>
            </a:pPr>
            <a:r>
              <a:rPr lang="de-DE" sz="2000" dirty="0">
                <a:effectLst/>
                <a:latin typeface="Arial" panose="020B0604020202020204" pitchFamily="34" charset="0"/>
                <a:ea typeface="Calibri" panose="020F0502020204030204" pitchFamily="34" charset="0"/>
                <a:cs typeface="Times New Roman" panose="02020603050405020304" pitchFamily="18" charset="0"/>
              </a:rPr>
              <a:t>Die menschliche Würde achten und</a:t>
            </a:r>
            <a:endParaRPr lang="de-DE"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buFont typeface="Courier New" panose="02070309020205020404" pitchFamily="49" charset="0"/>
              <a:buChar char="o"/>
            </a:pPr>
            <a:r>
              <a:rPr lang="de-DE" sz="2000" dirty="0">
                <a:effectLst/>
                <a:latin typeface="Arial" panose="020B0604020202020204" pitchFamily="34" charset="0"/>
                <a:ea typeface="Calibri" panose="020F0502020204030204" pitchFamily="34" charset="0"/>
                <a:cs typeface="Times New Roman" panose="02020603050405020304" pitchFamily="18" charset="0"/>
              </a:rPr>
              <a:t>Selbstbestimmte Teilnahme an den gemeinsamen Aufgaben ermöglichen.</a:t>
            </a:r>
            <a:endParaRPr lang="de-DE" sz="2000" dirty="0">
              <a:effectLst/>
              <a:latin typeface="Calibri" panose="020F0502020204030204" pitchFamily="34" charset="0"/>
              <a:ea typeface="Calibri" panose="020F0502020204030204" pitchFamily="34" charset="0"/>
              <a:cs typeface="Times New Roman" panose="02020603050405020304" pitchFamily="18" charset="0"/>
            </a:endParaRPr>
          </a:p>
          <a:p>
            <a:pPr indent="0">
              <a:lnSpc>
                <a:spcPct val="107000"/>
              </a:lnSpc>
              <a:buNone/>
            </a:pPr>
            <a:endParaRPr lang="de-DE"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Wingdings" panose="05000000000000000000" pitchFamily="2" charset="2"/>
              <a:buChar char=""/>
            </a:pPr>
            <a:r>
              <a:rPr lang="de-DE" sz="2000" dirty="0">
                <a:effectLst/>
                <a:latin typeface="Arial" panose="020B0604020202020204" pitchFamily="34" charset="0"/>
                <a:ea typeface="Calibri" panose="020F0502020204030204" pitchFamily="34" charset="0"/>
                <a:cs typeface="Arial" panose="020B0604020202020204" pitchFamily="34" charset="0"/>
              </a:rPr>
              <a:t>Nach Antonovsky scheint die Komponente der Bedeutsamkeit am wichtigsten zu sein. Erst die Gewissheit, dass das Handeln sinnvoll ist, schafft Motivation. Ohne Motivation fehlt Engagement und Freude am Tun.</a:t>
            </a:r>
            <a:endParaRPr lang="de-DE"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8811274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520</Words>
  <Application>Microsoft Office PowerPoint</Application>
  <PresentationFormat>Breitbild</PresentationFormat>
  <Paragraphs>83</Paragraphs>
  <Slides>14</Slides>
  <Notes>0</Notes>
  <HiddenSlides>2</HiddenSlides>
  <MMClips>0</MMClips>
  <ScaleCrop>false</ScaleCrop>
  <HeadingPairs>
    <vt:vector size="4" baseType="variant">
      <vt:variant>
        <vt:lpstr>Design</vt:lpstr>
      </vt:variant>
      <vt:variant>
        <vt:i4>1</vt:i4>
      </vt:variant>
      <vt:variant>
        <vt:lpstr>Folientitel</vt:lpstr>
      </vt:variant>
      <vt:variant>
        <vt:i4>14</vt:i4>
      </vt:variant>
    </vt:vector>
  </HeadingPairs>
  <TitlesOfParts>
    <vt:vector size="15" baseType="lpstr">
      <vt:lpstr>Office</vt:lpstr>
      <vt:lpstr>Salutogenese</vt:lpstr>
      <vt:lpstr>PowerPoint-Präsentation</vt:lpstr>
      <vt:lpstr>PowerPoint-Präsentation</vt:lpstr>
      <vt:lpstr>Schematische Darstellung der Funktion von SOC im salutogenetischen Prozess</vt:lpstr>
      <vt:lpstr>Vertiefung Salutogenese-Modell</vt:lpstr>
      <vt:lpstr>PowerPoint-Präsentation</vt:lpstr>
      <vt:lpstr>Welche Ressourcen habt ihr? Z.B.</vt:lpstr>
      <vt:lpstr>Was ist das Kohärenzgefühl?</vt:lpstr>
      <vt:lpstr>Zur Entstehung des Kohärenzgefühls</vt:lpstr>
      <vt:lpstr>Entwicklung von Verstehbarkeit </vt:lpstr>
      <vt:lpstr>Entwicklung von Handhabbarkeit</vt:lpstr>
      <vt:lpstr>Entwicklung von Bedeutsamkeit</vt:lpstr>
      <vt:lpstr>Aufgabe: Wie kann das Kohärenzgefühl gefördert werden?</vt:lpstr>
      <vt:lpstr>Wann entsteht Kohärenzgefühl?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Windows-Benutzer</dc:creator>
  <cp:lastModifiedBy>Gitta Carstensen</cp:lastModifiedBy>
  <cp:revision>57</cp:revision>
  <dcterms:created xsi:type="dcterms:W3CDTF">2020-09-03T08:59:05Z</dcterms:created>
  <dcterms:modified xsi:type="dcterms:W3CDTF">2025-09-17T07:38:09Z</dcterms:modified>
</cp:coreProperties>
</file>