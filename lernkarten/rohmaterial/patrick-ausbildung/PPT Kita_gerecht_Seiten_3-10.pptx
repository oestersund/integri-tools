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07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678"/>
          </a:solidFill>
          <a:ln w="12700">
            <a:solidFill>
              <a:srgbClr val="1E667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6678"/>
          </a:solidFill>
          <a:ln w="12700">
            <a:solidFill>
              <a:srgbClr val="1E667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660196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Impulse für diskriminierungskritische Veränderungen in Kitas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4572000" cy="6565392"/>
          </a:xfrm>
          <a:prstGeom prst="rect">
            <a:avLst/>
          </a:prstGeom>
          <a:solidFill>
            <a:srgbClr val="1E6678"/>
          </a:solidFill>
          <a:ln w="12700">
            <a:solidFill>
              <a:srgbClr val="1E667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Diskriminierungs-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kritische Veränderungen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 Kitas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3749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F3F6"/>
                </a:solidFill>
              </a:rPr>
              <a:t>(</a:t>
            </a:r>
            <a:r>
              <a:rPr lang="en-US" sz="1600" dirty="0" err="1">
                <a:solidFill>
                  <a:srgbClr val="E9F3F6"/>
                </a:solidFill>
              </a:rPr>
              <a:t>Broschüre</a:t>
            </a:r>
            <a:r>
              <a:rPr lang="en-US" sz="1600" dirty="0">
                <a:solidFill>
                  <a:srgbClr val="E9F3F6"/>
                </a:solidFill>
              </a:rPr>
              <a:t> „Kita </a:t>
            </a:r>
            <a:r>
              <a:rPr lang="en-US" sz="1600" dirty="0" err="1">
                <a:solidFill>
                  <a:srgbClr val="E9F3F6"/>
                </a:solidFill>
              </a:rPr>
              <a:t>gerecht</a:t>
            </a:r>
            <a:r>
              <a:rPr lang="en-US" sz="1600" dirty="0">
                <a:solidFill>
                  <a:srgbClr val="E9F3F6"/>
                </a:solidFill>
              </a:rPr>
              <a:t>“)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1080000">
            <a:off x="5852160" y="1005840"/>
            <a:ext cx="1097280" cy="20116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 rot="-960000">
            <a:off x="7223760" y="2194560"/>
            <a:ext cx="1005840" cy="1828800"/>
          </a:xfrm>
          <a:prstGeom prst="rect">
            <a:avLst/>
          </a:prstGeom>
          <a:solidFill>
            <a:srgbClr val="77A93B"/>
          </a:solidFill>
          <a:ln w="12700">
            <a:solidFill>
              <a:srgbClr val="77A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 rot="1920000">
            <a:off x="8412480" y="1097280"/>
            <a:ext cx="822960" cy="1554480"/>
          </a:xfrm>
          <a:prstGeom prst="rect">
            <a:avLst/>
          </a:prstGeom>
          <a:solidFill>
            <a:srgbClr val="2E91B4"/>
          </a:solidFill>
          <a:ln w="12700">
            <a:solidFill>
              <a:srgbClr val="2E91B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 rot="720000">
            <a:off x="9509760" y="3017520"/>
            <a:ext cx="914400" cy="146304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669280" y="4983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678"/>
                </a:solidFill>
              </a:rPr>
              <a:t>Wissen  •  Reflexion  •  Handlungssicherheit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6678"/>
                </a:solidFill>
              </a:rPr>
              <a:t>Warum diskriminierungskritische Kita-Praxis?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577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84C3D"/>
                </a:solidFill>
              </a:rPr>
              <a:t>• </a:t>
            </a:r>
            <a:r>
              <a:rPr lang="en-US" sz="1900" dirty="0">
                <a:solidFill>
                  <a:srgbClr val="263238"/>
                </a:solidFill>
              </a:rPr>
              <a:t>Lebenschancen hängen auch von gesellschaftlichen Zuschreibungen, Zugängen und Ausschlüssen ab.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5577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84C3D"/>
                </a:solidFill>
              </a:rPr>
              <a:t>• </a:t>
            </a:r>
            <a:r>
              <a:rPr lang="en-US" sz="1900" dirty="0">
                <a:solidFill>
                  <a:srgbClr val="263238"/>
                </a:solidFill>
              </a:rPr>
              <a:t>Auch Kinder und Familien erleben Diskriminierung in Kitas – nicht nur außerhalb der Einrichtung.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5577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84C3D"/>
                </a:solidFill>
              </a:rPr>
              <a:t>• </a:t>
            </a:r>
            <a:r>
              <a:rPr lang="en-US" sz="1900" dirty="0">
                <a:solidFill>
                  <a:srgbClr val="263238"/>
                </a:solidFill>
              </a:rPr>
              <a:t>Diskriminierende Einstellungen, Handlungen und Strukturen können individuelle Entwicklung behindern.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5577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84C3D"/>
                </a:solidFill>
              </a:rPr>
              <a:t>• </a:t>
            </a:r>
            <a:r>
              <a:rPr lang="en-US" sz="1900" dirty="0">
                <a:solidFill>
                  <a:srgbClr val="263238"/>
                </a:solidFill>
              </a:rPr>
              <a:t>Professionelles Handeln braucht Wissen, Selbstreflexion und Handlungssicherheit.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12280" y="1463040"/>
            <a:ext cx="4389120" cy="3474720"/>
          </a:xfrm>
          <a:prstGeom prst="roundRect">
            <a:avLst>
              <a:gd name="adj" fmla="val 157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812280" y="1463040"/>
            <a:ext cx="82296" cy="347472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040880" y="1645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Ziel der Broschüre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121408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Pädagogische Fachkräfte dabei unterstützen, Diskriminierung zu erkennen, die eigene Praxis zu reflektieren und konkrete Veränderungen anzustoßen.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8660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E6678"/>
                </a:solidFill>
              </a:rPr>
              <a:t>„Alle Kinder in ihrer jeweils individuellen Entwicklung unterstützen und begleiten.“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052560" y="6080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F6B70"/>
                </a:solidFill>
              </a:rPr>
              <a:t>Quelle: S. 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6678"/>
                </a:solidFill>
              </a:rPr>
              <a:t>Was ist Diskriminierung?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0"/>
                </a:solidFill>
              </a:rPr>
              <a:t>Nicht jede Ungerechtigkeit ist Diskriminierung – entscheidend sind Macht, Struktur und Kontext.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82296" cy="1828800"/>
          </a:xfrm>
          <a:prstGeom prst="rect">
            <a:avLst/>
          </a:prstGeom>
          <a:solidFill>
            <a:srgbClr val="2E91B4"/>
          </a:solidFill>
          <a:ln w="12700">
            <a:solidFill>
              <a:srgbClr val="2E91B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1  Benachteiligung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Sie erfolgt entlang eines tatsächlichen oder zugeschriebenen Identitätsmerkmals.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82296" cy="182880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2  Machtverhältnis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Diskriminierung findet innerhalb ungleicher gesellschaftlicher Machtverhältnisse statt.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82296" cy="1828800"/>
          </a:xfrm>
          <a:prstGeom prst="rect">
            <a:avLst/>
          </a:prstGeom>
          <a:solidFill>
            <a:srgbClr val="77A93B"/>
          </a:solidFill>
          <a:ln w="12700">
            <a:solidFill>
              <a:srgbClr val="77A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32104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3  Historischer Kontext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07568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Diskriminierungsformen haben jeweils eigene Geschichten und gesellschaftliche Wirkungen.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514600" y="370332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514600" y="3703320"/>
            <a:ext cx="82296" cy="160020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74320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4  Othering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43616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Ein „Wir“ wird als normal gesetzt; „Andere“ werden als Abweichung markiert und abgewertet.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70332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82296" cy="1600200"/>
          </a:xfrm>
          <a:prstGeom prst="rect">
            <a:avLst/>
          </a:prstGeom>
          <a:solidFill>
            <a:srgbClr val="2E91B4"/>
          </a:solidFill>
          <a:ln w="12700">
            <a:solidFill>
              <a:srgbClr val="2E91B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49224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5  Wirkung vor Absicht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3616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Auch unbeabsichtigtes Verhalten kann diskriminieren. Maßgeblich ist die Auswirkung.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52560" y="6080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F6B70"/>
                </a:solidFill>
              </a:rPr>
              <a:t>Quelle: S. 4–5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6678"/>
                </a:solidFill>
              </a:rPr>
              <a:t>Diskriminierung ist strukturell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0"/>
                </a:solidFill>
              </a:rPr>
              <a:t>Ein einzelner Vorfall erhält Gewicht durch gesellschaftliche Ideologien und institutionelle Bedingungen.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solidFill>
            <a:srgbClr val="E84C3D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Ideologie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0" y="1828800"/>
            <a:ext cx="1828800" cy="457200"/>
          </a:xfrm>
          <a:prstGeom prst="rect">
            <a:avLst/>
          </a:prstGeom>
          <a:solidFill>
            <a:srgbClr val="2E91B4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Strukturen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60720" y="1828800"/>
            <a:ext cx="2011680" cy="457200"/>
          </a:xfrm>
          <a:prstGeom prst="rect">
            <a:avLst/>
          </a:prstGeom>
          <a:solidFill>
            <a:srgbClr val="77A93B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Alltagshandlung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0" y="1828800"/>
            <a:ext cx="1828800" cy="457200"/>
          </a:xfrm>
          <a:prstGeom prst="rect">
            <a:avLst/>
          </a:prstGeom>
          <a:solidFill>
            <a:srgbClr val="1E6678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Auswirkung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901952"/>
            <a:ext cx="411480" cy="310896"/>
          </a:xfrm>
          <a:prstGeom prst="chevron">
            <a:avLst/>
          </a:prstGeom>
          <a:solidFill>
            <a:srgbClr val="9AA7AC"/>
          </a:solidFill>
          <a:ln w="12700">
            <a:solidFill>
              <a:srgbClr val="9AA7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166360" y="1901952"/>
            <a:ext cx="411480" cy="310896"/>
          </a:xfrm>
          <a:prstGeom prst="chevron">
            <a:avLst/>
          </a:prstGeom>
          <a:solidFill>
            <a:srgbClr val="9AA7AC"/>
          </a:solidFill>
          <a:ln w="12700">
            <a:solidFill>
              <a:srgbClr val="9AA7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818120" y="1901952"/>
            <a:ext cx="411480" cy="310896"/>
          </a:xfrm>
          <a:prstGeom prst="chevron">
            <a:avLst/>
          </a:prstGeom>
          <a:solidFill>
            <a:srgbClr val="9AA7AC"/>
          </a:solidFill>
          <a:ln w="12700">
            <a:solidFill>
              <a:srgbClr val="9AA7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238"/>
                </a:solidFill>
              </a:rPr>
              <a:t>z. B. Ableismus, Rassismus, Sexismus, Klassismus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5468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238"/>
                </a:solidFill>
              </a:rPr>
              <a:t>ungleicher Zugang zu Bildung, Arbeit, Wohnraum oder Versorgung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238"/>
                </a:solidFill>
              </a:rPr>
              <a:t>Stereotype, Ausschluss, Sprache, Entscheidungen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238"/>
                </a:solidFill>
              </a:rPr>
              <a:t>Benachteiligung wirkt über die einzelne Situation hinaus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617720"/>
            <a:ext cx="8412480" cy="777240"/>
          </a:xfrm>
          <a:prstGeom prst="roundRect">
            <a:avLst/>
          </a:prstGeom>
          <a:solidFill>
            <a:srgbClr val="E8F1F4"/>
          </a:solidFill>
          <a:ln w="12700">
            <a:solidFill>
              <a:srgbClr val="C7DD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103120" y="4828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6678"/>
                </a:solidFill>
              </a:rPr>
              <a:t>Merksatz: Diskriminierung ist nicht nur individuelles Fehlverhalten, sondern in gesellschaftliche Machtverhältnisse eingebettet.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52560" y="6080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F6B70"/>
                </a:solidFill>
              </a:rPr>
              <a:t>Quelle: S. 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6678"/>
                </a:solidFill>
              </a:rPr>
              <a:t>Intersektionalität: Menschen sind mehrdimensional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0"/>
                </a:solidFill>
              </a:rPr>
              <a:t>Diskriminierungsformen können sich überschneiden, überlagern und gegenseitig verstärken.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2926080" cy="2926080"/>
          </a:xfrm>
          <a:prstGeom prst="ellipse">
            <a:avLst/>
          </a:prstGeom>
          <a:solidFill>
            <a:srgbClr val="E84C3D">
              <a:alpha val="55000"/>
            </a:srgbClr>
          </a:solidFill>
          <a:ln w="12700">
            <a:solidFill>
              <a:srgbClr val="E84C3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840480" y="1828800"/>
            <a:ext cx="2926080" cy="2926080"/>
          </a:xfrm>
          <a:prstGeom prst="ellipse">
            <a:avLst/>
          </a:prstGeom>
          <a:solidFill>
            <a:srgbClr val="2E91B4">
              <a:alpha val="55000"/>
            </a:srgbClr>
          </a:solidFill>
          <a:ln w="12700">
            <a:solidFill>
              <a:srgbClr val="2E91B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834640" y="2971800"/>
            <a:ext cx="2926080" cy="2743200"/>
          </a:xfrm>
          <a:prstGeom prst="ellipse">
            <a:avLst/>
          </a:prstGeom>
          <a:solidFill>
            <a:srgbClr val="77A93B">
              <a:alpha val="55000"/>
            </a:srgbClr>
          </a:solidFill>
          <a:ln w="12700">
            <a:solidFill>
              <a:srgbClr val="77A93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240280" y="2423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63238"/>
                </a:solidFill>
              </a:rPr>
              <a:t>z. B.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63238"/>
                </a:solidFill>
              </a:rPr>
              <a:t>Sexismus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66360" y="2423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63238"/>
                </a:solidFill>
              </a:rPr>
              <a:t>z. B.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63238"/>
                </a:solidFill>
              </a:rPr>
              <a:t>Ableismus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4572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</a:rPr>
              <a:t>z. B.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</a:rPr>
              <a:t>Transfeindlichkeit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3383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6678"/>
                </a:solidFill>
              </a:rPr>
              <a:t>Lebensrealität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E6678"/>
                </a:solidFill>
              </a:rPr>
              <a:t>einer Person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406640" y="1645920"/>
            <a:ext cx="3840480" cy="3474720"/>
          </a:xfrm>
          <a:prstGeom prst="roundRect">
            <a:avLst>
              <a:gd name="adj" fmla="val 157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406640" y="1645920"/>
            <a:ext cx="82296" cy="347472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635240" y="1828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Konsequenz für die Praxis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2304288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Ein Mensch ist nie nur „ein“ Identitätsaspekt. Privilegien in einem Bereich heben Diskriminierung in einem anderen nicht auf. Der erste Schritt ist die Reflexion eigener Erfahrungen, Prägungen und Leerstellen.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6080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F6B70"/>
                </a:solidFill>
              </a:rPr>
              <a:t>Quelle: S. 6–7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6678"/>
                </a:solidFill>
              </a:rPr>
              <a:t>Warum die Kita besonders wichtig 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0"/>
                </a:solidFill>
              </a:rPr>
              <a:t>Für viele Kinder ist die Kita der erste zentrale Bezugsrahmen außerhalb der Familie.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678"/>
                </a:solidFill>
              </a:rPr>
              <a:t>Kinder orientieren sich im Alltag an Fragen wie: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D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63238"/>
                </a:solidFill>
              </a:rPr>
              <a:t>Wer bin ich?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D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38328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63238"/>
                </a:solidFill>
              </a:rPr>
              <a:t>Wer sind die anderen?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D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63238"/>
                </a:solidFill>
              </a:rPr>
              <a:t>Was ist „normal“?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246120" y="288036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D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63238"/>
                </a:solidFill>
              </a:rPr>
              <a:t>Was wird von mir erwartet?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2103120" cy="594360"/>
          </a:xfrm>
          <a:prstGeom prst="roundRect">
            <a:avLst/>
          </a:prstGeom>
          <a:solidFill>
            <a:srgbClr val="E8F1F4"/>
          </a:solidFill>
          <a:ln w="12700">
            <a:solidFill>
              <a:srgbClr val="2E91B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6012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63238"/>
                </a:solidFill>
              </a:rPr>
              <a:t>Gehöre ich dazu?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4572000" cy="4389120"/>
          </a:xfrm>
          <a:prstGeom prst="roundRect">
            <a:avLst>
              <a:gd name="adj" fmla="val 125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82296" cy="438912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62940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Was Kinder beobachten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2075688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• Wer wird beim Essen anders behandelt?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• Wer kann an Ausflügen teilnehmen?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• Wer kommt in Kinderbüchern als Hauptfigur vor?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• Welche Feste und Sprachen gelten als selbstverständlich?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•…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52560" y="6080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F6B70"/>
                </a:solidFill>
              </a:rPr>
              <a:t>Quelle: S. 8–9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6678"/>
                </a:solidFill>
              </a:rPr>
              <a:t>Die Kita systematisch überprüfen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0"/>
                </a:solidFill>
              </a:rPr>
              <a:t>Diskriminierungskritische Veränderung betrifft nicht nur einzelne Situationen, sondern die gesamte Organisation.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82296" cy="868680"/>
          </a:xfrm>
          <a:prstGeom prst="rect">
            <a:avLst/>
          </a:prstGeom>
          <a:solidFill>
            <a:srgbClr val="2E91B4"/>
          </a:solidFill>
          <a:ln w="12700">
            <a:solidFill>
              <a:srgbClr val="2E91B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75688"/>
            <a:ext cx="4617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Leitbild &amp; Organisationsentwicklung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82296" cy="868680"/>
          </a:xfrm>
          <a:prstGeom prst="rect">
            <a:avLst/>
          </a:prstGeom>
          <a:solidFill>
            <a:srgbClr val="2E91B4"/>
          </a:solidFill>
          <a:ln w="12700">
            <a:solidFill>
              <a:srgbClr val="2E91B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49224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3388" y="181051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0000"/>
                </a:solidFill>
              </a:rPr>
              <a:t>Pädagogische Materialien</a:t>
            </a:r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82296" cy="8686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6012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218688"/>
            <a:ext cx="4617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Umgang mit Eltern / Bezugspersonen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560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263640" y="2560320"/>
            <a:ext cx="82296" cy="868680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218688"/>
            <a:ext cx="4617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Interaktionen mit &amp; zwischen Kindern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82296" cy="868680"/>
          </a:xfrm>
          <a:prstGeom prst="rect">
            <a:avLst/>
          </a:prstGeom>
          <a:solidFill>
            <a:srgbClr val="77A93B"/>
          </a:solidFill>
          <a:ln w="12700">
            <a:solidFill>
              <a:srgbClr val="77A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361688"/>
            <a:ext cx="4617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Alltagsabläufe, Rituale &amp; Feste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4788" y="3703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263640" y="3703320"/>
            <a:ext cx="82296" cy="868680"/>
          </a:xfrm>
          <a:prstGeom prst="rect">
            <a:avLst/>
          </a:prstGeom>
          <a:solidFill>
            <a:srgbClr val="77A93B"/>
          </a:solidFill>
          <a:ln w="12700">
            <a:solidFill>
              <a:srgbClr val="77A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49224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40873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0000"/>
                </a:solidFill>
              </a:rPr>
              <a:t>Lernumgebung &amp; Räume</a:t>
            </a:r>
          </a:p>
        </p:txBody>
      </p:sp>
      <p:sp>
        <p:nvSpPr>
          <p:cNvPr id="28" name="Shape 26"/>
          <p:cNvSpPr/>
          <p:nvPr/>
        </p:nvSpPr>
        <p:spPr>
          <a:xfrm>
            <a:off x="731520" y="4846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731520" y="4846320"/>
            <a:ext cx="82296" cy="86868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6012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5504688"/>
            <a:ext cx="4617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Personal, Team &amp; Zusammenarbeit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63640" y="484632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263640" y="4846320"/>
            <a:ext cx="82296" cy="86868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49224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678"/>
                </a:solidFill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2240" y="5504688"/>
            <a:ext cx="4617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</a:rPr>
              <a:t>Leitung, Träger &amp; externe Dienste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052560" y="6080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F6B70"/>
                </a:solidFill>
              </a:rPr>
              <a:t>Quelle: S. 10–11</a:t>
            </a:r>
            <a:endParaRPr lang="en-US" sz="8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</Words>
  <Application>Microsoft Office PowerPoint</Application>
  <PresentationFormat>Breitbild</PresentationFormat>
  <Paragraphs>100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Diskriminierungskritische Veränderungen in Kitas</dc:title>
  <dc:subject>Zusammenfassung Seiten 3-10</dc:subject>
  <dc:creator>OpenAI</dc:creator>
  <cp:lastModifiedBy>Nicole von der Aa</cp:lastModifiedBy>
  <cp:revision>2</cp:revision>
  <dcterms:created xsi:type="dcterms:W3CDTF">2026-09-02T08:56:13Z</dcterms:created>
  <dcterms:modified xsi:type="dcterms:W3CDTF">2026-09-02T09:12:07Z</dcterms:modified>
</cp:coreProperties>
</file>